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833" r:id="rId1"/>
    <p:sldMasterId id="2147483960" r:id="rId2"/>
    <p:sldMasterId id="2147483973" r:id="rId3"/>
  </p:sldMasterIdLst>
  <p:notesMasterIdLst>
    <p:notesMasterId r:id="rId98"/>
  </p:notesMasterIdLst>
  <p:handoutMasterIdLst>
    <p:handoutMasterId r:id="rId99"/>
  </p:handoutMasterIdLst>
  <p:sldIdLst>
    <p:sldId id="256" r:id="rId4"/>
    <p:sldId id="334" r:id="rId5"/>
    <p:sldId id="258" r:id="rId6"/>
    <p:sldId id="570" r:id="rId7"/>
    <p:sldId id="259" r:id="rId8"/>
    <p:sldId id="562" r:id="rId9"/>
    <p:sldId id="322" r:id="rId10"/>
    <p:sldId id="573" r:id="rId11"/>
    <p:sldId id="563" r:id="rId12"/>
    <p:sldId id="323" r:id="rId13"/>
    <p:sldId id="571" r:id="rId14"/>
    <p:sldId id="572" r:id="rId15"/>
    <p:sldId id="568" r:id="rId16"/>
    <p:sldId id="321" r:id="rId17"/>
    <p:sldId id="325" r:id="rId18"/>
    <p:sldId id="533" r:id="rId19"/>
    <p:sldId id="326" r:id="rId20"/>
    <p:sldId id="264" r:id="rId21"/>
    <p:sldId id="288" r:id="rId22"/>
    <p:sldId id="265" r:id="rId23"/>
    <p:sldId id="274" r:id="rId24"/>
    <p:sldId id="327" r:id="rId25"/>
    <p:sldId id="574" r:id="rId26"/>
    <p:sldId id="275" r:id="rId27"/>
    <p:sldId id="276" r:id="rId28"/>
    <p:sldId id="273" r:id="rId29"/>
    <p:sldId id="328" r:id="rId30"/>
    <p:sldId id="277" r:id="rId31"/>
    <p:sldId id="565" r:id="rId32"/>
    <p:sldId id="564" r:id="rId33"/>
    <p:sldId id="566" r:id="rId34"/>
    <p:sldId id="567" r:id="rId35"/>
    <p:sldId id="330" r:id="rId36"/>
    <p:sldId id="329" r:id="rId37"/>
    <p:sldId id="278" r:id="rId38"/>
    <p:sldId id="285" r:id="rId39"/>
    <p:sldId id="540" r:id="rId40"/>
    <p:sldId id="268" r:id="rId41"/>
    <p:sldId id="575" r:id="rId42"/>
    <p:sldId id="542" r:id="rId43"/>
    <p:sldId id="266" r:id="rId44"/>
    <p:sldId id="577" r:id="rId45"/>
    <p:sldId id="281" r:id="rId46"/>
    <p:sldId id="576" r:id="rId47"/>
    <p:sldId id="286" r:id="rId48"/>
    <p:sldId id="267" r:id="rId49"/>
    <p:sldId id="283" r:id="rId50"/>
    <p:sldId id="332" r:id="rId51"/>
    <p:sldId id="333" r:id="rId52"/>
    <p:sldId id="578" r:id="rId53"/>
    <p:sldId id="579" r:id="rId54"/>
    <p:sldId id="580" r:id="rId55"/>
    <p:sldId id="581" r:id="rId56"/>
    <p:sldId id="287" r:id="rId57"/>
    <p:sldId id="543" r:id="rId58"/>
    <p:sldId id="544" r:id="rId59"/>
    <p:sldId id="545" r:id="rId60"/>
    <p:sldId id="546" r:id="rId61"/>
    <p:sldId id="547" r:id="rId62"/>
    <p:sldId id="548" r:id="rId63"/>
    <p:sldId id="549" r:id="rId64"/>
    <p:sldId id="550" r:id="rId65"/>
    <p:sldId id="551" r:id="rId66"/>
    <p:sldId id="552" r:id="rId67"/>
    <p:sldId id="294" r:id="rId68"/>
    <p:sldId id="295" r:id="rId69"/>
    <p:sldId id="296" r:id="rId70"/>
    <p:sldId id="304" r:id="rId71"/>
    <p:sldId id="569" r:id="rId72"/>
    <p:sldId id="305" r:id="rId73"/>
    <p:sldId id="306" r:id="rId74"/>
    <p:sldId id="307" r:id="rId75"/>
    <p:sldId id="308" r:id="rId76"/>
    <p:sldId id="309" r:id="rId77"/>
    <p:sldId id="310" r:id="rId78"/>
    <p:sldId id="311" r:id="rId79"/>
    <p:sldId id="312" r:id="rId80"/>
    <p:sldId id="313" r:id="rId81"/>
    <p:sldId id="315" r:id="rId82"/>
    <p:sldId id="314" r:id="rId83"/>
    <p:sldId id="316" r:id="rId84"/>
    <p:sldId id="317" r:id="rId85"/>
    <p:sldId id="318" r:id="rId86"/>
    <p:sldId id="319" r:id="rId87"/>
    <p:sldId id="320" r:id="rId88"/>
    <p:sldId id="556" r:id="rId89"/>
    <p:sldId id="558" r:id="rId90"/>
    <p:sldId id="560" r:id="rId91"/>
    <p:sldId id="557" r:id="rId92"/>
    <p:sldId id="555" r:id="rId93"/>
    <p:sldId id="554" r:id="rId94"/>
    <p:sldId id="559" r:id="rId95"/>
    <p:sldId id="561" r:id="rId96"/>
    <p:sldId id="553" r:id="rId97"/>
  </p:sldIdLst>
  <p:sldSz cx="12192000" cy="6858000"/>
  <p:notesSz cx="6808788" cy="9836150"/>
  <p:defaultTextStyle>
    <a:defPPr>
      <a:defRPr lang="en-GB"/>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5050"/>
    <a:srgbClr val="009900"/>
    <a:srgbClr val="0000FF"/>
    <a:srgbClr val="CC0000"/>
    <a:srgbClr val="5670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196" autoAdjust="0"/>
    <p:restoredTop sz="86163" autoAdjust="0"/>
  </p:normalViewPr>
  <p:slideViewPr>
    <p:cSldViewPr>
      <p:cViewPr varScale="1">
        <p:scale>
          <a:sx n="70" d="100"/>
          <a:sy n="70" d="100"/>
        </p:scale>
        <p:origin x="420" y="52"/>
      </p:cViewPr>
      <p:guideLst>
        <p:guide orient="horz" pos="2160"/>
        <p:guide pos="3840"/>
      </p:guideLst>
    </p:cSldViewPr>
  </p:slideViewPr>
  <p:notesTextViewPr>
    <p:cViewPr>
      <p:scale>
        <a:sx n="100" d="100"/>
        <a:sy n="100" d="100"/>
      </p:scale>
      <p:origin x="0" y="0"/>
    </p:cViewPr>
  </p:notesTextViewPr>
  <p:sorterViewPr>
    <p:cViewPr>
      <p:scale>
        <a:sx n="66" d="100"/>
        <a:sy n="66" d="100"/>
      </p:scale>
      <p:origin x="0" y="846"/>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theme" Target="theme/theme1.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103" Type="http://schemas.openxmlformats.org/officeDocument/2006/relationships/tableStyles" Target="tableStyle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handoutMaster" Target="handoutMasters/handoutMaster1.xml"/><Relationship Id="rId101"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notesMaster" Target="notesMasters/notesMaster1.xml"/><Relationship Id="rId3" Type="http://schemas.openxmlformats.org/officeDocument/2006/relationships/slideMaster" Target="slideMasters/slideMaster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image" Target="../media/image9.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27.wmf"/><Relationship Id="rId7" Type="http://schemas.openxmlformats.org/officeDocument/2006/relationships/image" Target="../media/image31.wmf"/><Relationship Id="rId2" Type="http://schemas.openxmlformats.org/officeDocument/2006/relationships/image" Target="../media/image26.wmf"/><Relationship Id="rId1" Type="http://schemas.openxmlformats.org/officeDocument/2006/relationships/image" Target="../media/image25.wmf"/><Relationship Id="rId6" Type="http://schemas.openxmlformats.org/officeDocument/2006/relationships/image" Target="../media/image30.wmf"/><Relationship Id="rId5" Type="http://schemas.openxmlformats.org/officeDocument/2006/relationships/image" Target="../media/image29.wmf"/><Relationship Id="rId4" Type="http://schemas.openxmlformats.org/officeDocument/2006/relationships/image" Target="../media/image28.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image" Target="../media/image35.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 Id="rId4" Type="http://schemas.openxmlformats.org/officeDocument/2006/relationships/image" Target="../media/image40.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42.wmf"/><Relationship Id="rId1" Type="http://schemas.openxmlformats.org/officeDocument/2006/relationships/image" Target="../media/image4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1842" name="Rectangle 2">
            <a:extLst>
              <a:ext uri="{FF2B5EF4-FFF2-40B4-BE49-F238E27FC236}">
                <a16:creationId xmlns:a16="http://schemas.microsoft.com/office/drawing/2014/main" id="{82385645-5C9A-4BB5-BDAE-58B813EE6249}"/>
              </a:ext>
            </a:extLst>
          </p:cNvPr>
          <p:cNvSpPr>
            <a:spLocks noGrp="1" noChangeArrowheads="1"/>
          </p:cNvSpPr>
          <p:nvPr>
            <p:ph type="hdr" sz="quarter"/>
          </p:nvPr>
        </p:nvSpPr>
        <p:spPr bwMode="auto">
          <a:xfrm>
            <a:off x="0" y="0"/>
            <a:ext cx="2951163" cy="490538"/>
          </a:xfrm>
          <a:prstGeom prst="rect">
            <a:avLst/>
          </a:prstGeom>
          <a:noFill/>
          <a:ln w="9525">
            <a:noFill/>
            <a:miter lim="800000"/>
            <a:headEnd/>
            <a:tailEnd/>
          </a:ln>
          <a:effectLst/>
        </p:spPr>
        <p:txBody>
          <a:bodyPr vert="horz" wrap="square" lIns="91724" tIns="45862" rIns="91724" bIns="45862" numCol="1" anchor="t" anchorCtr="0" compatLnSpc="1">
            <a:prstTxWarp prst="textNoShape">
              <a:avLst/>
            </a:prstTxWarp>
          </a:bodyPr>
          <a:lstStyle>
            <a:lvl1pPr defTabSz="917575" eaLnBrk="0" fontAlgn="auto" hangingPunct="0">
              <a:spcBef>
                <a:spcPts val="0"/>
              </a:spcBef>
              <a:spcAft>
                <a:spcPts val="0"/>
              </a:spcAft>
              <a:defRPr sz="1200">
                <a:latin typeface="Times New Roman" pitchFamily="18" charset="0"/>
                <a:cs typeface="Arial" charset="0"/>
              </a:defRPr>
            </a:lvl1pPr>
          </a:lstStyle>
          <a:p>
            <a:pPr>
              <a:defRPr/>
            </a:pPr>
            <a:endParaRPr lang="en-GB"/>
          </a:p>
        </p:txBody>
      </p:sp>
      <p:sp>
        <p:nvSpPr>
          <p:cNvPr id="291843" name="Rectangle 3">
            <a:extLst>
              <a:ext uri="{FF2B5EF4-FFF2-40B4-BE49-F238E27FC236}">
                <a16:creationId xmlns:a16="http://schemas.microsoft.com/office/drawing/2014/main" id="{7901313F-AB79-4D34-ABD9-7D79BC6F403F}"/>
              </a:ext>
            </a:extLst>
          </p:cNvPr>
          <p:cNvSpPr>
            <a:spLocks noGrp="1" noChangeArrowheads="1"/>
          </p:cNvSpPr>
          <p:nvPr>
            <p:ph type="dt" sz="quarter" idx="1"/>
          </p:nvPr>
        </p:nvSpPr>
        <p:spPr bwMode="auto">
          <a:xfrm>
            <a:off x="3856038" y="0"/>
            <a:ext cx="2951162" cy="490538"/>
          </a:xfrm>
          <a:prstGeom prst="rect">
            <a:avLst/>
          </a:prstGeom>
          <a:noFill/>
          <a:ln w="9525">
            <a:noFill/>
            <a:miter lim="800000"/>
            <a:headEnd/>
            <a:tailEnd/>
          </a:ln>
          <a:effectLst/>
        </p:spPr>
        <p:txBody>
          <a:bodyPr vert="horz" wrap="square" lIns="91724" tIns="45862" rIns="91724" bIns="45862" numCol="1" anchor="t" anchorCtr="0" compatLnSpc="1">
            <a:prstTxWarp prst="textNoShape">
              <a:avLst/>
            </a:prstTxWarp>
          </a:bodyPr>
          <a:lstStyle>
            <a:lvl1pPr algn="r" defTabSz="917575" eaLnBrk="0" fontAlgn="auto" hangingPunct="0">
              <a:spcBef>
                <a:spcPts val="0"/>
              </a:spcBef>
              <a:spcAft>
                <a:spcPts val="0"/>
              </a:spcAft>
              <a:defRPr sz="1200">
                <a:latin typeface="Times New Roman" pitchFamily="18" charset="0"/>
                <a:cs typeface="Arial" charset="0"/>
              </a:defRPr>
            </a:lvl1pPr>
          </a:lstStyle>
          <a:p>
            <a:pPr>
              <a:defRPr/>
            </a:pPr>
            <a:endParaRPr lang="en-GB"/>
          </a:p>
        </p:txBody>
      </p:sp>
      <p:sp>
        <p:nvSpPr>
          <p:cNvPr id="291844" name="Rectangle 4">
            <a:extLst>
              <a:ext uri="{FF2B5EF4-FFF2-40B4-BE49-F238E27FC236}">
                <a16:creationId xmlns:a16="http://schemas.microsoft.com/office/drawing/2014/main" id="{05BAC152-1ECD-4364-8220-FF7E5A5F2B2C}"/>
              </a:ext>
            </a:extLst>
          </p:cNvPr>
          <p:cNvSpPr>
            <a:spLocks noGrp="1" noChangeArrowheads="1"/>
          </p:cNvSpPr>
          <p:nvPr>
            <p:ph type="ftr" sz="quarter" idx="2"/>
          </p:nvPr>
        </p:nvSpPr>
        <p:spPr bwMode="auto">
          <a:xfrm>
            <a:off x="0" y="9344025"/>
            <a:ext cx="2951163" cy="490538"/>
          </a:xfrm>
          <a:prstGeom prst="rect">
            <a:avLst/>
          </a:prstGeom>
          <a:noFill/>
          <a:ln w="9525">
            <a:noFill/>
            <a:miter lim="800000"/>
            <a:headEnd/>
            <a:tailEnd/>
          </a:ln>
          <a:effectLst/>
        </p:spPr>
        <p:txBody>
          <a:bodyPr vert="horz" wrap="square" lIns="91724" tIns="45862" rIns="91724" bIns="45862" numCol="1" anchor="b" anchorCtr="0" compatLnSpc="1">
            <a:prstTxWarp prst="textNoShape">
              <a:avLst/>
            </a:prstTxWarp>
          </a:bodyPr>
          <a:lstStyle>
            <a:lvl1pPr defTabSz="917575" eaLnBrk="0" fontAlgn="auto" hangingPunct="0">
              <a:spcBef>
                <a:spcPts val="0"/>
              </a:spcBef>
              <a:spcAft>
                <a:spcPts val="0"/>
              </a:spcAft>
              <a:defRPr sz="1200">
                <a:latin typeface="Times New Roman" pitchFamily="18" charset="0"/>
                <a:cs typeface="Arial" charset="0"/>
              </a:defRPr>
            </a:lvl1pPr>
          </a:lstStyle>
          <a:p>
            <a:pPr>
              <a:defRPr/>
            </a:pPr>
            <a:endParaRPr lang="en-GB"/>
          </a:p>
        </p:txBody>
      </p:sp>
      <p:sp>
        <p:nvSpPr>
          <p:cNvPr id="291845" name="Rectangle 5">
            <a:extLst>
              <a:ext uri="{FF2B5EF4-FFF2-40B4-BE49-F238E27FC236}">
                <a16:creationId xmlns:a16="http://schemas.microsoft.com/office/drawing/2014/main" id="{813E9906-3B14-4341-AF8C-B99E89E64203}"/>
              </a:ext>
            </a:extLst>
          </p:cNvPr>
          <p:cNvSpPr>
            <a:spLocks noGrp="1" noChangeArrowheads="1"/>
          </p:cNvSpPr>
          <p:nvPr>
            <p:ph type="sldNum" sz="quarter" idx="3"/>
          </p:nvPr>
        </p:nvSpPr>
        <p:spPr bwMode="auto">
          <a:xfrm>
            <a:off x="3856038" y="9344025"/>
            <a:ext cx="2951162" cy="490538"/>
          </a:xfrm>
          <a:prstGeom prst="rect">
            <a:avLst/>
          </a:prstGeom>
          <a:noFill/>
          <a:ln w="9525">
            <a:noFill/>
            <a:miter lim="800000"/>
            <a:headEnd/>
            <a:tailEnd/>
          </a:ln>
          <a:effectLst/>
        </p:spPr>
        <p:txBody>
          <a:bodyPr vert="horz" wrap="square" lIns="91724" tIns="45862" rIns="91724" bIns="45862" numCol="1" anchor="b" anchorCtr="0" compatLnSpc="1">
            <a:prstTxWarp prst="textNoShape">
              <a:avLst/>
            </a:prstTxWarp>
          </a:bodyPr>
          <a:lstStyle>
            <a:lvl1pPr algn="r" defTabSz="917575" eaLnBrk="0" fontAlgn="auto" hangingPunct="0">
              <a:spcBef>
                <a:spcPts val="0"/>
              </a:spcBef>
              <a:spcAft>
                <a:spcPts val="0"/>
              </a:spcAft>
              <a:defRPr sz="1200">
                <a:latin typeface="Times New Roman" panose="02020603050405020304" pitchFamily="18" charset="0"/>
              </a:defRPr>
            </a:lvl1pPr>
          </a:lstStyle>
          <a:p>
            <a:pPr>
              <a:defRPr/>
            </a:pPr>
            <a:fld id="{E855FC98-B075-49EC-ADCC-FC32860C194C}"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082" name="Rectangle 2">
            <a:extLst>
              <a:ext uri="{FF2B5EF4-FFF2-40B4-BE49-F238E27FC236}">
                <a16:creationId xmlns:a16="http://schemas.microsoft.com/office/drawing/2014/main" id="{E7F7F393-0B0C-429E-B11C-C59102B8D8A0}"/>
              </a:ext>
            </a:extLst>
          </p:cNvPr>
          <p:cNvSpPr>
            <a:spLocks noGrp="1" noChangeArrowheads="1"/>
          </p:cNvSpPr>
          <p:nvPr>
            <p:ph type="hdr" sz="quarter"/>
          </p:nvPr>
        </p:nvSpPr>
        <p:spPr bwMode="auto">
          <a:xfrm>
            <a:off x="0" y="0"/>
            <a:ext cx="2951163" cy="490538"/>
          </a:xfrm>
          <a:prstGeom prst="rect">
            <a:avLst/>
          </a:prstGeom>
          <a:noFill/>
          <a:ln w="9525">
            <a:noFill/>
            <a:miter lim="800000"/>
            <a:headEnd/>
            <a:tailEnd/>
          </a:ln>
          <a:effectLst/>
        </p:spPr>
        <p:txBody>
          <a:bodyPr vert="horz" wrap="square" lIns="91724" tIns="45862" rIns="91724" bIns="45862" numCol="1" anchor="t" anchorCtr="0" compatLnSpc="1">
            <a:prstTxWarp prst="textNoShape">
              <a:avLst/>
            </a:prstTxWarp>
          </a:bodyPr>
          <a:lstStyle>
            <a:lvl1pPr defTabSz="917575" eaLnBrk="0" fontAlgn="auto" hangingPunct="0">
              <a:spcBef>
                <a:spcPts val="0"/>
              </a:spcBef>
              <a:spcAft>
                <a:spcPts val="0"/>
              </a:spcAft>
              <a:defRPr sz="1200">
                <a:latin typeface="Times New Roman" pitchFamily="18" charset="0"/>
                <a:cs typeface="Arial" charset="0"/>
              </a:defRPr>
            </a:lvl1pPr>
          </a:lstStyle>
          <a:p>
            <a:pPr>
              <a:defRPr/>
            </a:pPr>
            <a:endParaRPr lang="en-GB"/>
          </a:p>
        </p:txBody>
      </p:sp>
      <p:sp>
        <p:nvSpPr>
          <p:cNvPr id="174083" name="Rectangle 3">
            <a:extLst>
              <a:ext uri="{FF2B5EF4-FFF2-40B4-BE49-F238E27FC236}">
                <a16:creationId xmlns:a16="http://schemas.microsoft.com/office/drawing/2014/main" id="{80697832-9A81-4496-BBB2-D639009DAD2E}"/>
              </a:ext>
            </a:extLst>
          </p:cNvPr>
          <p:cNvSpPr>
            <a:spLocks noGrp="1" noChangeArrowheads="1"/>
          </p:cNvSpPr>
          <p:nvPr>
            <p:ph type="dt" idx="1"/>
          </p:nvPr>
        </p:nvSpPr>
        <p:spPr bwMode="auto">
          <a:xfrm>
            <a:off x="3856038" y="0"/>
            <a:ext cx="2951162" cy="490538"/>
          </a:xfrm>
          <a:prstGeom prst="rect">
            <a:avLst/>
          </a:prstGeom>
          <a:noFill/>
          <a:ln w="9525">
            <a:noFill/>
            <a:miter lim="800000"/>
            <a:headEnd/>
            <a:tailEnd/>
          </a:ln>
          <a:effectLst/>
        </p:spPr>
        <p:txBody>
          <a:bodyPr vert="horz" wrap="square" lIns="91724" tIns="45862" rIns="91724" bIns="45862" numCol="1" anchor="t" anchorCtr="0" compatLnSpc="1">
            <a:prstTxWarp prst="textNoShape">
              <a:avLst/>
            </a:prstTxWarp>
          </a:bodyPr>
          <a:lstStyle>
            <a:lvl1pPr algn="r" defTabSz="917575" eaLnBrk="0" fontAlgn="auto" hangingPunct="0">
              <a:spcBef>
                <a:spcPts val="0"/>
              </a:spcBef>
              <a:spcAft>
                <a:spcPts val="0"/>
              </a:spcAft>
              <a:defRPr sz="1200">
                <a:latin typeface="Times New Roman" pitchFamily="18" charset="0"/>
                <a:cs typeface="Arial" charset="0"/>
              </a:defRPr>
            </a:lvl1pPr>
          </a:lstStyle>
          <a:p>
            <a:pPr>
              <a:defRPr/>
            </a:pPr>
            <a:endParaRPr lang="en-GB"/>
          </a:p>
        </p:txBody>
      </p:sp>
      <p:sp>
        <p:nvSpPr>
          <p:cNvPr id="7172" name="Rectangle 4"/>
          <p:cNvSpPr>
            <a:spLocks noGrp="1" noRot="1" noChangeAspect="1" noChangeArrowheads="1" noTextEdit="1"/>
          </p:cNvSpPr>
          <p:nvPr>
            <p:ph type="sldImg" idx="2"/>
          </p:nvPr>
        </p:nvSpPr>
        <p:spPr bwMode="auto">
          <a:xfrm>
            <a:off x="125413" y="736600"/>
            <a:ext cx="6557962" cy="36893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085" name="Rectangle 5">
            <a:extLst>
              <a:ext uri="{FF2B5EF4-FFF2-40B4-BE49-F238E27FC236}">
                <a16:creationId xmlns:a16="http://schemas.microsoft.com/office/drawing/2014/main" id="{B6B3D61A-9902-4EF6-AB8B-D0136FD46F40}"/>
              </a:ext>
            </a:extLst>
          </p:cNvPr>
          <p:cNvSpPr>
            <a:spLocks noGrp="1" noChangeArrowheads="1"/>
          </p:cNvSpPr>
          <p:nvPr>
            <p:ph type="body" sz="quarter" idx="3"/>
          </p:nvPr>
        </p:nvSpPr>
        <p:spPr bwMode="auto">
          <a:xfrm>
            <a:off x="681038" y="4672013"/>
            <a:ext cx="5446712" cy="4427537"/>
          </a:xfrm>
          <a:prstGeom prst="rect">
            <a:avLst/>
          </a:prstGeom>
          <a:noFill/>
          <a:ln w="9525">
            <a:noFill/>
            <a:miter lim="800000"/>
            <a:headEnd/>
            <a:tailEnd/>
          </a:ln>
          <a:effectLst/>
        </p:spPr>
        <p:txBody>
          <a:bodyPr vert="horz" wrap="square" lIns="91724" tIns="45862" rIns="91724" bIns="45862"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74086" name="Rectangle 6">
            <a:extLst>
              <a:ext uri="{FF2B5EF4-FFF2-40B4-BE49-F238E27FC236}">
                <a16:creationId xmlns:a16="http://schemas.microsoft.com/office/drawing/2014/main" id="{15B1618F-DD96-4AB4-9A3C-4F23405613D9}"/>
              </a:ext>
            </a:extLst>
          </p:cNvPr>
          <p:cNvSpPr>
            <a:spLocks noGrp="1" noChangeArrowheads="1"/>
          </p:cNvSpPr>
          <p:nvPr>
            <p:ph type="ftr" sz="quarter" idx="4"/>
          </p:nvPr>
        </p:nvSpPr>
        <p:spPr bwMode="auto">
          <a:xfrm>
            <a:off x="0" y="9344025"/>
            <a:ext cx="2951163" cy="490538"/>
          </a:xfrm>
          <a:prstGeom prst="rect">
            <a:avLst/>
          </a:prstGeom>
          <a:noFill/>
          <a:ln w="9525">
            <a:noFill/>
            <a:miter lim="800000"/>
            <a:headEnd/>
            <a:tailEnd/>
          </a:ln>
          <a:effectLst/>
        </p:spPr>
        <p:txBody>
          <a:bodyPr vert="horz" wrap="square" lIns="91724" tIns="45862" rIns="91724" bIns="45862" numCol="1" anchor="b" anchorCtr="0" compatLnSpc="1">
            <a:prstTxWarp prst="textNoShape">
              <a:avLst/>
            </a:prstTxWarp>
          </a:bodyPr>
          <a:lstStyle>
            <a:lvl1pPr defTabSz="917575" eaLnBrk="0" fontAlgn="auto" hangingPunct="0">
              <a:spcBef>
                <a:spcPts val="0"/>
              </a:spcBef>
              <a:spcAft>
                <a:spcPts val="0"/>
              </a:spcAft>
              <a:defRPr sz="1200">
                <a:latin typeface="Times New Roman" pitchFamily="18" charset="0"/>
                <a:cs typeface="Arial" charset="0"/>
              </a:defRPr>
            </a:lvl1pPr>
          </a:lstStyle>
          <a:p>
            <a:pPr>
              <a:defRPr/>
            </a:pPr>
            <a:endParaRPr lang="en-GB"/>
          </a:p>
        </p:txBody>
      </p:sp>
      <p:sp>
        <p:nvSpPr>
          <p:cNvPr id="174087" name="Rectangle 7">
            <a:extLst>
              <a:ext uri="{FF2B5EF4-FFF2-40B4-BE49-F238E27FC236}">
                <a16:creationId xmlns:a16="http://schemas.microsoft.com/office/drawing/2014/main" id="{0D88694A-5749-4B25-A372-60615344D51E}"/>
              </a:ext>
            </a:extLst>
          </p:cNvPr>
          <p:cNvSpPr>
            <a:spLocks noGrp="1" noChangeArrowheads="1"/>
          </p:cNvSpPr>
          <p:nvPr>
            <p:ph type="sldNum" sz="quarter" idx="5"/>
          </p:nvPr>
        </p:nvSpPr>
        <p:spPr bwMode="auto">
          <a:xfrm>
            <a:off x="3856038" y="9344025"/>
            <a:ext cx="2951162" cy="490538"/>
          </a:xfrm>
          <a:prstGeom prst="rect">
            <a:avLst/>
          </a:prstGeom>
          <a:noFill/>
          <a:ln w="9525">
            <a:noFill/>
            <a:miter lim="800000"/>
            <a:headEnd/>
            <a:tailEnd/>
          </a:ln>
          <a:effectLst/>
        </p:spPr>
        <p:txBody>
          <a:bodyPr vert="horz" wrap="square" lIns="91724" tIns="45862" rIns="91724" bIns="45862" numCol="1" anchor="b" anchorCtr="0" compatLnSpc="1">
            <a:prstTxWarp prst="textNoShape">
              <a:avLst/>
            </a:prstTxWarp>
          </a:bodyPr>
          <a:lstStyle>
            <a:lvl1pPr algn="r" defTabSz="917575" eaLnBrk="0" fontAlgn="auto" hangingPunct="0">
              <a:spcBef>
                <a:spcPts val="0"/>
              </a:spcBef>
              <a:spcAft>
                <a:spcPts val="0"/>
              </a:spcAft>
              <a:defRPr sz="1200">
                <a:latin typeface="Times New Roman" panose="02020603050405020304" pitchFamily="18" charset="0"/>
              </a:defRPr>
            </a:lvl1pPr>
          </a:lstStyle>
          <a:p>
            <a:pPr>
              <a:defRPr/>
            </a:pPr>
            <a:fld id="{A25553B6-C279-495E-882B-3B28AF60BE73}"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Arial" charset="0"/>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Arial" charset="0"/>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ChangeArrowheads="1" noTextEdit="1"/>
          </p:cNvSpPr>
          <p:nvPr>
            <p:ph type="sldImg"/>
          </p:nvPr>
        </p:nvSpPr>
        <p:spPr>
          <a:xfrm>
            <a:off x="125413" y="736600"/>
            <a:ext cx="6557962" cy="3689350"/>
          </a:xfrm>
          <a:ln/>
        </p:spPr>
      </p:sp>
      <p:sp>
        <p:nvSpPr>
          <p:cNvPr id="102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cs typeface="Arial" panose="020B0604020202020204" pitchFamily="34" charset="0"/>
            </a:endParaRPr>
          </a:p>
        </p:txBody>
      </p:sp>
      <p:sp>
        <p:nvSpPr>
          <p:cNvPr id="102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7575">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defTabSz="917575">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defTabSz="917575">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defTabSz="917575">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defTabSz="917575">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defTabSz="917575"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defTabSz="917575"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defTabSz="917575"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defTabSz="917575"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fontAlgn="base">
              <a:spcBef>
                <a:spcPct val="0"/>
              </a:spcBef>
              <a:spcAft>
                <a:spcPct val="0"/>
              </a:spcAft>
            </a:pPr>
            <a:fld id="{929B6736-A4C4-45A5-95FC-5AEABF4C4C1B}" type="slidenum">
              <a:rPr lang="en-GB" altLang="en-US" smtClean="0"/>
              <a:pPr fontAlgn="base">
                <a:spcBef>
                  <a:spcPct val="0"/>
                </a:spcBef>
                <a:spcAft>
                  <a:spcPct val="0"/>
                </a:spcAft>
              </a:pPr>
              <a:t>1</a:t>
            </a:fld>
            <a:endParaRPr lang="en-GB"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ChangeArrowheads="1" noTextEdit="1"/>
          </p:cNvSpPr>
          <p:nvPr>
            <p:ph type="sldImg"/>
          </p:nvPr>
        </p:nvSpPr>
        <p:spPr>
          <a:xfrm>
            <a:off x="125413" y="736600"/>
            <a:ext cx="6557962" cy="3689350"/>
          </a:xfrm>
          <a:ln/>
        </p:spPr>
      </p:sp>
      <p:sp>
        <p:nvSpPr>
          <p:cNvPr id="512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GB">
              <a:cs typeface="Arial" panose="020B0604020202020204" pitchFamily="34" charset="0"/>
            </a:endParaRPr>
          </a:p>
        </p:txBody>
      </p:sp>
      <p:sp>
        <p:nvSpPr>
          <p:cNvPr id="512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7575">
              <a:defRPr>
                <a:solidFill>
                  <a:schemeClr val="tx1"/>
                </a:solidFill>
                <a:latin typeface="Calibri" panose="020F0502020204030204" pitchFamily="34" charset="0"/>
              </a:defRPr>
            </a:lvl1pPr>
            <a:lvl2pPr marL="742950" indent="-285750" defTabSz="917575">
              <a:defRPr>
                <a:solidFill>
                  <a:schemeClr val="tx1"/>
                </a:solidFill>
                <a:latin typeface="Calibri" panose="020F0502020204030204" pitchFamily="34" charset="0"/>
              </a:defRPr>
            </a:lvl2pPr>
            <a:lvl3pPr marL="1143000" indent="-228600" defTabSz="917575">
              <a:defRPr>
                <a:solidFill>
                  <a:schemeClr val="tx1"/>
                </a:solidFill>
                <a:latin typeface="Calibri" panose="020F0502020204030204" pitchFamily="34" charset="0"/>
              </a:defRPr>
            </a:lvl3pPr>
            <a:lvl4pPr marL="1600200" indent="-228600" defTabSz="917575">
              <a:defRPr>
                <a:solidFill>
                  <a:schemeClr val="tx1"/>
                </a:solidFill>
                <a:latin typeface="Calibri" panose="020F0502020204030204" pitchFamily="34" charset="0"/>
              </a:defRPr>
            </a:lvl4pPr>
            <a:lvl5pPr marL="2057400" indent="-228600" defTabSz="917575">
              <a:defRPr>
                <a:solidFill>
                  <a:schemeClr val="tx1"/>
                </a:solidFill>
                <a:latin typeface="Calibri" panose="020F0502020204030204" pitchFamily="34" charset="0"/>
              </a:defRPr>
            </a:lvl5pPr>
            <a:lvl6pPr marL="2514600" indent="-228600" defTabSz="917575" eaLnBrk="0" fontAlgn="base" hangingPunct="0">
              <a:spcBef>
                <a:spcPct val="0"/>
              </a:spcBef>
              <a:spcAft>
                <a:spcPct val="0"/>
              </a:spcAft>
              <a:defRPr>
                <a:solidFill>
                  <a:schemeClr val="tx1"/>
                </a:solidFill>
                <a:latin typeface="Calibri" panose="020F0502020204030204" pitchFamily="34" charset="0"/>
              </a:defRPr>
            </a:lvl6pPr>
            <a:lvl7pPr marL="2971800" indent="-228600" defTabSz="917575" eaLnBrk="0" fontAlgn="base" hangingPunct="0">
              <a:spcBef>
                <a:spcPct val="0"/>
              </a:spcBef>
              <a:spcAft>
                <a:spcPct val="0"/>
              </a:spcAft>
              <a:defRPr>
                <a:solidFill>
                  <a:schemeClr val="tx1"/>
                </a:solidFill>
                <a:latin typeface="Calibri" panose="020F0502020204030204" pitchFamily="34" charset="0"/>
              </a:defRPr>
            </a:lvl7pPr>
            <a:lvl8pPr marL="3429000" indent="-228600" defTabSz="917575" eaLnBrk="0" fontAlgn="base" hangingPunct="0">
              <a:spcBef>
                <a:spcPct val="0"/>
              </a:spcBef>
              <a:spcAft>
                <a:spcPct val="0"/>
              </a:spcAft>
              <a:defRPr>
                <a:solidFill>
                  <a:schemeClr val="tx1"/>
                </a:solidFill>
                <a:latin typeface="Calibri" panose="020F0502020204030204" pitchFamily="34" charset="0"/>
              </a:defRPr>
            </a:lvl8pPr>
            <a:lvl9pPr marL="3886200" indent="-228600" defTabSz="917575"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59422289-05F0-4F69-831B-C3933F2CC186}" type="slidenum">
              <a:rPr lang="en-GB" altLang="en-US" smtClean="0">
                <a:latin typeface="Times New Roman" panose="02020603050405020304" pitchFamily="18" charset="0"/>
                <a:cs typeface="Arial" panose="020B0604020202020204" pitchFamily="34" charset="0"/>
              </a:rPr>
              <a:pPr fontAlgn="base">
                <a:spcBef>
                  <a:spcPct val="0"/>
                </a:spcBef>
                <a:spcAft>
                  <a:spcPct val="0"/>
                </a:spcAft>
              </a:pPr>
              <a:t>41</a:t>
            </a:fld>
            <a:endParaRPr lang="en-GB" altLang="en-US">
              <a:latin typeface="Times New Roman" panose="02020603050405020304" pitchFamily="18" charset="0"/>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ChangeArrowheads="1" noTextEdit="1"/>
          </p:cNvSpPr>
          <p:nvPr>
            <p:ph type="sldImg"/>
          </p:nvPr>
        </p:nvSpPr>
        <p:spPr>
          <a:xfrm>
            <a:off x="125413" y="736600"/>
            <a:ext cx="6557962" cy="3689350"/>
          </a:xfrm>
          <a:ln/>
        </p:spPr>
      </p:sp>
      <p:sp>
        <p:nvSpPr>
          <p:cNvPr id="870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cs typeface="Arial" panose="020B0604020202020204" pitchFamily="34" charset="0"/>
            </a:endParaRPr>
          </a:p>
        </p:txBody>
      </p:sp>
      <p:sp>
        <p:nvSpPr>
          <p:cNvPr id="870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7575">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defTabSz="917575">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defTabSz="917575">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defTabSz="917575">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defTabSz="917575">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defTabSz="917575"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defTabSz="917575"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defTabSz="917575"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defTabSz="917575"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fontAlgn="base">
              <a:spcBef>
                <a:spcPct val="0"/>
              </a:spcBef>
              <a:spcAft>
                <a:spcPct val="0"/>
              </a:spcAft>
            </a:pPr>
            <a:fld id="{C80EF394-9AE8-4E4C-8E0B-FF44651F1592}" type="slidenum">
              <a:rPr lang="en-GB" altLang="en-US" smtClean="0"/>
              <a:pPr fontAlgn="base">
                <a:spcBef>
                  <a:spcPct val="0"/>
                </a:spcBef>
                <a:spcAft>
                  <a:spcPct val="0"/>
                </a:spcAft>
              </a:pPr>
              <a:t>81</a:t>
            </a:fld>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1" y="1"/>
            <a:ext cx="12187767" cy="6850063"/>
            <a:chOff x="0" y="0"/>
            <a:chExt cx="5758" cy="4315"/>
          </a:xfrm>
        </p:grpSpPr>
        <p:grpSp>
          <p:nvGrpSpPr>
            <p:cNvPr id="5" name="Group 3"/>
            <p:cNvGrpSpPr>
              <a:grpSpLocks/>
            </p:cNvGrpSpPr>
            <p:nvPr userDrawn="1"/>
          </p:nvGrpSpPr>
          <p:grpSpPr bwMode="auto">
            <a:xfrm>
              <a:off x="1728" y="2230"/>
              <a:ext cx="4027" cy="2085"/>
              <a:chOff x="1728" y="2230"/>
              <a:chExt cx="4027" cy="2085"/>
            </a:xfrm>
          </p:grpSpPr>
          <p:sp>
            <p:nvSpPr>
              <p:cNvPr id="8" name="Freeform 4">
                <a:extLst>
                  <a:ext uri="{FF2B5EF4-FFF2-40B4-BE49-F238E27FC236}">
                    <a16:creationId xmlns:a16="http://schemas.microsoft.com/office/drawing/2014/main" id="{F1BF361E-8948-44C9-966D-504F1087A6B3}"/>
                  </a:ext>
                </a:extLst>
              </p:cNvPr>
              <p:cNvSpPr>
                <a:spLocks/>
              </p:cNvSpPr>
              <p:nvPr/>
            </p:nvSpPr>
            <p:spPr bwMode="hidden">
              <a:xfrm>
                <a:off x="1728" y="2644"/>
                <a:ext cx="2882" cy="1671"/>
              </a:xfrm>
              <a:custGeom>
                <a:avLst/>
                <a:gdLst/>
                <a:ahLst/>
                <a:cxnLst>
                  <a:cxn ang="0">
                    <a:pos x="2740" y="528"/>
                  </a:cxn>
                  <a:cxn ang="0">
                    <a:pos x="2632" y="484"/>
                  </a:cxn>
                  <a:cxn ang="0">
                    <a:pos x="2480" y="424"/>
                  </a:cxn>
                  <a:cxn ang="0">
                    <a:pos x="2203" y="343"/>
                  </a:cxn>
                  <a:cxn ang="0">
                    <a:pos x="1970" y="277"/>
                  </a:cxn>
                  <a:cxn ang="0">
                    <a:pos x="1807" y="212"/>
                  </a:cxn>
                  <a:cxn ang="0">
                    <a:pos x="1693" y="152"/>
                  </a:cxn>
                  <a:cxn ang="0">
                    <a:pos x="1628" y="103"/>
                  </a:cxn>
                  <a:cxn ang="0">
                    <a:pos x="1590" y="60"/>
                  </a:cxn>
                  <a:cxn ang="0">
                    <a:pos x="1579" y="27"/>
                  </a:cxn>
                  <a:cxn ang="0">
                    <a:pos x="1585" y="0"/>
                  </a:cxn>
                  <a:cxn ang="0">
                    <a:pos x="1557" y="49"/>
                  </a:cxn>
                  <a:cxn ang="0">
                    <a:pos x="1568" y="98"/>
                  </a:cxn>
                  <a:cxn ang="0">
                    <a:pos x="1617" y="141"/>
                  </a:cxn>
                  <a:cxn ang="0">
                    <a:pos x="1688" y="185"/>
                  </a:cxn>
                  <a:cxn ang="0">
                    <a:pos x="1791" y="228"/>
                  </a:cxn>
                  <a:cxn ang="0">
                    <a:pos x="2040" y="310"/>
                  </a:cxn>
                  <a:cxn ang="0">
                    <a:pos x="2285" y="381"/>
                  </a:cxn>
                  <a:cxn ang="0">
                    <a:pos x="2464" y="435"/>
                  </a:cxn>
                  <a:cxn ang="0">
                    <a:pos x="2605" y="484"/>
                  </a:cxn>
                  <a:cxn ang="0">
                    <a:pos x="2708" y="528"/>
                  </a:cxn>
                  <a:cxn ang="0">
                    <a:pos x="2768" y="560"/>
                  </a:cxn>
                  <a:cxn ang="0">
                    <a:pos x="2795" y="593"/>
                  </a:cxn>
                  <a:cxn ang="0">
                    <a:pos x="2795" y="642"/>
                  </a:cxn>
                  <a:cxn ang="0">
                    <a:pos x="2762" y="691"/>
                  </a:cxn>
                  <a:cxn ang="0">
                    <a:pos x="2692" y="735"/>
                  </a:cxn>
                  <a:cxn ang="0">
                    <a:pos x="2589" y="778"/>
                  </a:cxn>
                  <a:cxn ang="0">
                    <a:pos x="2458" y="822"/>
                  </a:cxn>
                  <a:cxn ang="0">
                    <a:pos x="2301" y="865"/>
                  </a:cxn>
                  <a:cxn ang="0">
                    <a:pos x="2030" y="930"/>
                  </a:cxn>
                  <a:cxn ang="0">
                    <a:pos x="1606" y="1034"/>
                  </a:cxn>
                  <a:cxn ang="0">
                    <a:pos x="1145" y="1164"/>
                  </a:cxn>
                  <a:cxn ang="0">
                    <a:pos x="673" y="1328"/>
                  </a:cxn>
                  <a:cxn ang="0">
                    <a:pos x="217" y="1545"/>
                  </a:cxn>
                  <a:cxn ang="0">
                    <a:pos x="353" y="1671"/>
                  </a:cxn>
                  <a:cxn ang="0">
                    <a:pos x="754" y="1469"/>
                  </a:cxn>
                  <a:cxn ang="0">
                    <a:pos x="1145" y="1311"/>
                  </a:cxn>
                  <a:cxn ang="0">
                    <a:pos x="1519" y="1186"/>
                  </a:cxn>
                  <a:cxn ang="0">
                    <a:pos x="1861" y="1083"/>
                  </a:cxn>
                  <a:cxn ang="0">
                    <a:pos x="2165" y="1007"/>
                  </a:cxn>
                  <a:cxn ang="0">
                    <a:pos x="2426" y="947"/>
                  </a:cxn>
                  <a:cxn ang="0">
                    <a:pos x="2626" y="892"/>
                  </a:cxn>
                  <a:cxn ang="0">
                    <a:pos x="2762" y="838"/>
                  </a:cxn>
                  <a:cxn ang="0">
                    <a:pos x="2827" y="794"/>
                  </a:cxn>
                  <a:cxn ang="0">
                    <a:pos x="2865" y="745"/>
                  </a:cxn>
                  <a:cxn ang="0">
                    <a:pos x="2882" y="702"/>
                  </a:cxn>
                  <a:cxn ang="0">
                    <a:pos x="2854" y="620"/>
                  </a:cxn>
                  <a:cxn ang="0">
                    <a:pos x="2800" y="560"/>
                  </a:cxn>
                  <a:cxn ang="0">
                    <a:pos x="2773" y="544"/>
                  </a:cxn>
                </a:cxnLst>
                <a:rect l="0" t="0" r="r" b="b"/>
                <a:pathLst>
                  <a:path w="2882" h="1671">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rotWithShape="0">
                <a:gsLst>
                  <a:gs pos="0">
                    <a:schemeClr val="bg1"/>
                  </a:gs>
                  <a:gs pos="100000">
                    <a:schemeClr val="bg1">
                      <a:gamma/>
                      <a:shade val="90980"/>
                      <a:invGamma/>
                    </a:schemeClr>
                  </a:gs>
                </a:gsLst>
                <a:lin ang="0" scaled="1"/>
              </a:gradFill>
              <a:ln w="9525">
                <a:noFill/>
                <a:round/>
                <a:headEnd/>
                <a:tailEnd/>
              </a:ln>
            </p:spPr>
            <p:txBody>
              <a:bodyPr/>
              <a:lstStyle/>
              <a:p>
                <a:pPr eaLnBrk="1" fontAlgn="auto" hangingPunct="1">
                  <a:spcBef>
                    <a:spcPts val="0"/>
                  </a:spcBef>
                  <a:spcAft>
                    <a:spcPts val="0"/>
                  </a:spcAft>
                  <a:defRPr/>
                </a:pPr>
                <a:endParaRPr lang="en-GB">
                  <a:latin typeface="+mn-lt"/>
                </a:endParaRPr>
              </a:p>
            </p:txBody>
          </p:sp>
          <p:sp>
            <p:nvSpPr>
              <p:cNvPr id="9" name="Freeform 5">
                <a:extLst>
                  <a:ext uri="{FF2B5EF4-FFF2-40B4-BE49-F238E27FC236}">
                    <a16:creationId xmlns:a16="http://schemas.microsoft.com/office/drawing/2014/main" id="{22D20BAD-6FEE-4FF7-84D4-D4A0053EA53F}"/>
                  </a:ext>
                </a:extLst>
              </p:cNvPr>
              <p:cNvSpPr>
                <a:spLocks/>
              </p:cNvSpPr>
              <p:nvPr/>
            </p:nvSpPr>
            <p:spPr bwMode="hidden">
              <a:xfrm>
                <a:off x="4170" y="2671"/>
                <a:ext cx="1259" cy="811"/>
              </a:xfrm>
              <a:custGeom>
                <a:avLst/>
                <a:gdLst/>
                <a:ahLst/>
                <a:cxnLst>
                  <a:cxn ang="0">
                    <a:pos x="1259" y="615"/>
                  </a:cxn>
                  <a:cxn ang="0">
                    <a:pos x="1248" y="588"/>
                  </a:cxn>
                  <a:cxn ang="0">
                    <a:pos x="1237" y="566"/>
                  </a:cxn>
                  <a:cxn ang="0">
                    <a:pos x="1216" y="539"/>
                  </a:cxn>
                  <a:cxn ang="0">
                    <a:pos x="1188" y="517"/>
                  </a:cxn>
                  <a:cxn ang="0">
                    <a:pos x="1123" y="479"/>
                  </a:cxn>
                  <a:cxn ang="0">
                    <a:pos x="1042" y="441"/>
                  </a:cxn>
                  <a:cxn ang="0">
                    <a:pos x="944" y="408"/>
                  </a:cxn>
                  <a:cxn ang="0">
                    <a:pos x="841" y="381"/>
                  </a:cxn>
                  <a:cxn ang="0">
                    <a:pos x="727" y="348"/>
                  </a:cxn>
                  <a:cxn ang="0">
                    <a:pos x="613" y="321"/>
                  </a:cxn>
                  <a:cxn ang="0">
                    <a:pos x="499" y="294"/>
                  </a:cxn>
                  <a:cxn ang="0">
                    <a:pos x="391" y="261"/>
                  </a:cxn>
                  <a:cxn ang="0">
                    <a:pos x="288" y="229"/>
                  </a:cxn>
                  <a:cxn ang="0">
                    <a:pos x="195" y="196"/>
                  </a:cxn>
                  <a:cxn ang="0">
                    <a:pos x="119" y="152"/>
                  </a:cxn>
                  <a:cxn ang="0">
                    <a:pos x="54" y="109"/>
                  </a:cxn>
                  <a:cxn ang="0">
                    <a:pos x="33" y="87"/>
                  </a:cxn>
                  <a:cxn ang="0">
                    <a:pos x="16" y="60"/>
                  </a:cxn>
                  <a:cxn ang="0">
                    <a:pos x="5" y="33"/>
                  </a:cxn>
                  <a:cxn ang="0">
                    <a:pos x="0" y="0"/>
                  </a:cxn>
                  <a:cxn ang="0">
                    <a:pos x="0" y="6"/>
                  </a:cxn>
                  <a:cxn ang="0">
                    <a:pos x="0" y="11"/>
                  </a:cxn>
                  <a:cxn ang="0">
                    <a:pos x="0" y="38"/>
                  </a:cxn>
                  <a:cxn ang="0">
                    <a:pos x="5" y="60"/>
                  </a:cxn>
                  <a:cxn ang="0">
                    <a:pos x="16" y="87"/>
                  </a:cxn>
                  <a:cxn ang="0">
                    <a:pos x="33" y="114"/>
                  </a:cxn>
                  <a:cxn ang="0">
                    <a:pos x="54" y="142"/>
                  </a:cxn>
                  <a:cxn ang="0">
                    <a:pos x="87" y="174"/>
                  </a:cxn>
                  <a:cxn ang="0">
                    <a:pos x="125" y="207"/>
                  </a:cxn>
                  <a:cxn ang="0">
                    <a:pos x="179" y="240"/>
                  </a:cxn>
                  <a:cxn ang="0">
                    <a:pos x="244" y="278"/>
                  </a:cxn>
                  <a:cxn ang="0">
                    <a:pos x="326" y="310"/>
                  </a:cxn>
                  <a:cxn ang="0">
                    <a:pos x="418" y="348"/>
                  </a:cxn>
                  <a:cxn ang="0">
                    <a:pos x="526" y="381"/>
                  </a:cxn>
                  <a:cxn ang="0">
                    <a:pos x="657" y="414"/>
                  </a:cxn>
                  <a:cxn ang="0">
                    <a:pos x="749" y="435"/>
                  </a:cxn>
                  <a:cxn ang="0">
                    <a:pos x="830" y="463"/>
                  </a:cxn>
                  <a:cxn ang="0">
                    <a:pos x="901" y="490"/>
                  </a:cxn>
                  <a:cxn ang="0">
                    <a:pos x="966" y="512"/>
                  </a:cxn>
                  <a:cxn ang="0">
                    <a:pos x="1015" y="539"/>
                  </a:cxn>
                  <a:cxn ang="0">
                    <a:pos x="1053" y="566"/>
                  </a:cxn>
                  <a:cxn ang="0">
                    <a:pos x="1080" y="593"/>
                  </a:cxn>
                  <a:cxn ang="0">
                    <a:pos x="1102" y="620"/>
                  </a:cxn>
                  <a:cxn ang="0">
                    <a:pos x="1112" y="648"/>
                  </a:cxn>
                  <a:cxn ang="0">
                    <a:pos x="1118" y="675"/>
                  </a:cxn>
                  <a:cxn ang="0">
                    <a:pos x="1112" y="697"/>
                  </a:cxn>
                  <a:cxn ang="0">
                    <a:pos x="1096" y="724"/>
                  </a:cxn>
                  <a:cxn ang="0">
                    <a:pos x="1080" y="746"/>
                  </a:cxn>
                  <a:cxn ang="0">
                    <a:pos x="1053" y="767"/>
                  </a:cxn>
                  <a:cxn ang="0">
                    <a:pos x="1015" y="789"/>
                  </a:cxn>
                  <a:cxn ang="0">
                    <a:pos x="977" y="811"/>
                  </a:cxn>
                  <a:cxn ang="0">
                    <a:pos x="1047" y="789"/>
                  </a:cxn>
                  <a:cxn ang="0">
                    <a:pos x="1107" y="767"/>
                  </a:cxn>
                  <a:cxn ang="0">
                    <a:pos x="1156" y="746"/>
                  </a:cxn>
                  <a:cxn ang="0">
                    <a:pos x="1199" y="724"/>
                  </a:cxn>
                  <a:cxn ang="0">
                    <a:pos x="1226" y="702"/>
                  </a:cxn>
                  <a:cxn ang="0">
                    <a:pos x="1248" y="675"/>
                  </a:cxn>
                  <a:cxn ang="0">
                    <a:pos x="1259" y="648"/>
                  </a:cxn>
                  <a:cxn ang="0">
                    <a:pos x="1259" y="615"/>
                  </a:cxn>
                  <a:cxn ang="0">
                    <a:pos x="1259" y="615"/>
                  </a:cxn>
                </a:cxnLst>
                <a:rect l="0" t="0" r="r" b="b"/>
                <a:pathLst>
                  <a:path w="1259" h="811">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rotWithShape="0">
                <a:gsLst>
                  <a:gs pos="0">
                    <a:schemeClr val="bg1"/>
                  </a:gs>
                  <a:gs pos="100000">
                    <a:schemeClr val="bg1">
                      <a:gamma/>
                      <a:shade val="90980"/>
                      <a:invGamma/>
                    </a:schemeClr>
                  </a:gs>
                </a:gsLst>
                <a:lin ang="2700000" scaled="1"/>
              </a:gradFill>
              <a:ln w="9525">
                <a:noFill/>
                <a:round/>
                <a:headEnd/>
                <a:tailEnd/>
              </a:ln>
            </p:spPr>
            <p:txBody>
              <a:bodyPr/>
              <a:lstStyle/>
              <a:p>
                <a:pPr eaLnBrk="1" fontAlgn="auto" hangingPunct="1">
                  <a:spcBef>
                    <a:spcPts val="0"/>
                  </a:spcBef>
                  <a:spcAft>
                    <a:spcPts val="0"/>
                  </a:spcAft>
                  <a:defRPr/>
                </a:pPr>
                <a:endParaRPr lang="en-GB">
                  <a:latin typeface="+mn-lt"/>
                </a:endParaRPr>
              </a:p>
            </p:txBody>
          </p:sp>
          <p:sp>
            <p:nvSpPr>
              <p:cNvPr id="10" name="Freeform 6">
                <a:extLst>
                  <a:ext uri="{FF2B5EF4-FFF2-40B4-BE49-F238E27FC236}">
                    <a16:creationId xmlns:a16="http://schemas.microsoft.com/office/drawing/2014/main" id="{D4D22119-11B0-46ED-B7B7-B7BB3710EC1C}"/>
                  </a:ext>
                </a:extLst>
              </p:cNvPr>
              <p:cNvSpPr>
                <a:spLocks/>
              </p:cNvSpPr>
              <p:nvPr/>
            </p:nvSpPr>
            <p:spPr bwMode="hidden">
              <a:xfrm>
                <a:off x="2900" y="3346"/>
                <a:ext cx="2849" cy="969"/>
              </a:xfrm>
              <a:custGeom>
                <a:avLst/>
                <a:gdLst/>
                <a:ahLst/>
                <a:cxnLst>
                  <a:cxn ang="0">
                    <a:pos x="92" y="958"/>
                  </a:cxn>
                  <a:cxn ang="0">
                    <a:pos x="0" y="969"/>
                  </a:cxn>
                  <a:cxn ang="0">
                    <a:pos x="391" y="969"/>
                  </a:cxn>
                  <a:cxn ang="0">
                    <a:pos x="434" y="947"/>
                  </a:cxn>
                  <a:cxn ang="0">
                    <a:pos x="483" y="914"/>
                  </a:cxn>
                  <a:cxn ang="0">
                    <a:pos x="554" y="876"/>
                  </a:cxn>
                  <a:cxn ang="0">
                    <a:pos x="635" y="838"/>
                  </a:cxn>
                  <a:cxn ang="0">
                    <a:pos x="727" y="794"/>
                  </a:cxn>
                  <a:cxn ang="0">
                    <a:pos x="836" y="745"/>
                  </a:cxn>
                  <a:cxn ang="0">
                    <a:pos x="961" y="696"/>
                  </a:cxn>
                  <a:cxn ang="0">
                    <a:pos x="1102" y="642"/>
                  </a:cxn>
                  <a:cxn ang="0">
                    <a:pos x="1259" y="582"/>
                  </a:cxn>
                  <a:cxn ang="0">
                    <a:pos x="1433" y="522"/>
                  </a:cxn>
                  <a:cxn ang="0">
                    <a:pos x="1623" y="462"/>
                  </a:cxn>
                  <a:cxn ang="0">
                    <a:pos x="1829" y="403"/>
                  </a:cxn>
                  <a:cxn ang="0">
                    <a:pos x="2057" y="343"/>
                  </a:cxn>
                  <a:cxn ang="0">
                    <a:pos x="2301" y="283"/>
                  </a:cxn>
                  <a:cxn ang="0">
                    <a:pos x="2567" y="223"/>
                  </a:cxn>
                  <a:cxn ang="0">
                    <a:pos x="2849" y="163"/>
                  </a:cxn>
                  <a:cxn ang="0">
                    <a:pos x="2849" y="0"/>
                  </a:cxn>
                  <a:cxn ang="0">
                    <a:pos x="2817" y="16"/>
                  </a:cxn>
                  <a:cxn ang="0">
                    <a:pos x="2773" y="33"/>
                  </a:cxn>
                  <a:cxn ang="0">
                    <a:pos x="2719" y="54"/>
                  </a:cxn>
                  <a:cxn ang="0">
                    <a:pos x="2648" y="76"/>
                  </a:cxn>
                  <a:cxn ang="0">
                    <a:pos x="2572" y="98"/>
                  </a:cxn>
                  <a:cxn ang="0">
                    <a:pos x="2491" y="120"/>
                  </a:cxn>
                  <a:cxn ang="0">
                    <a:pos x="2399" y="147"/>
                  </a:cxn>
                  <a:cxn ang="0">
                    <a:pos x="2301" y="169"/>
                  </a:cxn>
                  <a:cxn ang="0">
                    <a:pos x="2095" y="223"/>
                  </a:cxn>
                  <a:cxn ang="0">
                    <a:pos x="1889" y="277"/>
                  </a:cxn>
                  <a:cxn ang="0">
                    <a:pos x="1688" y="326"/>
                  </a:cxn>
                  <a:cxn ang="0">
                    <a:pos x="1590" y="354"/>
                  </a:cxn>
                  <a:cxn ang="0">
                    <a:pos x="1503" y="381"/>
                  </a:cxn>
                  <a:cxn ang="0">
                    <a:pos x="1107" y="506"/>
                  </a:cxn>
                  <a:cxn ang="0">
                    <a:pos x="912" y="577"/>
                  </a:cxn>
                  <a:cxn ang="0">
                    <a:pos x="727" y="647"/>
                  </a:cxn>
                  <a:cxn ang="0">
                    <a:pos x="548" y="718"/>
                  </a:cxn>
                  <a:cxn ang="0">
                    <a:pos x="380" y="794"/>
                  </a:cxn>
                  <a:cxn ang="0">
                    <a:pos x="228" y="876"/>
                  </a:cxn>
                  <a:cxn ang="0">
                    <a:pos x="92" y="958"/>
                  </a:cxn>
                  <a:cxn ang="0">
                    <a:pos x="92" y="958"/>
                  </a:cxn>
                </a:cxnLst>
                <a:rect l="0" t="0" r="r" b="b"/>
                <a:pathLst>
                  <a:path w="2849" h="96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rotWithShape="0">
                <a:gsLst>
                  <a:gs pos="0">
                    <a:schemeClr val="bg1">
                      <a:gamma/>
                      <a:shade val="81961"/>
                      <a:invGamma/>
                    </a:schemeClr>
                  </a:gs>
                  <a:gs pos="100000">
                    <a:schemeClr val="bg1"/>
                  </a:gs>
                </a:gsLst>
                <a:lin ang="5400000" scaled="1"/>
              </a:gradFill>
              <a:ln w="9525">
                <a:noFill/>
                <a:round/>
                <a:headEnd/>
                <a:tailEnd/>
              </a:ln>
            </p:spPr>
            <p:txBody>
              <a:bodyPr/>
              <a:lstStyle/>
              <a:p>
                <a:pPr eaLnBrk="1" fontAlgn="auto" hangingPunct="1">
                  <a:spcBef>
                    <a:spcPts val="0"/>
                  </a:spcBef>
                  <a:spcAft>
                    <a:spcPts val="0"/>
                  </a:spcAft>
                  <a:defRPr/>
                </a:pPr>
                <a:endParaRPr lang="en-GB">
                  <a:latin typeface="+mn-lt"/>
                </a:endParaRPr>
              </a:p>
            </p:txBody>
          </p:sp>
          <p:sp>
            <p:nvSpPr>
              <p:cNvPr id="11" name="Freeform 7"/>
              <p:cNvSpPr>
                <a:spLocks/>
              </p:cNvSpPr>
              <p:nvPr/>
            </p:nvSpPr>
            <p:spPr bwMode="hidden">
              <a:xfrm>
                <a:off x="2748" y="2230"/>
                <a:ext cx="3007" cy="2085"/>
              </a:xfrm>
              <a:custGeom>
                <a:avLst/>
                <a:gdLst>
                  <a:gd name="T0" fmla="*/ 1433 w 3007"/>
                  <a:gd name="T1" fmla="*/ 474 h 2085"/>
                  <a:gd name="T2" fmla="*/ 1460 w 3007"/>
                  <a:gd name="T3" fmla="*/ 528 h 2085"/>
                  <a:gd name="T4" fmla="*/ 1541 w 3007"/>
                  <a:gd name="T5" fmla="*/ 593 h 2085"/>
                  <a:gd name="T6" fmla="*/ 1715 w 3007"/>
                  <a:gd name="T7" fmla="*/ 670 h 2085"/>
                  <a:gd name="T8" fmla="*/ 1927 w 3007"/>
                  <a:gd name="T9" fmla="*/ 735 h 2085"/>
                  <a:gd name="T10" fmla="*/ 2155 w 3007"/>
                  <a:gd name="T11" fmla="*/ 789 h 2085"/>
                  <a:gd name="T12" fmla="*/ 2372 w 3007"/>
                  <a:gd name="T13" fmla="*/ 849 h 2085"/>
                  <a:gd name="T14" fmla="*/ 2551 w 3007"/>
                  <a:gd name="T15" fmla="*/ 920 h 2085"/>
                  <a:gd name="T16" fmla="*/ 2638 w 3007"/>
                  <a:gd name="T17" fmla="*/ 980 h 2085"/>
                  <a:gd name="T18" fmla="*/ 2676 w 3007"/>
                  <a:gd name="T19" fmla="*/ 1029 h 2085"/>
                  <a:gd name="T20" fmla="*/ 2681 w 3007"/>
                  <a:gd name="T21" fmla="*/ 1083 h 2085"/>
                  <a:gd name="T22" fmla="*/ 2665 w 3007"/>
                  <a:gd name="T23" fmla="*/ 1127 h 2085"/>
                  <a:gd name="T24" fmla="*/ 2616 w 3007"/>
                  <a:gd name="T25" fmla="*/ 1170 h 2085"/>
                  <a:gd name="T26" fmla="*/ 2545 w 3007"/>
                  <a:gd name="T27" fmla="*/ 1208 h 2085"/>
                  <a:gd name="T28" fmla="*/ 2448 w 3007"/>
                  <a:gd name="T29" fmla="*/ 1241 h 2085"/>
                  <a:gd name="T30" fmla="*/ 2328 w 3007"/>
                  <a:gd name="T31" fmla="*/ 1274 h 2085"/>
                  <a:gd name="T32" fmla="*/ 2106 w 3007"/>
                  <a:gd name="T33" fmla="*/ 1328 h 2085"/>
                  <a:gd name="T34" fmla="*/ 1742 w 3007"/>
                  <a:gd name="T35" fmla="*/ 1421 h 2085"/>
                  <a:gd name="T36" fmla="*/ 1308 w 3007"/>
                  <a:gd name="T37" fmla="*/ 1540 h 2085"/>
                  <a:gd name="T38" fmla="*/ 820 w 3007"/>
                  <a:gd name="T39" fmla="*/ 1709 h 2085"/>
                  <a:gd name="T40" fmla="*/ 282 w 3007"/>
                  <a:gd name="T41" fmla="*/ 1943 h 2085"/>
                  <a:gd name="T42" fmla="*/ 152 w 3007"/>
                  <a:gd name="T43" fmla="*/ 2085 h 2085"/>
                  <a:gd name="T44" fmla="*/ 386 w 3007"/>
                  <a:gd name="T45" fmla="*/ 1992 h 2085"/>
                  <a:gd name="T46" fmla="*/ 700 w 3007"/>
                  <a:gd name="T47" fmla="*/ 1834 h 2085"/>
                  <a:gd name="T48" fmla="*/ 1064 w 3007"/>
                  <a:gd name="T49" fmla="*/ 1693 h 2085"/>
                  <a:gd name="T50" fmla="*/ 1661 w 3007"/>
                  <a:gd name="T51" fmla="*/ 1497 h 2085"/>
                  <a:gd name="T52" fmla="*/ 1845 w 3007"/>
                  <a:gd name="T53" fmla="*/ 1442 h 2085"/>
                  <a:gd name="T54" fmla="*/ 2252 w 3007"/>
                  <a:gd name="T55" fmla="*/ 1339 h 2085"/>
                  <a:gd name="T56" fmla="*/ 2551 w 3007"/>
                  <a:gd name="T57" fmla="*/ 1263 h 2085"/>
                  <a:gd name="T58" fmla="*/ 2730 w 3007"/>
                  <a:gd name="T59" fmla="*/ 1214 h 2085"/>
                  <a:gd name="T60" fmla="*/ 2876 w 3007"/>
                  <a:gd name="T61" fmla="*/ 1170 h 2085"/>
                  <a:gd name="T62" fmla="*/ 2974 w 3007"/>
                  <a:gd name="T63" fmla="*/ 1132 h 2085"/>
                  <a:gd name="T64" fmla="*/ 3007 w 3007"/>
                  <a:gd name="T65" fmla="*/ 871 h 2085"/>
                  <a:gd name="T66" fmla="*/ 2860 w 3007"/>
                  <a:gd name="T67" fmla="*/ 844 h 2085"/>
                  <a:gd name="T68" fmla="*/ 2670 w 3007"/>
                  <a:gd name="T69" fmla="*/ 806 h 2085"/>
                  <a:gd name="T70" fmla="*/ 2458 w 3007"/>
                  <a:gd name="T71" fmla="*/ 757 h 2085"/>
                  <a:gd name="T72" fmla="*/ 2138 w 3007"/>
                  <a:gd name="T73" fmla="*/ 670 h 2085"/>
                  <a:gd name="T74" fmla="*/ 1959 w 3007"/>
                  <a:gd name="T75" fmla="*/ 604 h 2085"/>
                  <a:gd name="T76" fmla="*/ 1824 w 3007"/>
                  <a:gd name="T77" fmla="*/ 534 h 2085"/>
                  <a:gd name="T78" fmla="*/ 1769 w 3007"/>
                  <a:gd name="T79" fmla="*/ 474 h 2085"/>
                  <a:gd name="T80" fmla="*/ 1753 w 3007"/>
                  <a:gd name="T81" fmla="*/ 436 h 2085"/>
                  <a:gd name="T82" fmla="*/ 1780 w 3007"/>
                  <a:gd name="T83" fmla="*/ 381 h 2085"/>
                  <a:gd name="T84" fmla="*/ 1862 w 3007"/>
                  <a:gd name="T85" fmla="*/ 316 h 2085"/>
                  <a:gd name="T86" fmla="*/ 1986 w 3007"/>
                  <a:gd name="T87" fmla="*/ 267 h 2085"/>
                  <a:gd name="T88" fmla="*/ 2149 w 3007"/>
                  <a:gd name="T89" fmla="*/ 229 h 2085"/>
                  <a:gd name="T90" fmla="*/ 2431 w 3007"/>
                  <a:gd name="T91" fmla="*/ 180 h 2085"/>
                  <a:gd name="T92" fmla="*/ 2827 w 3007"/>
                  <a:gd name="T93" fmla="*/ 125 h 2085"/>
                  <a:gd name="T94" fmla="*/ 3007 w 3007"/>
                  <a:gd name="T95" fmla="*/ 87 h 2085"/>
                  <a:gd name="T96" fmla="*/ 2909 w 3007"/>
                  <a:gd name="T97" fmla="*/ 22 h 2085"/>
                  <a:gd name="T98" fmla="*/ 2676 w 3007"/>
                  <a:gd name="T99" fmla="*/ 66 h 2085"/>
                  <a:gd name="T100" fmla="*/ 2285 w 3007"/>
                  <a:gd name="T101" fmla="*/ 120 h 2085"/>
                  <a:gd name="T102" fmla="*/ 2030 w 3007"/>
                  <a:gd name="T103" fmla="*/ 158 h 2085"/>
                  <a:gd name="T104" fmla="*/ 1791 w 3007"/>
                  <a:gd name="T105" fmla="*/ 202 h 2085"/>
                  <a:gd name="T106" fmla="*/ 1601 w 3007"/>
                  <a:gd name="T107" fmla="*/ 261 h 2085"/>
                  <a:gd name="T108" fmla="*/ 1471 w 3007"/>
                  <a:gd name="T109" fmla="*/ 338 h 2085"/>
                  <a:gd name="T110" fmla="*/ 1438 w 3007"/>
                  <a:gd name="T111" fmla="*/ 387 h 2085"/>
                  <a:gd name="T112" fmla="*/ 1427 w 3007"/>
                  <a:gd name="T113" fmla="*/ 441 h 208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3007" h="2085">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 name="Freeform 8">
                <a:extLst>
                  <a:ext uri="{FF2B5EF4-FFF2-40B4-BE49-F238E27FC236}">
                    <a16:creationId xmlns:a16="http://schemas.microsoft.com/office/drawing/2014/main" id="{4B0CBD7D-8019-4C96-BA85-42C2ED7FB558}"/>
                  </a:ext>
                </a:extLst>
              </p:cNvPr>
              <p:cNvSpPr>
                <a:spLocks/>
              </p:cNvSpPr>
              <p:nvPr/>
            </p:nvSpPr>
            <p:spPr bwMode="hidden">
              <a:xfrm>
                <a:off x="4501" y="2317"/>
                <a:ext cx="1248" cy="539"/>
              </a:xfrm>
              <a:custGeom>
                <a:avLst/>
                <a:gdLst/>
                <a:ahLst/>
                <a:cxnLst>
                  <a:cxn ang="0">
                    <a:pos x="0" y="332"/>
                  </a:cxn>
                  <a:cxn ang="0">
                    <a:pos x="0" y="360"/>
                  </a:cxn>
                  <a:cxn ang="0">
                    <a:pos x="5" y="387"/>
                  </a:cxn>
                  <a:cxn ang="0">
                    <a:pos x="27" y="414"/>
                  </a:cxn>
                  <a:cxn ang="0">
                    <a:pos x="54" y="436"/>
                  </a:cxn>
                  <a:cxn ang="0">
                    <a:pos x="92" y="463"/>
                  </a:cxn>
                  <a:cxn ang="0">
                    <a:pos x="141" y="490"/>
                  </a:cxn>
                  <a:cxn ang="0">
                    <a:pos x="195" y="512"/>
                  </a:cxn>
                  <a:cxn ang="0">
                    <a:pos x="255" y="539"/>
                  </a:cxn>
                  <a:cxn ang="0">
                    <a:pos x="212" y="517"/>
                  </a:cxn>
                  <a:cxn ang="0">
                    <a:pos x="179" y="490"/>
                  </a:cxn>
                  <a:cxn ang="0">
                    <a:pos x="157" y="468"/>
                  </a:cxn>
                  <a:cxn ang="0">
                    <a:pos x="141" y="447"/>
                  </a:cxn>
                  <a:cxn ang="0">
                    <a:pos x="136" y="425"/>
                  </a:cxn>
                  <a:cxn ang="0">
                    <a:pos x="136" y="403"/>
                  </a:cxn>
                  <a:cxn ang="0">
                    <a:pos x="141" y="381"/>
                  </a:cxn>
                  <a:cxn ang="0">
                    <a:pos x="157" y="365"/>
                  </a:cxn>
                  <a:cxn ang="0">
                    <a:pos x="179" y="343"/>
                  </a:cxn>
                  <a:cxn ang="0">
                    <a:pos x="201" y="327"/>
                  </a:cxn>
                  <a:cxn ang="0">
                    <a:pos x="266" y="294"/>
                  </a:cxn>
                  <a:cxn ang="0">
                    <a:pos x="353" y="262"/>
                  </a:cxn>
                  <a:cxn ang="0">
                    <a:pos x="445" y="234"/>
                  </a:cxn>
                  <a:cxn ang="0">
                    <a:pos x="554" y="213"/>
                  </a:cxn>
                  <a:cxn ang="0">
                    <a:pos x="662" y="191"/>
                  </a:cxn>
                  <a:cxn ang="0">
                    <a:pos x="890" y="153"/>
                  </a:cxn>
                  <a:cxn ang="0">
                    <a:pos x="993" y="136"/>
                  </a:cxn>
                  <a:cxn ang="0">
                    <a:pos x="1091" y="120"/>
                  </a:cxn>
                  <a:cxn ang="0">
                    <a:pos x="1178" y="115"/>
                  </a:cxn>
                  <a:cxn ang="0">
                    <a:pos x="1248" y="104"/>
                  </a:cxn>
                  <a:cxn ang="0">
                    <a:pos x="1248" y="0"/>
                  </a:cxn>
                  <a:cxn ang="0">
                    <a:pos x="1161" y="22"/>
                  </a:cxn>
                  <a:cxn ang="0">
                    <a:pos x="1069" y="38"/>
                  </a:cxn>
                  <a:cxn ang="0">
                    <a:pos x="874" y="71"/>
                  </a:cxn>
                  <a:cxn ang="0">
                    <a:pos x="673" y="93"/>
                  </a:cxn>
                  <a:cxn ang="0">
                    <a:pos x="483" y="126"/>
                  </a:cxn>
                  <a:cxn ang="0">
                    <a:pos x="391" y="142"/>
                  </a:cxn>
                  <a:cxn ang="0">
                    <a:pos x="309" y="158"/>
                  </a:cxn>
                  <a:cxn ang="0">
                    <a:pos x="228" y="180"/>
                  </a:cxn>
                  <a:cxn ang="0">
                    <a:pos x="163" y="202"/>
                  </a:cxn>
                  <a:cxn ang="0">
                    <a:pos x="103" y="229"/>
                  </a:cxn>
                  <a:cxn ang="0">
                    <a:pos x="54" y="256"/>
                  </a:cxn>
                  <a:cxn ang="0">
                    <a:pos x="22" y="294"/>
                  </a:cxn>
                  <a:cxn ang="0">
                    <a:pos x="0" y="332"/>
                  </a:cxn>
                  <a:cxn ang="0">
                    <a:pos x="0" y="332"/>
                  </a:cxn>
                </a:cxnLst>
                <a:rect l="0" t="0" r="r" b="b"/>
                <a:pathLst>
                  <a:path w="1248" h="539">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rotWithShape="0">
                <a:gsLst>
                  <a:gs pos="0">
                    <a:schemeClr val="bg1">
                      <a:gamma/>
                      <a:shade val="87843"/>
                      <a:invGamma/>
                    </a:schemeClr>
                  </a:gs>
                  <a:gs pos="100000">
                    <a:schemeClr val="bg1"/>
                  </a:gs>
                </a:gsLst>
                <a:lin ang="2700000" scaled="1"/>
              </a:gradFill>
              <a:ln w="9525">
                <a:noFill/>
                <a:round/>
                <a:headEnd/>
                <a:tailEnd/>
              </a:ln>
            </p:spPr>
            <p:txBody>
              <a:bodyPr/>
              <a:lstStyle/>
              <a:p>
                <a:pPr eaLnBrk="1" fontAlgn="auto" hangingPunct="1">
                  <a:spcBef>
                    <a:spcPts val="0"/>
                  </a:spcBef>
                  <a:spcAft>
                    <a:spcPts val="0"/>
                  </a:spcAft>
                  <a:defRPr/>
                </a:pPr>
                <a:endParaRPr lang="en-GB">
                  <a:latin typeface="+mn-lt"/>
                </a:endParaRPr>
              </a:p>
            </p:txBody>
          </p:sp>
        </p:grpSp>
        <p:sp>
          <p:nvSpPr>
            <p:cNvPr id="6" name="Freeform 9">
              <a:extLst>
                <a:ext uri="{FF2B5EF4-FFF2-40B4-BE49-F238E27FC236}">
                  <a16:creationId xmlns:a16="http://schemas.microsoft.com/office/drawing/2014/main" id="{FE6AC883-A2CF-4F78-8483-860B9E31FB36}"/>
                </a:ext>
              </a:extLst>
            </p:cNvPr>
            <p:cNvSpPr>
              <a:spLocks/>
            </p:cNvSpPr>
            <p:nvPr/>
          </p:nvSpPr>
          <p:spPr bwMode="hidden">
            <a:xfrm>
              <a:off x="3322" y="1341"/>
              <a:ext cx="1825" cy="1537"/>
            </a:xfrm>
            <a:custGeom>
              <a:avLst/>
              <a:gdLst/>
              <a:ahLst/>
              <a:cxnLst>
                <a:cxn ang="0">
                  <a:pos x="982" y="1061"/>
                </a:cxn>
                <a:cxn ang="0">
                  <a:pos x="1357" y="1012"/>
                </a:cxn>
                <a:cxn ang="0">
                  <a:pos x="1666" y="957"/>
                </a:cxn>
                <a:cxn ang="0">
                  <a:pos x="1916" y="897"/>
                </a:cxn>
                <a:cxn ang="0">
                  <a:pos x="2100" y="832"/>
                </a:cxn>
                <a:cxn ang="0">
                  <a:pos x="2220" y="756"/>
                </a:cxn>
                <a:cxn ang="0">
                  <a:pos x="2285" y="669"/>
                </a:cxn>
                <a:cxn ang="0">
                  <a:pos x="2290" y="560"/>
                </a:cxn>
                <a:cxn ang="0">
                  <a:pos x="2241" y="457"/>
                </a:cxn>
                <a:cxn ang="0">
                  <a:pos x="2144" y="364"/>
                </a:cxn>
                <a:cxn ang="0">
                  <a:pos x="2008" y="277"/>
                </a:cxn>
                <a:cxn ang="0">
                  <a:pos x="1769" y="157"/>
                </a:cxn>
                <a:cxn ang="0">
                  <a:pos x="1612" y="92"/>
                </a:cxn>
                <a:cxn ang="0">
                  <a:pos x="1476" y="43"/>
                </a:cxn>
                <a:cxn ang="0">
                  <a:pos x="1384" y="10"/>
                </a:cxn>
                <a:cxn ang="0">
                  <a:pos x="1346" y="0"/>
                </a:cxn>
                <a:cxn ang="0">
                  <a:pos x="1655" y="119"/>
                </a:cxn>
                <a:cxn ang="0">
                  <a:pos x="1948" y="255"/>
                </a:cxn>
                <a:cxn ang="0">
                  <a:pos x="2068" y="326"/>
                </a:cxn>
                <a:cxn ang="0">
                  <a:pos x="2171" y="402"/>
                </a:cxn>
                <a:cxn ang="0">
                  <a:pos x="2236" y="478"/>
                </a:cxn>
                <a:cxn ang="0">
                  <a:pos x="2263" y="560"/>
                </a:cxn>
                <a:cxn ang="0">
                  <a:pos x="2241" y="636"/>
                </a:cxn>
                <a:cxn ang="0">
                  <a:pos x="2171" y="702"/>
                </a:cxn>
                <a:cxn ang="0">
                  <a:pos x="2062" y="756"/>
                </a:cxn>
                <a:cxn ang="0">
                  <a:pos x="1921" y="800"/>
                </a:cxn>
                <a:cxn ang="0">
                  <a:pos x="1748" y="843"/>
                </a:cxn>
                <a:cxn ang="0">
                  <a:pos x="1351" y="908"/>
                </a:cxn>
                <a:cxn ang="0">
                  <a:pos x="923" y="968"/>
                </a:cxn>
                <a:cxn ang="0">
                  <a:pos x="521" y="1028"/>
                </a:cxn>
                <a:cxn ang="0">
                  <a:pos x="353" y="1066"/>
                </a:cxn>
                <a:cxn ang="0">
                  <a:pos x="206" y="1104"/>
                </a:cxn>
                <a:cxn ang="0">
                  <a:pos x="92" y="1148"/>
                </a:cxn>
                <a:cxn ang="0">
                  <a:pos x="22" y="1202"/>
                </a:cxn>
                <a:cxn ang="0">
                  <a:pos x="0" y="1262"/>
                </a:cxn>
                <a:cxn ang="0">
                  <a:pos x="27" y="1327"/>
                </a:cxn>
                <a:cxn ang="0">
                  <a:pos x="98" y="1382"/>
                </a:cxn>
                <a:cxn ang="0">
                  <a:pos x="196" y="1425"/>
                </a:cxn>
                <a:cxn ang="0">
                  <a:pos x="326" y="1469"/>
                </a:cxn>
                <a:cxn ang="0">
                  <a:pos x="217" y="1414"/>
                </a:cxn>
                <a:cxn ang="0">
                  <a:pos x="147" y="1360"/>
                </a:cxn>
                <a:cxn ang="0">
                  <a:pos x="120" y="1306"/>
                </a:cxn>
                <a:cxn ang="0">
                  <a:pos x="141" y="1257"/>
                </a:cxn>
                <a:cxn ang="0">
                  <a:pos x="212" y="1208"/>
                </a:cxn>
                <a:cxn ang="0">
                  <a:pos x="342" y="1164"/>
                </a:cxn>
                <a:cxn ang="0">
                  <a:pos x="527" y="1121"/>
                </a:cxn>
                <a:cxn ang="0">
                  <a:pos x="771" y="1088"/>
                </a:cxn>
              </a:cxnLst>
              <a:rect l="0" t="0" r="r" b="b"/>
              <a:pathLst>
                <a:path w="2296" h="1469">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rotWithShape="0">
              <a:gsLst>
                <a:gs pos="0">
                  <a:schemeClr val="bg1">
                    <a:gamma/>
                    <a:shade val="84706"/>
                    <a:invGamma/>
                  </a:schemeClr>
                </a:gs>
                <a:gs pos="100000">
                  <a:schemeClr val="bg1"/>
                </a:gs>
              </a:gsLst>
              <a:lin ang="2700000" scaled="1"/>
            </a:gradFill>
            <a:ln w="9525">
              <a:noFill/>
              <a:round/>
              <a:headEnd/>
              <a:tailEnd/>
            </a:ln>
          </p:spPr>
          <p:txBody>
            <a:bodyPr/>
            <a:lstStyle/>
            <a:p>
              <a:pPr eaLnBrk="1" fontAlgn="auto" hangingPunct="1">
                <a:spcBef>
                  <a:spcPts val="0"/>
                </a:spcBef>
                <a:spcAft>
                  <a:spcPts val="0"/>
                </a:spcAft>
                <a:defRPr/>
              </a:pPr>
              <a:endParaRPr lang="en-GB">
                <a:latin typeface="+mn-lt"/>
              </a:endParaRPr>
            </a:p>
          </p:txBody>
        </p:sp>
        <p:sp>
          <p:nvSpPr>
            <p:cNvPr id="7" name="Freeform 10"/>
            <p:cNvSpPr>
              <a:spLocks/>
            </p:cNvSpPr>
            <p:nvPr/>
          </p:nvSpPr>
          <p:spPr bwMode="hidden">
            <a:xfrm>
              <a:off x="0" y="0"/>
              <a:ext cx="5758" cy="1776"/>
            </a:xfrm>
            <a:custGeom>
              <a:avLst/>
              <a:gdLst>
                <a:gd name="T0" fmla="*/ 0 w 5740"/>
                <a:gd name="T1" fmla="*/ 0 h 1906"/>
                <a:gd name="T2" fmla="*/ 0 w 5740"/>
                <a:gd name="T3" fmla="*/ 1010 h 1906"/>
                <a:gd name="T4" fmla="*/ 5902 w 5740"/>
                <a:gd name="T5" fmla="*/ 1010 h 1906"/>
                <a:gd name="T6" fmla="*/ 5902 w 5740"/>
                <a:gd name="T7" fmla="*/ 0 h 1906"/>
                <a:gd name="T8" fmla="*/ 0 w 5740"/>
                <a:gd name="T9" fmla="*/ 0 h 1906"/>
                <a:gd name="T10" fmla="*/ 0 w 5740"/>
                <a:gd name="T11" fmla="*/ 0 h 190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40" h="1906">
                  <a:moveTo>
                    <a:pt x="0" y="0"/>
                  </a:moveTo>
                  <a:lnTo>
                    <a:pt x="0" y="1906"/>
                  </a:lnTo>
                  <a:lnTo>
                    <a:pt x="5740" y="1906"/>
                  </a:lnTo>
                  <a:lnTo>
                    <a:pt x="5740" y="0"/>
                  </a:lnTo>
                  <a:lnTo>
                    <a:pt x="0" y="0"/>
                  </a:lnTo>
                  <a:close/>
                </a:path>
              </a:pathLst>
            </a:custGeom>
            <a:gradFill rotWithShape="0">
              <a:gsLst>
                <a:gs pos="0">
                  <a:schemeClr val="bg2"/>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sp>
        <p:nvSpPr>
          <p:cNvPr id="295947" name="Rectangle 11"/>
          <p:cNvSpPr>
            <a:spLocks noGrp="1" noChangeArrowheads="1"/>
          </p:cNvSpPr>
          <p:nvPr>
            <p:ph type="ctrTitle" sz="quarter"/>
          </p:nvPr>
        </p:nvSpPr>
        <p:spPr>
          <a:xfrm>
            <a:off x="914400" y="1736726"/>
            <a:ext cx="10363200" cy="1920875"/>
          </a:xfrm>
        </p:spPr>
        <p:txBody>
          <a:bodyPr/>
          <a:lstStyle>
            <a:lvl1pPr>
              <a:defRPr sz="6000"/>
            </a:lvl1pPr>
          </a:lstStyle>
          <a:p>
            <a:r>
              <a:rPr lang="en-GB"/>
              <a:t>Click to edit Master title style</a:t>
            </a:r>
          </a:p>
        </p:txBody>
      </p:sp>
      <p:sp>
        <p:nvSpPr>
          <p:cNvPr id="295948" name="Rectangle 12"/>
          <p:cNvSpPr>
            <a:spLocks noGrp="1" noChangeArrowheads="1"/>
          </p:cNvSpPr>
          <p:nvPr>
            <p:ph type="subTitle" sz="quarter" idx="1"/>
          </p:nvPr>
        </p:nvSpPr>
        <p:spPr>
          <a:xfrm>
            <a:off x="1828800" y="3886200"/>
            <a:ext cx="8534400" cy="1752600"/>
          </a:xfrm>
        </p:spPr>
        <p:txBody>
          <a:bodyPr/>
          <a:lstStyle>
            <a:lvl1pPr marL="0" indent="0" algn="ctr">
              <a:buFont typeface="Wingdings" pitchFamily="2" charset="2"/>
              <a:buNone/>
              <a:defRPr/>
            </a:lvl1pPr>
          </a:lstStyle>
          <a:p>
            <a:r>
              <a:rPr lang="en-GB"/>
              <a:t>Click to edit Master subtitle style</a:t>
            </a:r>
          </a:p>
        </p:txBody>
      </p:sp>
      <p:sp>
        <p:nvSpPr>
          <p:cNvPr id="13" name="Rectangle 13">
            <a:extLst>
              <a:ext uri="{FF2B5EF4-FFF2-40B4-BE49-F238E27FC236}">
                <a16:creationId xmlns:a16="http://schemas.microsoft.com/office/drawing/2014/main" id="{3C5653BE-86A0-460B-A838-44A8B4B56D30}"/>
              </a:ext>
            </a:extLst>
          </p:cNvPr>
          <p:cNvSpPr>
            <a:spLocks noGrp="1" noChangeArrowheads="1"/>
          </p:cNvSpPr>
          <p:nvPr>
            <p:ph type="dt" sz="quarter" idx="10"/>
          </p:nvPr>
        </p:nvSpPr>
        <p:spPr>
          <a:xfrm>
            <a:off x="609600" y="6248400"/>
            <a:ext cx="2844800" cy="476250"/>
          </a:xfrm>
        </p:spPr>
        <p:txBody>
          <a:bodyPr/>
          <a:lstStyle>
            <a:lvl1pPr>
              <a:defRPr/>
            </a:lvl1pPr>
          </a:lstStyle>
          <a:p>
            <a:pPr>
              <a:defRPr/>
            </a:pPr>
            <a:endParaRPr lang="en-GB"/>
          </a:p>
        </p:txBody>
      </p:sp>
      <p:sp>
        <p:nvSpPr>
          <p:cNvPr id="14" name="Rectangle 14">
            <a:extLst>
              <a:ext uri="{FF2B5EF4-FFF2-40B4-BE49-F238E27FC236}">
                <a16:creationId xmlns:a16="http://schemas.microsoft.com/office/drawing/2014/main" id="{27EFE362-3CBF-4F6D-A83C-CB579885BEBB}"/>
              </a:ext>
            </a:extLst>
          </p:cNvPr>
          <p:cNvSpPr>
            <a:spLocks noGrp="1" noChangeArrowheads="1"/>
          </p:cNvSpPr>
          <p:nvPr>
            <p:ph type="ftr" sz="quarter" idx="11"/>
          </p:nvPr>
        </p:nvSpPr>
        <p:spPr>
          <a:xfrm>
            <a:off x="4165600" y="6251575"/>
            <a:ext cx="3860800" cy="476250"/>
          </a:xfrm>
        </p:spPr>
        <p:txBody>
          <a:bodyPr/>
          <a:lstStyle>
            <a:lvl1pPr>
              <a:defRPr/>
            </a:lvl1pPr>
          </a:lstStyle>
          <a:p>
            <a:pPr>
              <a:defRPr/>
            </a:pPr>
            <a:endParaRPr lang="en-GB"/>
          </a:p>
        </p:txBody>
      </p:sp>
      <p:sp>
        <p:nvSpPr>
          <p:cNvPr id="15" name="Rectangle 15">
            <a:extLst>
              <a:ext uri="{FF2B5EF4-FFF2-40B4-BE49-F238E27FC236}">
                <a16:creationId xmlns:a16="http://schemas.microsoft.com/office/drawing/2014/main" id="{3ADCF3AB-863C-4A0C-AA06-F72794450B79}"/>
              </a:ext>
            </a:extLst>
          </p:cNvPr>
          <p:cNvSpPr>
            <a:spLocks noGrp="1" noChangeArrowheads="1"/>
          </p:cNvSpPr>
          <p:nvPr>
            <p:ph type="sldNum" sz="quarter" idx="12"/>
          </p:nvPr>
        </p:nvSpPr>
        <p:spPr>
          <a:xfrm>
            <a:off x="8737600" y="6254750"/>
            <a:ext cx="2844800" cy="476250"/>
          </a:xfrm>
        </p:spPr>
        <p:txBody>
          <a:bodyPr/>
          <a:lstStyle>
            <a:lvl1pPr>
              <a:defRPr/>
            </a:lvl1pPr>
          </a:lstStyle>
          <a:p>
            <a:pPr>
              <a:defRPr/>
            </a:pPr>
            <a:fld id="{410D590E-8E1F-4A4A-8579-5801ED7DCE59}" type="slidenum">
              <a:rPr lang="en-GB" altLang="en-US"/>
              <a:pPr>
                <a:defRPr/>
              </a:pPr>
              <a:t>‹#›</a:t>
            </a:fld>
            <a:endParaRPr lang="en-GB" altLang="en-US"/>
          </a:p>
        </p:txBody>
      </p:sp>
    </p:spTree>
    <p:extLst>
      <p:ext uri="{BB962C8B-B14F-4D97-AF65-F5344CB8AC3E}">
        <p14:creationId xmlns:p14="http://schemas.microsoft.com/office/powerpoint/2010/main" val="502604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2">
            <a:extLst>
              <a:ext uri="{FF2B5EF4-FFF2-40B4-BE49-F238E27FC236}">
                <a16:creationId xmlns:a16="http://schemas.microsoft.com/office/drawing/2014/main" id="{D3E3F318-BFA0-41AE-8D05-2D0B43780D52}"/>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3">
            <a:extLst>
              <a:ext uri="{FF2B5EF4-FFF2-40B4-BE49-F238E27FC236}">
                <a16:creationId xmlns:a16="http://schemas.microsoft.com/office/drawing/2014/main" id="{2A21487B-AFEB-4898-A2D1-AD4C34E40F92}"/>
              </a:ext>
            </a:extLst>
          </p:cNvPr>
          <p:cNvSpPr>
            <a:spLocks noGrp="1" noChangeArrowheads="1"/>
          </p:cNvSpPr>
          <p:nvPr>
            <p:ph type="sldNum" sz="quarter" idx="11"/>
          </p:nvPr>
        </p:nvSpPr>
        <p:spPr>
          <a:ln/>
        </p:spPr>
        <p:txBody>
          <a:bodyPr/>
          <a:lstStyle>
            <a:lvl1pPr>
              <a:defRPr/>
            </a:lvl1pPr>
          </a:lstStyle>
          <a:p>
            <a:pPr>
              <a:defRPr/>
            </a:pPr>
            <a:fld id="{E3D9B458-9640-45E9-9748-10376F88B45C}" type="slidenum">
              <a:rPr lang="en-GB" altLang="en-US"/>
              <a:pPr>
                <a:defRPr/>
              </a:pPr>
              <a:t>‹#›</a:t>
            </a:fld>
            <a:endParaRPr lang="en-GB" altLang="en-US"/>
          </a:p>
        </p:txBody>
      </p:sp>
      <p:sp>
        <p:nvSpPr>
          <p:cNvPr id="6" name="Rectangle 14">
            <a:extLst>
              <a:ext uri="{FF2B5EF4-FFF2-40B4-BE49-F238E27FC236}">
                <a16:creationId xmlns:a16="http://schemas.microsoft.com/office/drawing/2014/main" id="{855349BE-9AAD-444A-9E40-A4DC172713AD}"/>
              </a:ext>
            </a:extLst>
          </p:cNvPr>
          <p:cNvSpPr>
            <a:spLocks noGrp="1" noChangeArrowheads="1"/>
          </p:cNvSpPr>
          <p:nvPr>
            <p:ph type="ftr" sz="quarter" idx="12"/>
          </p:nvPr>
        </p:nvSpPr>
        <p:spPr>
          <a:ln/>
        </p:spPr>
        <p:txBody>
          <a:bodyPr/>
          <a:lstStyle>
            <a:lvl1pPr>
              <a:defRPr/>
            </a:lvl1pPr>
          </a:lstStyle>
          <a:p>
            <a:pPr>
              <a:defRPr/>
            </a:pPr>
            <a:endParaRPr lang="en-GB"/>
          </a:p>
        </p:txBody>
      </p:sp>
    </p:spTree>
    <p:extLst>
      <p:ext uri="{BB962C8B-B14F-4D97-AF65-F5344CB8AC3E}">
        <p14:creationId xmlns:p14="http://schemas.microsoft.com/office/powerpoint/2010/main" val="39136728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2">
            <a:extLst>
              <a:ext uri="{FF2B5EF4-FFF2-40B4-BE49-F238E27FC236}">
                <a16:creationId xmlns:a16="http://schemas.microsoft.com/office/drawing/2014/main" id="{D3E3F318-BFA0-41AE-8D05-2D0B43780D52}"/>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3">
            <a:extLst>
              <a:ext uri="{FF2B5EF4-FFF2-40B4-BE49-F238E27FC236}">
                <a16:creationId xmlns:a16="http://schemas.microsoft.com/office/drawing/2014/main" id="{2A21487B-AFEB-4898-A2D1-AD4C34E40F92}"/>
              </a:ext>
            </a:extLst>
          </p:cNvPr>
          <p:cNvSpPr>
            <a:spLocks noGrp="1" noChangeArrowheads="1"/>
          </p:cNvSpPr>
          <p:nvPr>
            <p:ph type="sldNum" sz="quarter" idx="11"/>
          </p:nvPr>
        </p:nvSpPr>
        <p:spPr>
          <a:ln/>
        </p:spPr>
        <p:txBody>
          <a:bodyPr/>
          <a:lstStyle>
            <a:lvl1pPr>
              <a:defRPr/>
            </a:lvl1pPr>
          </a:lstStyle>
          <a:p>
            <a:pPr>
              <a:defRPr/>
            </a:pPr>
            <a:fld id="{4E379EF1-FF3A-4965-A6C3-7B8FAE2D6F70}" type="slidenum">
              <a:rPr lang="en-GB" altLang="en-US"/>
              <a:pPr>
                <a:defRPr/>
              </a:pPr>
              <a:t>‹#›</a:t>
            </a:fld>
            <a:endParaRPr lang="en-GB" altLang="en-US"/>
          </a:p>
        </p:txBody>
      </p:sp>
      <p:sp>
        <p:nvSpPr>
          <p:cNvPr id="6" name="Rectangle 14">
            <a:extLst>
              <a:ext uri="{FF2B5EF4-FFF2-40B4-BE49-F238E27FC236}">
                <a16:creationId xmlns:a16="http://schemas.microsoft.com/office/drawing/2014/main" id="{855349BE-9AAD-444A-9E40-A4DC172713AD}"/>
              </a:ext>
            </a:extLst>
          </p:cNvPr>
          <p:cNvSpPr>
            <a:spLocks noGrp="1" noChangeArrowheads="1"/>
          </p:cNvSpPr>
          <p:nvPr>
            <p:ph type="ftr" sz="quarter" idx="12"/>
          </p:nvPr>
        </p:nvSpPr>
        <p:spPr>
          <a:ln/>
        </p:spPr>
        <p:txBody>
          <a:bodyPr/>
          <a:lstStyle>
            <a:lvl1pPr>
              <a:defRPr/>
            </a:lvl1pPr>
          </a:lstStyle>
          <a:p>
            <a:pPr>
              <a:defRPr/>
            </a:pPr>
            <a:endParaRPr lang="en-GB"/>
          </a:p>
        </p:txBody>
      </p:sp>
    </p:spTree>
    <p:extLst>
      <p:ext uri="{BB962C8B-B14F-4D97-AF65-F5344CB8AC3E}">
        <p14:creationId xmlns:p14="http://schemas.microsoft.com/office/powerpoint/2010/main" val="3436194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2">
            <a:extLst>
              <a:ext uri="{FF2B5EF4-FFF2-40B4-BE49-F238E27FC236}">
                <a16:creationId xmlns:a16="http://schemas.microsoft.com/office/drawing/2014/main" id="{D3E3F318-BFA0-41AE-8D05-2D0B43780D52}"/>
              </a:ext>
            </a:extLst>
          </p:cNvPr>
          <p:cNvSpPr>
            <a:spLocks noGrp="1" noChangeArrowheads="1"/>
          </p:cNvSpPr>
          <p:nvPr>
            <p:ph type="dt" sz="half" idx="10"/>
          </p:nvPr>
        </p:nvSpPr>
        <p:spPr>
          <a:ln/>
        </p:spPr>
        <p:txBody>
          <a:bodyPr/>
          <a:lstStyle>
            <a:lvl1pPr>
              <a:defRPr/>
            </a:lvl1pPr>
          </a:lstStyle>
          <a:p>
            <a:pPr>
              <a:defRPr/>
            </a:pPr>
            <a:endParaRPr lang="en-GB"/>
          </a:p>
        </p:txBody>
      </p:sp>
      <p:sp>
        <p:nvSpPr>
          <p:cNvPr id="6" name="Rectangle 3">
            <a:extLst>
              <a:ext uri="{FF2B5EF4-FFF2-40B4-BE49-F238E27FC236}">
                <a16:creationId xmlns:a16="http://schemas.microsoft.com/office/drawing/2014/main" id="{2A21487B-AFEB-4898-A2D1-AD4C34E40F92}"/>
              </a:ext>
            </a:extLst>
          </p:cNvPr>
          <p:cNvSpPr>
            <a:spLocks noGrp="1" noChangeArrowheads="1"/>
          </p:cNvSpPr>
          <p:nvPr>
            <p:ph type="sldNum" sz="quarter" idx="11"/>
          </p:nvPr>
        </p:nvSpPr>
        <p:spPr>
          <a:ln/>
        </p:spPr>
        <p:txBody>
          <a:bodyPr/>
          <a:lstStyle>
            <a:lvl1pPr>
              <a:defRPr/>
            </a:lvl1pPr>
          </a:lstStyle>
          <a:p>
            <a:pPr>
              <a:defRPr/>
            </a:pPr>
            <a:fld id="{75FA3616-0FA2-4E31-8B55-95BDD92D8410}" type="slidenum">
              <a:rPr lang="en-GB" altLang="en-US"/>
              <a:pPr>
                <a:defRPr/>
              </a:pPr>
              <a:t>‹#›</a:t>
            </a:fld>
            <a:endParaRPr lang="en-GB" altLang="en-US"/>
          </a:p>
        </p:txBody>
      </p:sp>
      <p:sp>
        <p:nvSpPr>
          <p:cNvPr id="7" name="Rectangle 14">
            <a:extLst>
              <a:ext uri="{FF2B5EF4-FFF2-40B4-BE49-F238E27FC236}">
                <a16:creationId xmlns:a16="http://schemas.microsoft.com/office/drawing/2014/main" id="{855349BE-9AAD-444A-9E40-A4DC172713AD}"/>
              </a:ext>
            </a:extLst>
          </p:cNvPr>
          <p:cNvSpPr>
            <a:spLocks noGrp="1" noChangeArrowheads="1"/>
          </p:cNvSpPr>
          <p:nvPr>
            <p:ph type="ftr" sz="quarter" idx="12"/>
          </p:nvPr>
        </p:nvSpPr>
        <p:spPr>
          <a:ln/>
        </p:spPr>
        <p:txBody>
          <a:bodyPr/>
          <a:lstStyle>
            <a:lvl1pPr>
              <a:defRPr/>
            </a:lvl1pPr>
          </a:lstStyle>
          <a:p>
            <a:pPr>
              <a:defRPr/>
            </a:pPr>
            <a:endParaRPr lang="en-GB"/>
          </a:p>
        </p:txBody>
      </p:sp>
    </p:spTree>
    <p:extLst>
      <p:ext uri="{BB962C8B-B14F-4D97-AF65-F5344CB8AC3E}">
        <p14:creationId xmlns:p14="http://schemas.microsoft.com/office/powerpoint/2010/main" val="947636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2">
            <a:extLst>
              <a:ext uri="{FF2B5EF4-FFF2-40B4-BE49-F238E27FC236}">
                <a16:creationId xmlns:a16="http://schemas.microsoft.com/office/drawing/2014/main" id="{D3E3F318-BFA0-41AE-8D05-2D0B43780D52}"/>
              </a:ext>
            </a:extLst>
          </p:cNvPr>
          <p:cNvSpPr>
            <a:spLocks noGrp="1" noChangeArrowheads="1"/>
          </p:cNvSpPr>
          <p:nvPr>
            <p:ph type="dt" sz="half" idx="10"/>
          </p:nvPr>
        </p:nvSpPr>
        <p:spPr>
          <a:ln/>
        </p:spPr>
        <p:txBody>
          <a:bodyPr/>
          <a:lstStyle>
            <a:lvl1pPr>
              <a:defRPr/>
            </a:lvl1pPr>
          </a:lstStyle>
          <a:p>
            <a:pPr>
              <a:defRPr/>
            </a:pPr>
            <a:endParaRPr lang="en-GB"/>
          </a:p>
        </p:txBody>
      </p:sp>
      <p:sp>
        <p:nvSpPr>
          <p:cNvPr id="8" name="Rectangle 3">
            <a:extLst>
              <a:ext uri="{FF2B5EF4-FFF2-40B4-BE49-F238E27FC236}">
                <a16:creationId xmlns:a16="http://schemas.microsoft.com/office/drawing/2014/main" id="{2A21487B-AFEB-4898-A2D1-AD4C34E40F92}"/>
              </a:ext>
            </a:extLst>
          </p:cNvPr>
          <p:cNvSpPr>
            <a:spLocks noGrp="1" noChangeArrowheads="1"/>
          </p:cNvSpPr>
          <p:nvPr>
            <p:ph type="sldNum" sz="quarter" idx="11"/>
          </p:nvPr>
        </p:nvSpPr>
        <p:spPr>
          <a:ln/>
        </p:spPr>
        <p:txBody>
          <a:bodyPr/>
          <a:lstStyle>
            <a:lvl1pPr>
              <a:defRPr/>
            </a:lvl1pPr>
          </a:lstStyle>
          <a:p>
            <a:pPr>
              <a:defRPr/>
            </a:pPr>
            <a:fld id="{EB840076-B394-42C0-AD0A-23B60F28E3F5}" type="slidenum">
              <a:rPr lang="en-GB" altLang="en-US"/>
              <a:pPr>
                <a:defRPr/>
              </a:pPr>
              <a:t>‹#›</a:t>
            </a:fld>
            <a:endParaRPr lang="en-GB" altLang="en-US"/>
          </a:p>
        </p:txBody>
      </p:sp>
      <p:sp>
        <p:nvSpPr>
          <p:cNvPr id="9" name="Rectangle 14">
            <a:extLst>
              <a:ext uri="{FF2B5EF4-FFF2-40B4-BE49-F238E27FC236}">
                <a16:creationId xmlns:a16="http://schemas.microsoft.com/office/drawing/2014/main" id="{855349BE-9AAD-444A-9E40-A4DC172713AD}"/>
              </a:ext>
            </a:extLst>
          </p:cNvPr>
          <p:cNvSpPr>
            <a:spLocks noGrp="1" noChangeArrowheads="1"/>
          </p:cNvSpPr>
          <p:nvPr>
            <p:ph type="ftr" sz="quarter" idx="12"/>
          </p:nvPr>
        </p:nvSpPr>
        <p:spPr>
          <a:ln/>
        </p:spPr>
        <p:txBody>
          <a:bodyPr/>
          <a:lstStyle>
            <a:lvl1pPr>
              <a:defRPr/>
            </a:lvl1pPr>
          </a:lstStyle>
          <a:p>
            <a:pPr>
              <a:defRPr/>
            </a:pPr>
            <a:endParaRPr lang="en-GB"/>
          </a:p>
        </p:txBody>
      </p:sp>
    </p:spTree>
    <p:extLst>
      <p:ext uri="{BB962C8B-B14F-4D97-AF65-F5344CB8AC3E}">
        <p14:creationId xmlns:p14="http://schemas.microsoft.com/office/powerpoint/2010/main" val="1597996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2">
            <a:extLst>
              <a:ext uri="{FF2B5EF4-FFF2-40B4-BE49-F238E27FC236}">
                <a16:creationId xmlns:a16="http://schemas.microsoft.com/office/drawing/2014/main" id="{D3E3F318-BFA0-41AE-8D05-2D0B43780D52}"/>
              </a:ext>
            </a:extLst>
          </p:cNvPr>
          <p:cNvSpPr>
            <a:spLocks noGrp="1" noChangeArrowheads="1"/>
          </p:cNvSpPr>
          <p:nvPr>
            <p:ph type="dt" sz="half" idx="10"/>
          </p:nvPr>
        </p:nvSpPr>
        <p:spPr>
          <a:ln/>
        </p:spPr>
        <p:txBody>
          <a:bodyPr/>
          <a:lstStyle>
            <a:lvl1pPr>
              <a:defRPr/>
            </a:lvl1pPr>
          </a:lstStyle>
          <a:p>
            <a:pPr>
              <a:defRPr/>
            </a:pPr>
            <a:endParaRPr lang="en-GB"/>
          </a:p>
        </p:txBody>
      </p:sp>
      <p:sp>
        <p:nvSpPr>
          <p:cNvPr id="4" name="Rectangle 3">
            <a:extLst>
              <a:ext uri="{FF2B5EF4-FFF2-40B4-BE49-F238E27FC236}">
                <a16:creationId xmlns:a16="http://schemas.microsoft.com/office/drawing/2014/main" id="{2A21487B-AFEB-4898-A2D1-AD4C34E40F92}"/>
              </a:ext>
            </a:extLst>
          </p:cNvPr>
          <p:cNvSpPr>
            <a:spLocks noGrp="1" noChangeArrowheads="1"/>
          </p:cNvSpPr>
          <p:nvPr>
            <p:ph type="sldNum" sz="quarter" idx="11"/>
          </p:nvPr>
        </p:nvSpPr>
        <p:spPr>
          <a:ln/>
        </p:spPr>
        <p:txBody>
          <a:bodyPr/>
          <a:lstStyle>
            <a:lvl1pPr>
              <a:defRPr/>
            </a:lvl1pPr>
          </a:lstStyle>
          <a:p>
            <a:pPr>
              <a:defRPr/>
            </a:pPr>
            <a:fld id="{BD67857C-E284-407F-931A-554B6AB8D7C2}" type="slidenum">
              <a:rPr lang="en-GB" altLang="en-US"/>
              <a:pPr>
                <a:defRPr/>
              </a:pPr>
              <a:t>‹#›</a:t>
            </a:fld>
            <a:endParaRPr lang="en-GB" altLang="en-US"/>
          </a:p>
        </p:txBody>
      </p:sp>
      <p:sp>
        <p:nvSpPr>
          <p:cNvPr id="5" name="Rectangle 14">
            <a:extLst>
              <a:ext uri="{FF2B5EF4-FFF2-40B4-BE49-F238E27FC236}">
                <a16:creationId xmlns:a16="http://schemas.microsoft.com/office/drawing/2014/main" id="{855349BE-9AAD-444A-9E40-A4DC172713AD}"/>
              </a:ext>
            </a:extLst>
          </p:cNvPr>
          <p:cNvSpPr>
            <a:spLocks noGrp="1" noChangeArrowheads="1"/>
          </p:cNvSpPr>
          <p:nvPr>
            <p:ph type="ftr" sz="quarter" idx="12"/>
          </p:nvPr>
        </p:nvSpPr>
        <p:spPr>
          <a:ln/>
        </p:spPr>
        <p:txBody>
          <a:bodyPr/>
          <a:lstStyle>
            <a:lvl1pPr>
              <a:defRPr/>
            </a:lvl1pPr>
          </a:lstStyle>
          <a:p>
            <a:pPr>
              <a:defRPr/>
            </a:pPr>
            <a:endParaRPr lang="en-GB"/>
          </a:p>
        </p:txBody>
      </p:sp>
    </p:spTree>
    <p:extLst>
      <p:ext uri="{BB962C8B-B14F-4D97-AF65-F5344CB8AC3E}">
        <p14:creationId xmlns:p14="http://schemas.microsoft.com/office/powerpoint/2010/main" val="19401026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3E3F318-BFA0-41AE-8D05-2D0B43780D52}"/>
              </a:ext>
            </a:extLst>
          </p:cNvPr>
          <p:cNvSpPr>
            <a:spLocks noGrp="1" noChangeArrowheads="1"/>
          </p:cNvSpPr>
          <p:nvPr>
            <p:ph type="dt" sz="half" idx="10"/>
          </p:nvPr>
        </p:nvSpPr>
        <p:spPr>
          <a:ln/>
        </p:spPr>
        <p:txBody>
          <a:bodyPr/>
          <a:lstStyle>
            <a:lvl1pPr>
              <a:defRPr/>
            </a:lvl1pPr>
          </a:lstStyle>
          <a:p>
            <a:pPr>
              <a:defRPr/>
            </a:pPr>
            <a:endParaRPr lang="en-GB"/>
          </a:p>
        </p:txBody>
      </p:sp>
      <p:sp>
        <p:nvSpPr>
          <p:cNvPr id="3" name="Rectangle 3">
            <a:extLst>
              <a:ext uri="{FF2B5EF4-FFF2-40B4-BE49-F238E27FC236}">
                <a16:creationId xmlns:a16="http://schemas.microsoft.com/office/drawing/2014/main" id="{2A21487B-AFEB-4898-A2D1-AD4C34E40F92}"/>
              </a:ext>
            </a:extLst>
          </p:cNvPr>
          <p:cNvSpPr>
            <a:spLocks noGrp="1" noChangeArrowheads="1"/>
          </p:cNvSpPr>
          <p:nvPr>
            <p:ph type="sldNum" sz="quarter" idx="11"/>
          </p:nvPr>
        </p:nvSpPr>
        <p:spPr>
          <a:ln/>
        </p:spPr>
        <p:txBody>
          <a:bodyPr/>
          <a:lstStyle>
            <a:lvl1pPr>
              <a:defRPr/>
            </a:lvl1pPr>
          </a:lstStyle>
          <a:p>
            <a:pPr>
              <a:defRPr/>
            </a:pPr>
            <a:fld id="{F4FC7D20-9213-4E38-B748-42441104DE7A}" type="slidenum">
              <a:rPr lang="en-GB" altLang="en-US"/>
              <a:pPr>
                <a:defRPr/>
              </a:pPr>
              <a:t>‹#›</a:t>
            </a:fld>
            <a:endParaRPr lang="en-GB" altLang="en-US"/>
          </a:p>
        </p:txBody>
      </p:sp>
      <p:sp>
        <p:nvSpPr>
          <p:cNvPr id="4" name="Rectangle 14">
            <a:extLst>
              <a:ext uri="{FF2B5EF4-FFF2-40B4-BE49-F238E27FC236}">
                <a16:creationId xmlns:a16="http://schemas.microsoft.com/office/drawing/2014/main" id="{855349BE-9AAD-444A-9E40-A4DC172713AD}"/>
              </a:ext>
            </a:extLst>
          </p:cNvPr>
          <p:cNvSpPr>
            <a:spLocks noGrp="1" noChangeArrowheads="1"/>
          </p:cNvSpPr>
          <p:nvPr>
            <p:ph type="ftr" sz="quarter" idx="12"/>
          </p:nvPr>
        </p:nvSpPr>
        <p:spPr>
          <a:ln/>
        </p:spPr>
        <p:txBody>
          <a:bodyPr/>
          <a:lstStyle>
            <a:lvl1pPr>
              <a:defRPr/>
            </a:lvl1pPr>
          </a:lstStyle>
          <a:p>
            <a:pPr>
              <a:defRPr/>
            </a:pPr>
            <a:endParaRPr lang="en-GB"/>
          </a:p>
        </p:txBody>
      </p:sp>
    </p:spTree>
    <p:extLst>
      <p:ext uri="{BB962C8B-B14F-4D97-AF65-F5344CB8AC3E}">
        <p14:creationId xmlns:p14="http://schemas.microsoft.com/office/powerpoint/2010/main" val="5806965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a:extLst>
              <a:ext uri="{FF2B5EF4-FFF2-40B4-BE49-F238E27FC236}">
                <a16:creationId xmlns:a16="http://schemas.microsoft.com/office/drawing/2014/main" id="{D3E3F318-BFA0-41AE-8D05-2D0B43780D52}"/>
              </a:ext>
            </a:extLst>
          </p:cNvPr>
          <p:cNvSpPr>
            <a:spLocks noGrp="1" noChangeArrowheads="1"/>
          </p:cNvSpPr>
          <p:nvPr>
            <p:ph type="dt" sz="half" idx="10"/>
          </p:nvPr>
        </p:nvSpPr>
        <p:spPr>
          <a:ln/>
        </p:spPr>
        <p:txBody>
          <a:bodyPr/>
          <a:lstStyle>
            <a:lvl1pPr>
              <a:defRPr/>
            </a:lvl1pPr>
          </a:lstStyle>
          <a:p>
            <a:pPr>
              <a:defRPr/>
            </a:pPr>
            <a:endParaRPr lang="en-GB"/>
          </a:p>
        </p:txBody>
      </p:sp>
      <p:sp>
        <p:nvSpPr>
          <p:cNvPr id="6" name="Rectangle 3">
            <a:extLst>
              <a:ext uri="{FF2B5EF4-FFF2-40B4-BE49-F238E27FC236}">
                <a16:creationId xmlns:a16="http://schemas.microsoft.com/office/drawing/2014/main" id="{2A21487B-AFEB-4898-A2D1-AD4C34E40F92}"/>
              </a:ext>
            </a:extLst>
          </p:cNvPr>
          <p:cNvSpPr>
            <a:spLocks noGrp="1" noChangeArrowheads="1"/>
          </p:cNvSpPr>
          <p:nvPr>
            <p:ph type="sldNum" sz="quarter" idx="11"/>
          </p:nvPr>
        </p:nvSpPr>
        <p:spPr>
          <a:ln/>
        </p:spPr>
        <p:txBody>
          <a:bodyPr/>
          <a:lstStyle>
            <a:lvl1pPr>
              <a:defRPr/>
            </a:lvl1pPr>
          </a:lstStyle>
          <a:p>
            <a:pPr>
              <a:defRPr/>
            </a:pPr>
            <a:fld id="{1DD5AC31-0EA3-4E18-B543-AC9CD4338B08}" type="slidenum">
              <a:rPr lang="en-GB" altLang="en-US"/>
              <a:pPr>
                <a:defRPr/>
              </a:pPr>
              <a:t>‹#›</a:t>
            </a:fld>
            <a:endParaRPr lang="en-GB" altLang="en-US"/>
          </a:p>
        </p:txBody>
      </p:sp>
      <p:sp>
        <p:nvSpPr>
          <p:cNvPr id="7" name="Rectangle 14">
            <a:extLst>
              <a:ext uri="{FF2B5EF4-FFF2-40B4-BE49-F238E27FC236}">
                <a16:creationId xmlns:a16="http://schemas.microsoft.com/office/drawing/2014/main" id="{855349BE-9AAD-444A-9E40-A4DC172713AD}"/>
              </a:ext>
            </a:extLst>
          </p:cNvPr>
          <p:cNvSpPr>
            <a:spLocks noGrp="1" noChangeArrowheads="1"/>
          </p:cNvSpPr>
          <p:nvPr>
            <p:ph type="ftr" sz="quarter" idx="12"/>
          </p:nvPr>
        </p:nvSpPr>
        <p:spPr>
          <a:ln/>
        </p:spPr>
        <p:txBody>
          <a:bodyPr/>
          <a:lstStyle>
            <a:lvl1pPr>
              <a:defRPr/>
            </a:lvl1pPr>
          </a:lstStyle>
          <a:p>
            <a:pPr>
              <a:defRPr/>
            </a:pPr>
            <a:endParaRPr lang="en-GB"/>
          </a:p>
        </p:txBody>
      </p:sp>
    </p:spTree>
    <p:extLst>
      <p:ext uri="{BB962C8B-B14F-4D97-AF65-F5344CB8AC3E}">
        <p14:creationId xmlns:p14="http://schemas.microsoft.com/office/powerpoint/2010/main" val="1690805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a:extLst>
              <a:ext uri="{FF2B5EF4-FFF2-40B4-BE49-F238E27FC236}">
                <a16:creationId xmlns:a16="http://schemas.microsoft.com/office/drawing/2014/main" id="{D3E3F318-BFA0-41AE-8D05-2D0B43780D52}"/>
              </a:ext>
            </a:extLst>
          </p:cNvPr>
          <p:cNvSpPr>
            <a:spLocks noGrp="1" noChangeArrowheads="1"/>
          </p:cNvSpPr>
          <p:nvPr>
            <p:ph type="dt" sz="half" idx="10"/>
          </p:nvPr>
        </p:nvSpPr>
        <p:spPr>
          <a:ln/>
        </p:spPr>
        <p:txBody>
          <a:bodyPr/>
          <a:lstStyle>
            <a:lvl1pPr>
              <a:defRPr/>
            </a:lvl1pPr>
          </a:lstStyle>
          <a:p>
            <a:pPr>
              <a:defRPr/>
            </a:pPr>
            <a:endParaRPr lang="en-GB"/>
          </a:p>
        </p:txBody>
      </p:sp>
      <p:sp>
        <p:nvSpPr>
          <p:cNvPr id="6" name="Rectangle 3">
            <a:extLst>
              <a:ext uri="{FF2B5EF4-FFF2-40B4-BE49-F238E27FC236}">
                <a16:creationId xmlns:a16="http://schemas.microsoft.com/office/drawing/2014/main" id="{2A21487B-AFEB-4898-A2D1-AD4C34E40F92}"/>
              </a:ext>
            </a:extLst>
          </p:cNvPr>
          <p:cNvSpPr>
            <a:spLocks noGrp="1" noChangeArrowheads="1"/>
          </p:cNvSpPr>
          <p:nvPr>
            <p:ph type="sldNum" sz="quarter" idx="11"/>
          </p:nvPr>
        </p:nvSpPr>
        <p:spPr>
          <a:ln/>
        </p:spPr>
        <p:txBody>
          <a:bodyPr/>
          <a:lstStyle>
            <a:lvl1pPr>
              <a:defRPr/>
            </a:lvl1pPr>
          </a:lstStyle>
          <a:p>
            <a:pPr>
              <a:defRPr/>
            </a:pPr>
            <a:fld id="{92296E77-21B2-48F2-8EA9-51ECE5DC1494}" type="slidenum">
              <a:rPr lang="en-GB" altLang="en-US"/>
              <a:pPr>
                <a:defRPr/>
              </a:pPr>
              <a:t>‹#›</a:t>
            </a:fld>
            <a:endParaRPr lang="en-GB" altLang="en-US"/>
          </a:p>
        </p:txBody>
      </p:sp>
      <p:sp>
        <p:nvSpPr>
          <p:cNvPr id="7" name="Rectangle 14">
            <a:extLst>
              <a:ext uri="{FF2B5EF4-FFF2-40B4-BE49-F238E27FC236}">
                <a16:creationId xmlns:a16="http://schemas.microsoft.com/office/drawing/2014/main" id="{855349BE-9AAD-444A-9E40-A4DC172713AD}"/>
              </a:ext>
            </a:extLst>
          </p:cNvPr>
          <p:cNvSpPr>
            <a:spLocks noGrp="1" noChangeArrowheads="1"/>
          </p:cNvSpPr>
          <p:nvPr>
            <p:ph type="ftr" sz="quarter" idx="12"/>
          </p:nvPr>
        </p:nvSpPr>
        <p:spPr>
          <a:ln/>
        </p:spPr>
        <p:txBody>
          <a:bodyPr/>
          <a:lstStyle>
            <a:lvl1pPr>
              <a:defRPr/>
            </a:lvl1pPr>
          </a:lstStyle>
          <a:p>
            <a:pPr>
              <a:defRPr/>
            </a:pPr>
            <a:endParaRPr lang="en-GB"/>
          </a:p>
        </p:txBody>
      </p:sp>
    </p:spTree>
    <p:extLst>
      <p:ext uri="{BB962C8B-B14F-4D97-AF65-F5344CB8AC3E}">
        <p14:creationId xmlns:p14="http://schemas.microsoft.com/office/powerpoint/2010/main" val="22360587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2">
            <a:extLst>
              <a:ext uri="{FF2B5EF4-FFF2-40B4-BE49-F238E27FC236}">
                <a16:creationId xmlns:a16="http://schemas.microsoft.com/office/drawing/2014/main" id="{D3E3F318-BFA0-41AE-8D05-2D0B43780D52}"/>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3">
            <a:extLst>
              <a:ext uri="{FF2B5EF4-FFF2-40B4-BE49-F238E27FC236}">
                <a16:creationId xmlns:a16="http://schemas.microsoft.com/office/drawing/2014/main" id="{2A21487B-AFEB-4898-A2D1-AD4C34E40F92}"/>
              </a:ext>
            </a:extLst>
          </p:cNvPr>
          <p:cNvSpPr>
            <a:spLocks noGrp="1" noChangeArrowheads="1"/>
          </p:cNvSpPr>
          <p:nvPr>
            <p:ph type="sldNum" sz="quarter" idx="11"/>
          </p:nvPr>
        </p:nvSpPr>
        <p:spPr>
          <a:ln/>
        </p:spPr>
        <p:txBody>
          <a:bodyPr/>
          <a:lstStyle>
            <a:lvl1pPr>
              <a:defRPr/>
            </a:lvl1pPr>
          </a:lstStyle>
          <a:p>
            <a:pPr>
              <a:defRPr/>
            </a:pPr>
            <a:fld id="{E3B6ECEE-B1E4-44C9-A7FA-BBEE6CD3C536}" type="slidenum">
              <a:rPr lang="en-GB" altLang="en-US"/>
              <a:pPr>
                <a:defRPr/>
              </a:pPr>
              <a:t>‹#›</a:t>
            </a:fld>
            <a:endParaRPr lang="en-GB" altLang="en-US"/>
          </a:p>
        </p:txBody>
      </p:sp>
      <p:sp>
        <p:nvSpPr>
          <p:cNvPr id="6" name="Rectangle 14">
            <a:extLst>
              <a:ext uri="{FF2B5EF4-FFF2-40B4-BE49-F238E27FC236}">
                <a16:creationId xmlns:a16="http://schemas.microsoft.com/office/drawing/2014/main" id="{855349BE-9AAD-444A-9E40-A4DC172713AD}"/>
              </a:ext>
            </a:extLst>
          </p:cNvPr>
          <p:cNvSpPr>
            <a:spLocks noGrp="1" noChangeArrowheads="1"/>
          </p:cNvSpPr>
          <p:nvPr>
            <p:ph type="ftr" sz="quarter" idx="12"/>
          </p:nvPr>
        </p:nvSpPr>
        <p:spPr>
          <a:ln/>
        </p:spPr>
        <p:txBody>
          <a:bodyPr/>
          <a:lstStyle>
            <a:lvl1pPr>
              <a:defRPr/>
            </a:lvl1pPr>
          </a:lstStyle>
          <a:p>
            <a:pPr>
              <a:defRPr/>
            </a:pPr>
            <a:endParaRPr lang="en-GB"/>
          </a:p>
        </p:txBody>
      </p:sp>
    </p:spTree>
    <p:extLst>
      <p:ext uri="{BB962C8B-B14F-4D97-AF65-F5344CB8AC3E}">
        <p14:creationId xmlns:p14="http://schemas.microsoft.com/office/powerpoint/2010/main" val="567389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2">
            <a:extLst>
              <a:ext uri="{FF2B5EF4-FFF2-40B4-BE49-F238E27FC236}">
                <a16:creationId xmlns:a16="http://schemas.microsoft.com/office/drawing/2014/main" id="{D3E3F318-BFA0-41AE-8D05-2D0B43780D52}"/>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3">
            <a:extLst>
              <a:ext uri="{FF2B5EF4-FFF2-40B4-BE49-F238E27FC236}">
                <a16:creationId xmlns:a16="http://schemas.microsoft.com/office/drawing/2014/main" id="{2A21487B-AFEB-4898-A2D1-AD4C34E40F92}"/>
              </a:ext>
            </a:extLst>
          </p:cNvPr>
          <p:cNvSpPr>
            <a:spLocks noGrp="1" noChangeArrowheads="1"/>
          </p:cNvSpPr>
          <p:nvPr>
            <p:ph type="sldNum" sz="quarter" idx="11"/>
          </p:nvPr>
        </p:nvSpPr>
        <p:spPr>
          <a:ln/>
        </p:spPr>
        <p:txBody>
          <a:bodyPr/>
          <a:lstStyle>
            <a:lvl1pPr>
              <a:defRPr/>
            </a:lvl1pPr>
          </a:lstStyle>
          <a:p>
            <a:pPr>
              <a:defRPr/>
            </a:pPr>
            <a:fld id="{706D6290-38AC-4CCC-AA84-6A1DB47FC2A8}" type="slidenum">
              <a:rPr lang="en-GB" altLang="en-US"/>
              <a:pPr>
                <a:defRPr/>
              </a:pPr>
              <a:t>‹#›</a:t>
            </a:fld>
            <a:endParaRPr lang="en-GB" altLang="en-US"/>
          </a:p>
        </p:txBody>
      </p:sp>
      <p:sp>
        <p:nvSpPr>
          <p:cNvPr id="6" name="Rectangle 14">
            <a:extLst>
              <a:ext uri="{FF2B5EF4-FFF2-40B4-BE49-F238E27FC236}">
                <a16:creationId xmlns:a16="http://schemas.microsoft.com/office/drawing/2014/main" id="{855349BE-9AAD-444A-9E40-A4DC172713AD}"/>
              </a:ext>
            </a:extLst>
          </p:cNvPr>
          <p:cNvSpPr>
            <a:spLocks noGrp="1" noChangeArrowheads="1"/>
          </p:cNvSpPr>
          <p:nvPr>
            <p:ph type="ftr" sz="quarter" idx="12"/>
          </p:nvPr>
        </p:nvSpPr>
        <p:spPr>
          <a:ln/>
        </p:spPr>
        <p:txBody>
          <a:bodyPr/>
          <a:lstStyle>
            <a:lvl1pPr>
              <a:defRPr/>
            </a:lvl1pPr>
          </a:lstStyle>
          <a:p>
            <a:pPr>
              <a:defRPr/>
            </a:pPr>
            <a:endParaRPr lang="en-GB"/>
          </a:p>
        </p:txBody>
      </p:sp>
    </p:spTree>
    <p:extLst>
      <p:ext uri="{BB962C8B-B14F-4D97-AF65-F5344CB8AC3E}">
        <p14:creationId xmlns:p14="http://schemas.microsoft.com/office/powerpoint/2010/main" val="26077739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2">
            <a:extLst>
              <a:ext uri="{FF2B5EF4-FFF2-40B4-BE49-F238E27FC236}">
                <a16:creationId xmlns:a16="http://schemas.microsoft.com/office/drawing/2014/main" id="{D3E3F318-BFA0-41AE-8D05-2D0B43780D52}"/>
              </a:ext>
            </a:extLst>
          </p:cNvPr>
          <p:cNvSpPr>
            <a:spLocks noGrp="1" noChangeArrowheads="1"/>
          </p:cNvSpPr>
          <p:nvPr>
            <p:ph type="dt" sz="half" idx="10"/>
          </p:nvPr>
        </p:nvSpPr>
        <p:spPr>
          <a:ln/>
        </p:spPr>
        <p:txBody>
          <a:bodyPr/>
          <a:lstStyle>
            <a:lvl1pPr>
              <a:defRPr/>
            </a:lvl1pPr>
          </a:lstStyle>
          <a:p>
            <a:pPr>
              <a:defRPr/>
            </a:pPr>
            <a:endParaRPr lang="en-GB"/>
          </a:p>
        </p:txBody>
      </p:sp>
      <p:sp>
        <p:nvSpPr>
          <p:cNvPr id="6" name="Rectangle 3">
            <a:extLst>
              <a:ext uri="{FF2B5EF4-FFF2-40B4-BE49-F238E27FC236}">
                <a16:creationId xmlns:a16="http://schemas.microsoft.com/office/drawing/2014/main" id="{2A21487B-AFEB-4898-A2D1-AD4C34E40F92}"/>
              </a:ext>
            </a:extLst>
          </p:cNvPr>
          <p:cNvSpPr>
            <a:spLocks noGrp="1" noChangeArrowheads="1"/>
          </p:cNvSpPr>
          <p:nvPr>
            <p:ph type="sldNum" sz="quarter" idx="11"/>
          </p:nvPr>
        </p:nvSpPr>
        <p:spPr>
          <a:ln/>
        </p:spPr>
        <p:txBody>
          <a:bodyPr/>
          <a:lstStyle>
            <a:lvl1pPr>
              <a:defRPr/>
            </a:lvl1pPr>
          </a:lstStyle>
          <a:p>
            <a:pPr>
              <a:defRPr/>
            </a:pPr>
            <a:fld id="{8755B4E0-663B-4DCD-B482-9A40C0882CAD}" type="slidenum">
              <a:rPr lang="en-GB" altLang="en-US"/>
              <a:pPr>
                <a:defRPr/>
              </a:pPr>
              <a:t>‹#›</a:t>
            </a:fld>
            <a:endParaRPr lang="en-GB" altLang="en-US"/>
          </a:p>
        </p:txBody>
      </p:sp>
      <p:sp>
        <p:nvSpPr>
          <p:cNvPr id="7" name="Rectangle 14">
            <a:extLst>
              <a:ext uri="{FF2B5EF4-FFF2-40B4-BE49-F238E27FC236}">
                <a16:creationId xmlns:a16="http://schemas.microsoft.com/office/drawing/2014/main" id="{855349BE-9AAD-444A-9E40-A4DC172713AD}"/>
              </a:ext>
            </a:extLst>
          </p:cNvPr>
          <p:cNvSpPr>
            <a:spLocks noGrp="1" noChangeArrowheads="1"/>
          </p:cNvSpPr>
          <p:nvPr>
            <p:ph type="ftr" sz="quarter" idx="12"/>
          </p:nvPr>
        </p:nvSpPr>
        <p:spPr>
          <a:ln/>
        </p:spPr>
        <p:txBody>
          <a:bodyPr/>
          <a:lstStyle>
            <a:lvl1pPr>
              <a:defRPr/>
            </a:lvl1pPr>
          </a:lstStyle>
          <a:p>
            <a:pPr>
              <a:defRPr/>
            </a:pPr>
            <a:endParaRPr lang="en-GB"/>
          </a:p>
        </p:txBody>
      </p:sp>
    </p:spTree>
    <p:extLst>
      <p:ext uri="{BB962C8B-B14F-4D97-AF65-F5344CB8AC3E}">
        <p14:creationId xmlns:p14="http://schemas.microsoft.com/office/powerpoint/2010/main" val="28091261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Rectangle 2">
            <a:extLst>
              <a:ext uri="{FF2B5EF4-FFF2-40B4-BE49-F238E27FC236}">
                <a16:creationId xmlns:a16="http://schemas.microsoft.com/office/drawing/2014/main" id="{D3E3F318-BFA0-41AE-8D05-2D0B43780D52}"/>
              </a:ext>
            </a:extLst>
          </p:cNvPr>
          <p:cNvSpPr>
            <a:spLocks noGrp="1" noChangeArrowheads="1"/>
          </p:cNvSpPr>
          <p:nvPr>
            <p:ph type="dt" sz="half" idx="10"/>
          </p:nvPr>
        </p:nvSpPr>
        <p:spPr>
          <a:ln/>
        </p:spPr>
        <p:txBody>
          <a:bodyPr/>
          <a:lstStyle>
            <a:lvl1pPr>
              <a:defRPr/>
            </a:lvl1pPr>
          </a:lstStyle>
          <a:p>
            <a:pPr>
              <a:defRPr/>
            </a:pPr>
            <a:endParaRPr lang="en-GB"/>
          </a:p>
        </p:txBody>
      </p:sp>
      <p:sp>
        <p:nvSpPr>
          <p:cNvPr id="7" name="Rectangle 3">
            <a:extLst>
              <a:ext uri="{FF2B5EF4-FFF2-40B4-BE49-F238E27FC236}">
                <a16:creationId xmlns:a16="http://schemas.microsoft.com/office/drawing/2014/main" id="{2A21487B-AFEB-4898-A2D1-AD4C34E40F92}"/>
              </a:ext>
            </a:extLst>
          </p:cNvPr>
          <p:cNvSpPr>
            <a:spLocks noGrp="1" noChangeArrowheads="1"/>
          </p:cNvSpPr>
          <p:nvPr>
            <p:ph type="sldNum" sz="quarter" idx="11"/>
          </p:nvPr>
        </p:nvSpPr>
        <p:spPr>
          <a:ln/>
        </p:spPr>
        <p:txBody>
          <a:bodyPr/>
          <a:lstStyle>
            <a:lvl1pPr>
              <a:defRPr/>
            </a:lvl1pPr>
          </a:lstStyle>
          <a:p>
            <a:pPr>
              <a:defRPr/>
            </a:pPr>
            <a:fld id="{3CC7094E-23A1-4731-A55F-DFBD0221EDBF}" type="slidenum">
              <a:rPr lang="en-GB" altLang="en-US"/>
              <a:pPr>
                <a:defRPr/>
              </a:pPr>
              <a:t>‹#›</a:t>
            </a:fld>
            <a:endParaRPr lang="en-GB" altLang="en-US"/>
          </a:p>
        </p:txBody>
      </p:sp>
      <p:sp>
        <p:nvSpPr>
          <p:cNvPr id="8" name="Rectangle 14">
            <a:extLst>
              <a:ext uri="{FF2B5EF4-FFF2-40B4-BE49-F238E27FC236}">
                <a16:creationId xmlns:a16="http://schemas.microsoft.com/office/drawing/2014/main" id="{855349BE-9AAD-444A-9E40-A4DC172713AD}"/>
              </a:ext>
            </a:extLst>
          </p:cNvPr>
          <p:cNvSpPr>
            <a:spLocks noGrp="1" noChangeArrowheads="1"/>
          </p:cNvSpPr>
          <p:nvPr>
            <p:ph type="ftr" sz="quarter" idx="12"/>
          </p:nvPr>
        </p:nvSpPr>
        <p:spPr>
          <a:ln/>
        </p:spPr>
        <p:txBody>
          <a:bodyPr/>
          <a:lstStyle>
            <a:lvl1pPr>
              <a:defRPr/>
            </a:lvl1pPr>
          </a:lstStyle>
          <a:p>
            <a:pPr>
              <a:defRPr/>
            </a:pPr>
            <a:endParaRPr lang="en-GB"/>
          </a:p>
        </p:txBody>
      </p:sp>
    </p:spTree>
    <p:extLst>
      <p:ext uri="{BB962C8B-B14F-4D97-AF65-F5344CB8AC3E}">
        <p14:creationId xmlns:p14="http://schemas.microsoft.com/office/powerpoint/2010/main" val="26188400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pPr>
              <a:defRPr/>
            </a:pPr>
            <a:fld id="{B6AE82B2-7500-47DD-803A-B4366AE5DCEE}" type="slidenum">
              <a:rPr lang="en-GB" altLang="en-US" smtClean="0"/>
              <a:pPr>
                <a:defRPr/>
              </a:pPr>
              <a:t>‹#›</a:t>
            </a:fld>
            <a:endParaRPr lang="en-GB" altLang="en-US"/>
          </a:p>
        </p:txBody>
      </p:sp>
    </p:spTree>
    <p:extLst>
      <p:ext uri="{BB962C8B-B14F-4D97-AF65-F5344CB8AC3E}">
        <p14:creationId xmlns:p14="http://schemas.microsoft.com/office/powerpoint/2010/main" val="42246994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pPr>
              <a:defRPr/>
            </a:pPr>
            <a:fld id="{3F79E695-5E2C-414D-A20C-8276FF44A841}" type="slidenum">
              <a:rPr lang="en-GB" altLang="en-US" smtClean="0"/>
              <a:pPr>
                <a:defRPr/>
              </a:pPr>
              <a:t>‹#›</a:t>
            </a:fld>
            <a:endParaRPr lang="en-GB" altLang="en-US" dirty="0"/>
          </a:p>
        </p:txBody>
      </p:sp>
      <p:sp>
        <p:nvSpPr>
          <p:cNvPr id="7" name="TextBox 6">
            <a:extLst>
              <a:ext uri="{FF2B5EF4-FFF2-40B4-BE49-F238E27FC236}">
                <a16:creationId xmlns:a16="http://schemas.microsoft.com/office/drawing/2014/main" id="{B4AB96B3-F334-4796-96E0-4D897B732AB8}"/>
              </a:ext>
            </a:extLst>
          </p:cNvPr>
          <p:cNvSpPr txBox="1">
            <a:spLocks noChangeArrowheads="1"/>
          </p:cNvSpPr>
          <p:nvPr userDrawn="1"/>
        </p:nvSpPr>
        <p:spPr bwMode="auto">
          <a:xfrm>
            <a:off x="0" y="0"/>
            <a:ext cx="1007533" cy="369332"/>
          </a:xfrm>
          <a:prstGeom prst="rect">
            <a:avLst/>
          </a:prstGeom>
          <a:blipFill dpi="0" rotWithShape="1">
            <a:blip r:embed="rId2">
              <a:alphaModFix amt="5000"/>
            </a:blip>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defRPr/>
            </a:pPr>
            <a:endParaRPr lang="en-KE" altLang="en-KE"/>
          </a:p>
        </p:txBody>
      </p:sp>
    </p:spTree>
    <p:extLst>
      <p:ext uri="{BB962C8B-B14F-4D97-AF65-F5344CB8AC3E}">
        <p14:creationId xmlns:p14="http://schemas.microsoft.com/office/powerpoint/2010/main" val="1939500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pPr>
              <a:defRPr/>
            </a:pPr>
            <a:fld id="{814FF9E5-8208-4D0F-901E-EE2C6C5A55A4}" type="slidenum">
              <a:rPr lang="en-GB" altLang="en-US" smtClean="0"/>
              <a:pPr>
                <a:defRPr/>
              </a:pPr>
              <a:t>‹#›</a:t>
            </a:fld>
            <a:endParaRPr lang="en-GB" altLang="en-US"/>
          </a:p>
        </p:txBody>
      </p:sp>
    </p:spTree>
    <p:extLst>
      <p:ext uri="{BB962C8B-B14F-4D97-AF65-F5344CB8AC3E}">
        <p14:creationId xmlns:p14="http://schemas.microsoft.com/office/powerpoint/2010/main" val="8300521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GB"/>
          </a:p>
        </p:txBody>
      </p:sp>
      <p:sp>
        <p:nvSpPr>
          <p:cNvPr id="6" name="Footer Placeholder 5"/>
          <p:cNvSpPr>
            <a:spLocks noGrp="1"/>
          </p:cNvSpPr>
          <p:nvPr>
            <p:ph type="ftr" sz="quarter" idx="11"/>
          </p:nvPr>
        </p:nvSpPr>
        <p:spPr/>
        <p:txBody>
          <a:bodyPr/>
          <a:lstStyle/>
          <a:p>
            <a:pPr>
              <a:defRPr/>
            </a:pPr>
            <a:endParaRPr lang="en-GB"/>
          </a:p>
        </p:txBody>
      </p:sp>
      <p:sp>
        <p:nvSpPr>
          <p:cNvPr id="7" name="Slide Number Placeholder 6"/>
          <p:cNvSpPr>
            <a:spLocks noGrp="1"/>
          </p:cNvSpPr>
          <p:nvPr>
            <p:ph type="sldNum" sz="quarter" idx="12"/>
          </p:nvPr>
        </p:nvSpPr>
        <p:spPr/>
        <p:txBody>
          <a:bodyPr/>
          <a:lstStyle/>
          <a:p>
            <a:pPr>
              <a:defRPr/>
            </a:pPr>
            <a:fld id="{DCC63985-9358-4585-B31D-D224D44E6466}" type="slidenum">
              <a:rPr lang="en-GB" altLang="en-US" smtClean="0"/>
              <a:pPr>
                <a:defRPr/>
              </a:pPr>
              <a:t>‹#›</a:t>
            </a:fld>
            <a:endParaRPr lang="en-GB" altLang="en-US"/>
          </a:p>
        </p:txBody>
      </p:sp>
    </p:spTree>
    <p:extLst>
      <p:ext uri="{BB962C8B-B14F-4D97-AF65-F5344CB8AC3E}">
        <p14:creationId xmlns:p14="http://schemas.microsoft.com/office/powerpoint/2010/main" val="9789197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GB"/>
          </a:p>
        </p:txBody>
      </p:sp>
      <p:sp>
        <p:nvSpPr>
          <p:cNvPr id="8" name="Footer Placeholder 7"/>
          <p:cNvSpPr>
            <a:spLocks noGrp="1"/>
          </p:cNvSpPr>
          <p:nvPr>
            <p:ph type="ftr" sz="quarter" idx="11"/>
          </p:nvPr>
        </p:nvSpPr>
        <p:spPr/>
        <p:txBody>
          <a:bodyPr/>
          <a:lstStyle/>
          <a:p>
            <a:pPr>
              <a:defRPr/>
            </a:pPr>
            <a:endParaRPr lang="en-GB"/>
          </a:p>
        </p:txBody>
      </p:sp>
      <p:sp>
        <p:nvSpPr>
          <p:cNvPr id="9" name="Slide Number Placeholder 8"/>
          <p:cNvSpPr>
            <a:spLocks noGrp="1"/>
          </p:cNvSpPr>
          <p:nvPr>
            <p:ph type="sldNum" sz="quarter" idx="12"/>
          </p:nvPr>
        </p:nvSpPr>
        <p:spPr/>
        <p:txBody>
          <a:bodyPr/>
          <a:lstStyle/>
          <a:p>
            <a:pPr>
              <a:defRPr/>
            </a:pPr>
            <a:fld id="{5475F3D8-2D31-4B2A-8E5E-74BBC4274C71}" type="slidenum">
              <a:rPr lang="en-GB" altLang="en-US" smtClean="0"/>
              <a:pPr>
                <a:defRPr/>
              </a:pPr>
              <a:t>‹#›</a:t>
            </a:fld>
            <a:endParaRPr lang="en-GB" altLang="en-US"/>
          </a:p>
        </p:txBody>
      </p:sp>
    </p:spTree>
    <p:extLst>
      <p:ext uri="{BB962C8B-B14F-4D97-AF65-F5344CB8AC3E}">
        <p14:creationId xmlns:p14="http://schemas.microsoft.com/office/powerpoint/2010/main" val="41081566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GB"/>
          </a:p>
        </p:txBody>
      </p:sp>
      <p:sp>
        <p:nvSpPr>
          <p:cNvPr id="4" name="Footer Placeholder 3"/>
          <p:cNvSpPr>
            <a:spLocks noGrp="1"/>
          </p:cNvSpPr>
          <p:nvPr>
            <p:ph type="ftr" sz="quarter" idx="11"/>
          </p:nvPr>
        </p:nvSpPr>
        <p:spPr/>
        <p:txBody>
          <a:bodyPr/>
          <a:lstStyle/>
          <a:p>
            <a:pPr>
              <a:defRPr/>
            </a:pPr>
            <a:endParaRPr lang="en-GB"/>
          </a:p>
        </p:txBody>
      </p:sp>
      <p:sp>
        <p:nvSpPr>
          <p:cNvPr id="5" name="Slide Number Placeholder 4"/>
          <p:cNvSpPr>
            <a:spLocks noGrp="1"/>
          </p:cNvSpPr>
          <p:nvPr>
            <p:ph type="sldNum" sz="quarter" idx="12"/>
          </p:nvPr>
        </p:nvSpPr>
        <p:spPr/>
        <p:txBody>
          <a:bodyPr/>
          <a:lstStyle/>
          <a:p>
            <a:pPr>
              <a:defRPr/>
            </a:pPr>
            <a:fld id="{F95217F4-258A-47C5-A040-933B3CFDA2D8}" type="slidenum">
              <a:rPr lang="en-GB" altLang="en-US" smtClean="0"/>
              <a:pPr>
                <a:defRPr/>
              </a:pPr>
              <a:t>‹#›</a:t>
            </a:fld>
            <a:endParaRPr lang="en-GB" altLang="en-US"/>
          </a:p>
        </p:txBody>
      </p:sp>
    </p:spTree>
    <p:extLst>
      <p:ext uri="{BB962C8B-B14F-4D97-AF65-F5344CB8AC3E}">
        <p14:creationId xmlns:p14="http://schemas.microsoft.com/office/powerpoint/2010/main" val="2928638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GB"/>
          </a:p>
        </p:txBody>
      </p:sp>
      <p:sp>
        <p:nvSpPr>
          <p:cNvPr id="3" name="Footer Placeholder 2"/>
          <p:cNvSpPr>
            <a:spLocks noGrp="1"/>
          </p:cNvSpPr>
          <p:nvPr>
            <p:ph type="ftr" sz="quarter" idx="11"/>
          </p:nvPr>
        </p:nvSpPr>
        <p:spPr/>
        <p:txBody>
          <a:bodyPr/>
          <a:lstStyle/>
          <a:p>
            <a:pPr>
              <a:defRPr/>
            </a:pPr>
            <a:endParaRPr lang="en-GB"/>
          </a:p>
        </p:txBody>
      </p:sp>
      <p:sp>
        <p:nvSpPr>
          <p:cNvPr id="4" name="Slide Number Placeholder 3"/>
          <p:cNvSpPr>
            <a:spLocks noGrp="1"/>
          </p:cNvSpPr>
          <p:nvPr>
            <p:ph type="sldNum" sz="quarter" idx="12"/>
          </p:nvPr>
        </p:nvSpPr>
        <p:spPr/>
        <p:txBody>
          <a:bodyPr/>
          <a:lstStyle/>
          <a:p>
            <a:pPr>
              <a:defRPr/>
            </a:pPr>
            <a:fld id="{C6AA8C66-1116-4EDB-A681-2E7F881B9213}" type="slidenum">
              <a:rPr lang="en-GB" altLang="en-US" smtClean="0"/>
              <a:pPr>
                <a:defRPr/>
              </a:pPr>
              <a:t>‹#›</a:t>
            </a:fld>
            <a:endParaRPr lang="en-GB" altLang="en-US"/>
          </a:p>
        </p:txBody>
      </p:sp>
    </p:spTree>
    <p:extLst>
      <p:ext uri="{BB962C8B-B14F-4D97-AF65-F5344CB8AC3E}">
        <p14:creationId xmlns:p14="http://schemas.microsoft.com/office/powerpoint/2010/main" val="3293369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GB"/>
          </a:p>
        </p:txBody>
      </p:sp>
      <p:sp>
        <p:nvSpPr>
          <p:cNvPr id="6" name="Footer Placeholder 5"/>
          <p:cNvSpPr>
            <a:spLocks noGrp="1"/>
          </p:cNvSpPr>
          <p:nvPr>
            <p:ph type="ftr" sz="quarter" idx="11"/>
          </p:nvPr>
        </p:nvSpPr>
        <p:spPr/>
        <p:txBody>
          <a:bodyPr/>
          <a:lstStyle/>
          <a:p>
            <a:pPr>
              <a:defRPr/>
            </a:pPr>
            <a:endParaRPr lang="en-GB"/>
          </a:p>
        </p:txBody>
      </p:sp>
      <p:sp>
        <p:nvSpPr>
          <p:cNvPr id="7" name="Slide Number Placeholder 6"/>
          <p:cNvSpPr>
            <a:spLocks noGrp="1"/>
          </p:cNvSpPr>
          <p:nvPr>
            <p:ph type="sldNum" sz="quarter" idx="12"/>
          </p:nvPr>
        </p:nvSpPr>
        <p:spPr/>
        <p:txBody>
          <a:bodyPr/>
          <a:lstStyle/>
          <a:p>
            <a:pPr>
              <a:defRPr/>
            </a:pPr>
            <a:fld id="{D90D2609-92CF-42F1-8A55-E3CAA763C78F}" type="slidenum">
              <a:rPr lang="en-GB" altLang="en-US" smtClean="0"/>
              <a:pPr>
                <a:defRPr/>
              </a:pPr>
              <a:t>‹#›</a:t>
            </a:fld>
            <a:endParaRPr lang="en-GB" altLang="en-US"/>
          </a:p>
        </p:txBody>
      </p:sp>
    </p:spTree>
    <p:extLst>
      <p:ext uri="{BB962C8B-B14F-4D97-AF65-F5344CB8AC3E}">
        <p14:creationId xmlns:p14="http://schemas.microsoft.com/office/powerpoint/2010/main" val="16052495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GB"/>
          </a:p>
        </p:txBody>
      </p:sp>
      <p:sp>
        <p:nvSpPr>
          <p:cNvPr id="6" name="Footer Placeholder 5"/>
          <p:cNvSpPr>
            <a:spLocks noGrp="1"/>
          </p:cNvSpPr>
          <p:nvPr>
            <p:ph type="ftr" sz="quarter" idx="11"/>
          </p:nvPr>
        </p:nvSpPr>
        <p:spPr/>
        <p:txBody>
          <a:bodyPr/>
          <a:lstStyle/>
          <a:p>
            <a:pPr>
              <a:defRPr/>
            </a:pPr>
            <a:endParaRPr lang="en-GB"/>
          </a:p>
        </p:txBody>
      </p:sp>
      <p:sp>
        <p:nvSpPr>
          <p:cNvPr id="7" name="Slide Number Placeholder 6"/>
          <p:cNvSpPr>
            <a:spLocks noGrp="1"/>
          </p:cNvSpPr>
          <p:nvPr>
            <p:ph type="sldNum" sz="quarter" idx="12"/>
          </p:nvPr>
        </p:nvSpPr>
        <p:spPr/>
        <p:txBody>
          <a:bodyPr/>
          <a:lstStyle/>
          <a:p>
            <a:pPr>
              <a:defRPr/>
            </a:pPr>
            <a:fld id="{476CB088-E97D-41F0-BF29-2F773A3D01D2}" type="slidenum">
              <a:rPr lang="en-GB" altLang="en-US" smtClean="0"/>
              <a:pPr>
                <a:defRPr/>
              </a:pPr>
              <a:t>‹#›</a:t>
            </a:fld>
            <a:endParaRPr lang="en-GB" altLang="en-US"/>
          </a:p>
        </p:txBody>
      </p:sp>
    </p:spTree>
    <p:extLst>
      <p:ext uri="{BB962C8B-B14F-4D97-AF65-F5344CB8AC3E}">
        <p14:creationId xmlns:p14="http://schemas.microsoft.com/office/powerpoint/2010/main" val="329437353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pPr>
              <a:defRPr/>
            </a:pPr>
            <a:fld id="{D08ECDEF-3048-4E47-94C9-19A6CA76C21C}" type="slidenum">
              <a:rPr lang="en-GB" altLang="en-US" smtClean="0"/>
              <a:pPr>
                <a:defRPr/>
              </a:pPr>
              <a:t>‹#›</a:t>
            </a:fld>
            <a:endParaRPr lang="en-GB" altLang="en-US"/>
          </a:p>
        </p:txBody>
      </p:sp>
    </p:spTree>
    <p:extLst>
      <p:ext uri="{BB962C8B-B14F-4D97-AF65-F5344CB8AC3E}">
        <p14:creationId xmlns:p14="http://schemas.microsoft.com/office/powerpoint/2010/main" val="14077269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pPr>
              <a:defRPr/>
            </a:pPr>
            <a:fld id="{B0323018-47D6-4A98-BF41-D75C87C2337C}" type="slidenum">
              <a:rPr lang="en-GB" altLang="en-US" smtClean="0"/>
              <a:pPr>
                <a:defRPr/>
              </a:pPr>
              <a:t>‹#›</a:t>
            </a:fld>
            <a:endParaRPr lang="en-GB" altLang="en-US"/>
          </a:p>
        </p:txBody>
      </p:sp>
    </p:spTree>
    <p:extLst>
      <p:ext uri="{BB962C8B-B14F-4D97-AF65-F5344CB8AC3E}">
        <p14:creationId xmlns:p14="http://schemas.microsoft.com/office/powerpoint/2010/main" val="255613729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3">
            <a:extLst>
              <a:ext uri="{FF2B5EF4-FFF2-40B4-BE49-F238E27FC236}">
                <a16:creationId xmlns:a16="http://schemas.microsoft.com/office/drawing/2014/main" id="{63AFC951-0D9A-4264-8052-3031596C8ECC}"/>
              </a:ext>
            </a:extLst>
          </p:cNvPr>
          <p:cNvSpPr>
            <a:spLocks noGrp="1"/>
          </p:cNvSpPr>
          <p:nvPr>
            <p:ph type="dt" sz="half" idx="10"/>
          </p:nvPr>
        </p:nvSpPr>
        <p:spPr/>
        <p:txBody>
          <a:bodyPr/>
          <a:lstStyle>
            <a:lvl1pPr>
              <a:defRPr/>
            </a:lvl1pPr>
          </a:lstStyle>
          <a:p>
            <a:pPr>
              <a:defRPr/>
            </a:pPr>
            <a:endParaRPr lang="en-GB"/>
          </a:p>
        </p:txBody>
      </p:sp>
      <p:sp>
        <p:nvSpPr>
          <p:cNvPr id="6" name="Footer Placeholder 4">
            <a:extLst>
              <a:ext uri="{FF2B5EF4-FFF2-40B4-BE49-F238E27FC236}">
                <a16:creationId xmlns:a16="http://schemas.microsoft.com/office/drawing/2014/main" id="{4003285F-8059-4ED6-98B3-CB6A57E541D2}"/>
              </a:ext>
            </a:extLst>
          </p:cNvPr>
          <p:cNvSpPr>
            <a:spLocks noGrp="1"/>
          </p:cNvSpPr>
          <p:nvPr>
            <p:ph type="ftr" sz="quarter" idx="11"/>
          </p:nvPr>
        </p:nvSpPr>
        <p:spPr/>
        <p:txBody>
          <a:bodyPr/>
          <a:lstStyle>
            <a:lvl1pPr>
              <a:defRPr/>
            </a:lvl1pPr>
          </a:lstStyle>
          <a:p>
            <a:pPr>
              <a:defRPr/>
            </a:pPr>
            <a:endParaRPr lang="en-GB"/>
          </a:p>
        </p:txBody>
      </p:sp>
      <p:sp>
        <p:nvSpPr>
          <p:cNvPr id="7" name="Slide Number Placeholder 5">
            <a:extLst>
              <a:ext uri="{FF2B5EF4-FFF2-40B4-BE49-F238E27FC236}">
                <a16:creationId xmlns:a16="http://schemas.microsoft.com/office/drawing/2014/main" id="{19F482F9-44C1-4443-BE5A-C791172F176D}"/>
              </a:ext>
            </a:extLst>
          </p:cNvPr>
          <p:cNvSpPr>
            <a:spLocks noGrp="1"/>
          </p:cNvSpPr>
          <p:nvPr>
            <p:ph type="sldNum" sz="quarter" idx="12"/>
          </p:nvPr>
        </p:nvSpPr>
        <p:spPr/>
        <p:txBody>
          <a:bodyPr/>
          <a:lstStyle>
            <a:lvl1pPr>
              <a:defRPr/>
            </a:lvl1pPr>
          </a:lstStyle>
          <a:p>
            <a:pPr>
              <a:defRPr/>
            </a:pPr>
            <a:fld id="{F609394A-B302-4E5D-A32D-3EEB9AB085F2}" type="slidenum">
              <a:rPr lang="en-GB" altLang="en-US"/>
              <a:pPr>
                <a:defRPr/>
              </a:pPr>
              <a:t>‹#›</a:t>
            </a:fld>
            <a:endParaRPr lang="en-GB" altLang="en-US"/>
          </a:p>
        </p:txBody>
      </p:sp>
    </p:spTree>
    <p:extLst>
      <p:ext uri="{BB962C8B-B14F-4D97-AF65-F5344CB8AC3E}">
        <p14:creationId xmlns:p14="http://schemas.microsoft.com/office/powerpoint/2010/main" val="243164675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pPr>
              <a:defRPr/>
            </a:pPr>
            <a:fld id="{607C65F7-071B-4AC4-A96F-E8CAAC144EA8}" type="slidenum">
              <a:rPr lang="en-GB" altLang="en-US" smtClean="0"/>
              <a:pPr>
                <a:defRPr/>
              </a:pPr>
              <a:t>‹#›</a:t>
            </a:fld>
            <a:endParaRPr lang="en-GB" altLang="en-US"/>
          </a:p>
        </p:txBody>
      </p:sp>
    </p:spTree>
    <p:extLst>
      <p:ext uri="{BB962C8B-B14F-4D97-AF65-F5344CB8AC3E}">
        <p14:creationId xmlns:p14="http://schemas.microsoft.com/office/powerpoint/2010/main" val="413045010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pPr>
              <a:defRPr/>
            </a:pPr>
            <a:fld id="{F8FE8118-3A32-49DB-8718-27C95FFC4F30}" type="slidenum">
              <a:rPr lang="en-GB" altLang="en-US" smtClean="0"/>
              <a:pPr>
                <a:defRPr/>
              </a:pPr>
              <a:t>‹#›</a:t>
            </a:fld>
            <a:endParaRPr lang="en-GB" altLang="en-US" dirty="0"/>
          </a:p>
        </p:txBody>
      </p:sp>
      <p:sp>
        <p:nvSpPr>
          <p:cNvPr id="7" name="TextBox 6">
            <a:extLst>
              <a:ext uri="{FF2B5EF4-FFF2-40B4-BE49-F238E27FC236}">
                <a16:creationId xmlns:a16="http://schemas.microsoft.com/office/drawing/2014/main" id="{BDC06288-95CB-4B35-9F66-0EC39CD8B895}"/>
              </a:ext>
            </a:extLst>
          </p:cNvPr>
          <p:cNvSpPr txBox="1">
            <a:spLocks noChangeArrowheads="1"/>
          </p:cNvSpPr>
          <p:nvPr userDrawn="1"/>
        </p:nvSpPr>
        <p:spPr bwMode="auto">
          <a:xfrm>
            <a:off x="0" y="0"/>
            <a:ext cx="1007533" cy="369332"/>
          </a:xfrm>
          <a:prstGeom prst="rect">
            <a:avLst/>
          </a:prstGeom>
          <a:blipFill dpi="0" rotWithShape="1">
            <a:blip r:embed="rId2">
              <a:alphaModFix amt="5000"/>
            </a:blip>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defRPr/>
            </a:pPr>
            <a:endParaRPr lang="en-KE" altLang="en-KE"/>
          </a:p>
        </p:txBody>
      </p:sp>
    </p:spTree>
    <p:extLst>
      <p:ext uri="{BB962C8B-B14F-4D97-AF65-F5344CB8AC3E}">
        <p14:creationId xmlns:p14="http://schemas.microsoft.com/office/powerpoint/2010/main" val="10705055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pPr>
              <a:defRPr/>
            </a:pPr>
            <a:fld id="{9CFCF725-5A94-4D74-ACD8-131F390927C6}" type="slidenum">
              <a:rPr lang="en-GB" altLang="en-US" smtClean="0"/>
              <a:pPr>
                <a:defRPr/>
              </a:pPr>
              <a:t>‹#›</a:t>
            </a:fld>
            <a:endParaRPr lang="en-GB" altLang="en-US"/>
          </a:p>
        </p:txBody>
      </p:sp>
    </p:spTree>
    <p:extLst>
      <p:ext uri="{BB962C8B-B14F-4D97-AF65-F5344CB8AC3E}">
        <p14:creationId xmlns:p14="http://schemas.microsoft.com/office/powerpoint/2010/main" val="280366649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GB"/>
          </a:p>
        </p:txBody>
      </p:sp>
      <p:sp>
        <p:nvSpPr>
          <p:cNvPr id="6" name="Footer Placeholder 5"/>
          <p:cNvSpPr>
            <a:spLocks noGrp="1"/>
          </p:cNvSpPr>
          <p:nvPr>
            <p:ph type="ftr" sz="quarter" idx="11"/>
          </p:nvPr>
        </p:nvSpPr>
        <p:spPr/>
        <p:txBody>
          <a:bodyPr/>
          <a:lstStyle/>
          <a:p>
            <a:pPr>
              <a:defRPr/>
            </a:pPr>
            <a:endParaRPr lang="en-GB"/>
          </a:p>
        </p:txBody>
      </p:sp>
      <p:sp>
        <p:nvSpPr>
          <p:cNvPr id="7" name="Slide Number Placeholder 6"/>
          <p:cNvSpPr>
            <a:spLocks noGrp="1"/>
          </p:cNvSpPr>
          <p:nvPr>
            <p:ph type="sldNum" sz="quarter" idx="12"/>
          </p:nvPr>
        </p:nvSpPr>
        <p:spPr/>
        <p:txBody>
          <a:bodyPr/>
          <a:lstStyle/>
          <a:p>
            <a:pPr>
              <a:defRPr/>
            </a:pPr>
            <a:fld id="{2D9ADEE6-D7DE-431C-B744-12B251F1FA3C}" type="slidenum">
              <a:rPr lang="en-GB" altLang="en-US" smtClean="0"/>
              <a:pPr>
                <a:defRPr/>
              </a:pPr>
              <a:t>‹#›</a:t>
            </a:fld>
            <a:endParaRPr lang="en-GB" altLang="en-US"/>
          </a:p>
        </p:txBody>
      </p:sp>
    </p:spTree>
    <p:extLst>
      <p:ext uri="{BB962C8B-B14F-4D97-AF65-F5344CB8AC3E}">
        <p14:creationId xmlns:p14="http://schemas.microsoft.com/office/powerpoint/2010/main" val="353707921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GB"/>
          </a:p>
        </p:txBody>
      </p:sp>
      <p:sp>
        <p:nvSpPr>
          <p:cNvPr id="8" name="Footer Placeholder 7"/>
          <p:cNvSpPr>
            <a:spLocks noGrp="1"/>
          </p:cNvSpPr>
          <p:nvPr>
            <p:ph type="ftr" sz="quarter" idx="11"/>
          </p:nvPr>
        </p:nvSpPr>
        <p:spPr/>
        <p:txBody>
          <a:bodyPr/>
          <a:lstStyle/>
          <a:p>
            <a:pPr>
              <a:defRPr/>
            </a:pPr>
            <a:endParaRPr lang="en-GB"/>
          </a:p>
        </p:txBody>
      </p:sp>
      <p:sp>
        <p:nvSpPr>
          <p:cNvPr id="9" name="Slide Number Placeholder 8"/>
          <p:cNvSpPr>
            <a:spLocks noGrp="1"/>
          </p:cNvSpPr>
          <p:nvPr>
            <p:ph type="sldNum" sz="quarter" idx="12"/>
          </p:nvPr>
        </p:nvSpPr>
        <p:spPr/>
        <p:txBody>
          <a:bodyPr/>
          <a:lstStyle/>
          <a:p>
            <a:pPr>
              <a:defRPr/>
            </a:pPr>
            <a:fld id="{E0A82D71-1508-4B1E-B3EC-DDD82DA7C468}" type="slidenum">
              <a:rPr lang="en-GB" altLang="en-US" smtClean="0"/>
              <a:pPr>
                <a:defRPr/>
              </a:pPr>
              <a:t>‹#›</a:t>
            </a:fld>
            <a:endParaRPr lang="en-GB" altLang="en-US"/>
          </a:p>
        </p:txBody>
      </p:sp>
    </p:spTree>
    <p:extLst>
      <p:ext uri="{BB962C8B-B14F-4D97-AF65-F5344CB8AC3E}">
        <p14:creationId xmlns:p14="http://schemas.microsoft.com/office/powerpoint/2010/main" val="199158994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GB"/>
          </a:p>
        </p:txBody>
      </p:sp>
      <p:sp>
        <p:nvSpPr>
          <p:cNvPr id="4" name="Footer Placeholder 3"/>
          <p:cNvSpPr>
            <a:spLocks noGrp="1"/>
          </p:cNvSpPr>
          <p:nvPr>
            <p:ph type="ftr" sz="quarter" idx="11"/>
          </p:nvPr>
        </p:nvSpPr>
        <p:spPr/>
        <p:txBody>
          <a:bodyPr/>
          <a:lstStyle/>
          <a:p>
            <a:pPr>
              <a:defRPr/>
            </a:pPr>
            <a:endParaRPr lang="en-GB"/>
          </a:p>
        </p:txBody>
      </p:sp>
      <p:sp>
        <p:nvSpPr>
          <p:cNvPr id="5" name="Slide Number Placeholder 4"/>
          <p:cNvSpPr>
            <a:spLocks noGrp="1"/>
          </p:cNvSpPr>
          <p:nvPr>
            <p:ph type="sldNum" sz="quarter" idx="12"/>
          </p:nvPr>
        </p:nvSpPr>
        <p:spPr/>
        <p:txBody>
          <a:bodyPr/>
          <a:lstStyle/>
          <a:p>
            <a:pPr>
              <a:defRPr/>
            </a:pPr>
            <a:fld id="{B91EF48A-3E76-401F-A753-4E7CB9FF7615}" type="slidenum">
              <a:rPr lang="en-GB" altLang="en-US" smtClean="0"/>
              <a:pPr>
                <a:defRPr/>
              </a:pPr>
              <a:t>‹#›</a:t>
            </a:fld>
            <a:endParaRPr lang="en-GB" altLang="en-US"/>
          </a:p>
        </p:txBody>
      </p:sp>
    </p:spTree>
    <p:extLst>
      <p:ext uri="{BB962C8B-B14F-4D97-AF65-F5344CB8AC3E}">
        <p14:creationId xmlns:p14="http://schemas.microsoft.com/office/powerpoint/2010/main" val="22385247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GB"/>
          </a:p>
        </p:txBody>
      </p:sp>
      <p:sp>
        <p:nvSpPr>
          <p:cNvPr id="3" name="Footer Placeholder 2"/>
          <p:cNvSpPr>
            <a:spLocks noGrp="1"/>
          </p:cNvSpPr>
          <p:nvPr>
            <p:ph type="ftr" sz="quarter" idx="11"/>
          </p:nvPr>
        </p:nvSpPr>
        <p:spPr/>
        <p:txBody>
          <a:bodyPr/>
          <a:lstStyle/>
          <a:p>
            <a:pPr>
              <a:defRPr/>
            </a:pPr>
            <a:endParaRPr lang="en-GB"/>
          </a:p>
        </p:txBody>
      </p:sp>
      <p:sp>
        <p:nvSpPr>
          <p:cNvPr id="4" name="Slide Number Placeholder 3"/>
          <p:cNvSpPr>
            <a:spLocks noGrp="1"/>
          </p:cNvSpPr>
          <p:nvPr>
            <p:ph type="sldNum" sz="quarter" idx="12"/>
          </p:nvPr>
        </p:nvSpPr>
        <p:spPr/>
        <p:txBody>
          <a:bodyPr/>
          <a:lstStyle/>
          <a:p>
            <a:pPr>
              <a:defRPr/>
            </a:pPr>
            <a:fld id="{7FE9E6BB-777C-488B-A9EE-E2F7D98C6D8B}" type="slidenum">
              <a:rPr lang="en-GB" altLang="en-US" smtClean="0"/>
              <a:pPr>
                <a:defRPr/>
              </a:pPr>
              <a:t>‹#›</a:t>
            </a:fld>
            <a:endParaRPr lang="en-GB" altLang="en-US"/>
          </a:p>
        </p:txBody>
      </p:sp>
    </p:spTree>
    <p:extLst>
      <p:ext uri="{BB962C8B-B14F-4D97-AF65-F5344CB8AC3E}">
        <p14:creationId xmlns:p14="http://schemas.microsoft.com/office/powerpoint/2010/main" val="181190815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GB"/>
          </a:p>
        </p:txBody>
      </p:sp>
      <p:sp>
        <p:nvSpPr>
          <p:cNvPr id="6" name="Footer Placeholder 5"/>
          <p:cNvSpPr>
            <a:spLocks noGrp="1"/>
          </p:cNvSpPr>
          <p:nvPr>
            <p:ph type="ftr" sz="quarter" idx="11"/>
          </p:nvPr>
        </p:nvSpPr>
        <p:spPr/>
        <p:txBody>
          <a:bodyPr/>
          <a:lstStyle/>
          <a:p>
            <a:pPr>
              <a:defRPr/>
            </a:pPr>
            <a:endParaRPr lang="en-GB"/>
          </a:p>
        </p:txBody>
      </p:sp>
      <p:sp>
        <p:nvSpPr>
          <p:cNvPr id="7" name="Slide Number Placeholder 6"/>
          <p:cNvSpPr>
            <a:spLocks noGrp="1"/>
          </p:cNvSpPr>
          <p:nvPr>
            <p:ph type="sldNum" sz="quarter" idx="12"/>
          </p:nvPr>
        </p:nvSpPr>
        <p:spPr/>
        <p:txBody>
          <a:bodyPr/>
          <a:lstStyle/>
          <a:p>
            <a:pPr>
              <a:defRPr/>
            </a:pPr>
            <a:fld id="{7CEAEB90-996D-4F8D-AD89-73C1B6AB9954}" type="slidenum">
              <a:rPr lang="en-GB" altLang="en-US" smtClean="0"/>
              <a:pPr>
                <a:defRPr/>
              </a:pPr>
              <a:t>‹#›</a:t>
            </a:fld>
            <a:endParaRPr lang="en-GB" altLang="en-US"/>
          </a:p>
        </p:txBody>
      </p:sp>
    </p:spTree>
    <p:extLst>
      <p:ext uri="{BB962C8B-B14F-4D97-AF65-F5344CB8AC3E}">
        <p14:creationId xmlns:p14="http://schemas.microsoft.com/office/powerpoint/2010/main" val="295537006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GB"/>
          </a:p>
        </p:txBody>
      </p:sp>
      <p:sp>
        <p:nvSpPr>
          <p:cNvPr id="6" name="Footer Placeholder 5"/>
          <p:cNvSpPr>
            <a:spLocks noGrp="1"/>
          </p:cNvSpPr>
          <p:nvPr>
            <p:ph type="ftr" sz="quarter" idx="11"/>
          </p:nvPr>
        </p:nvSpPr>
        <p:spPr/>
        <p:txBody>
          <a:bodyPr/>
          <a:lstStyle/>
          <a:p>
            <a:pPr>
              <a:defRPr/>
            </a:pPr>
            <a:endParaRPr lang="en-GB"/>
          </a:p>
        </p:txBody>
      </p:sp>
      <p:sp>
        <p:nvSpPr>
          <p:cNvPr id="7" name="Slide Number Placeholder 6"/>
          <p:cNvSpPr>
            <a:spLocks noGrp="1"/>
          </p:cNvSpPr>
          <p:nvPr>
            <p:ph type="sldNum" sz="quarter" idx="12"/>
          </p:nvPr>
        </p:nvSpPr>
        <p:spPr/>
        <p:txBody>
          <a:bodyPr/>
          <a:lstStyle/>
          <a:p>
            <a:pPr>
              <a:defRPr/>
            </a:pPr>
            <a:fld id="{6CBA91BF-F9D6-477F-B4DA-43558C31C7B2}" type="slidenum">
              <a:rPr lang="en-GB" altLang="en-US" smtClean="0"/>
              <a:pPr>
                <a:defRPr/>
              </a:pPr>
              <a:t>‹#›</a:t>
            </a:fld>
            <a:endParaRPr lang="en-GB" altLang="en-US"/>
          </a:p>
        </p:txBody>
      </p:sp>
    </p:spTree>
    <p:extLst>
      <p:ext uri="{BB962C8B-B14F-4D97-AF65-F5344CB8AC3E}">
        <p14:creationId xmlns:p14="http://schemas.microsoft.com/office/powerpoint/2010/main" val="2568697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pPr>
              <a:defRPr/>
            </a:pPr>
            <a:fld id="{512503F4-73E6-4A33-873C-C558C607D7F2}" type="slidenum">
              <a:rPr lang="en-GB" altLang="en-US" smtClean="0"/>
              <a:pPr>
                <a:defRPr/>
              </a:pPr>
              <a:t>‹#›</a:t>
            </a:fld>
            <a:endParaRPr lang="en-GB" altLang="en-US"/>
          </a:p>
        </p:txBody>
      </p:sp>
    </p:spTree>
    <p:extLst>
      <p:ext uri="{BB962C8B-B14F-4D97-AF65-F5344CB8AC3E}">
        <p14:creationId xmlns:p14="http://schemas.microsoft.com/office/powerpoint/2010/main" val="118083697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pPr>
              <a:defRPr/>
            </a:pPr>
            <a:fld id="{2F205162-DC27-4979-B182-3611F67E3910}" type="slidenum">
              <a:rPr lang="en-GB" altLang="en-US" smtClean="0"/>
              <a:pPr>
                <a:defRPr/>
              </a:pPr>
              <a:t>‹#›</a:t>
            </a:fld>
            <a:endParaRPr lang="en-GB" altLang="en-US"/>
          </a:p>
        </p:txBody>
      </p:sp>
    </p:spTree>
    <p:extLst>
      <p:ext uri="{BB962C8B-B14F-4D97-AF65-F5344CB8AC3E}">
        <p14:creationId xmlns:p14="http://schemas.microsoft.com/office/powerpoint/2010/main" val="102487666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Date Placeholder 3">
            <a:extLst>
              <a:ext uri="{FF2B5EF4-FFF2-40B4-BE49-F238E27FC236}">
                <a16:creationId xmlns:a16="http://schemas.microsoft.com/office/drawing/2014/main" id="{63AFC951-0D9A-4264-8052-3031596C8ECC}"/>
              </a:ext>
            </a:extLst>
          </p:cNvPr>
          <p:cNvSpPr>
            <a:spLocks noGrp="1"/>
          </p:cNvSpPr>
          <p:nvPr>
            <p:ph type="dt" sz="half" idx="10"/>
          </p:nvPr>
        </p:nvSpPr>
        <p:spPr/>
        <p:txBody>
          <a:bodyPr/>
          <a:lstStyle>
            <a:lvl1pPr>
              <a:defRPr/>
            </a:lvl1pPr>
          </a:lstStyle>
          <a:p>
            <a:pPr>
              <a:defRPr/>
            </a:pPr>
            <a:endParaRPr lang="en-GB"/>
          </a:p>
        </p:txBody>
      </p:sp>
      <p:sp>
        <p:nvSpPr>
          <p:cNvPr id="7" name="Footer Placeholder 4">
            <a:extLst>
              <a:ext uri="{FF2B5EF4-FFF2-40B4-BE49-F238E27FC236}">
                <a16:creationId xmlns:a16="http://schemas.microsoft.com/office/drawing/2014/main" id="{4003285F-8059-4ED6-98B3-CB6A57E541D2}"/>
              </a:ext>
            </a:extLst>
          </p:cNvPr>
          <p:cNvSpPr>
            <a:spLocks noGrp="1"/>
          </p:cNvSpPr>
          <p:nvPr>
            <p:ph type="ftr" sz="quarter" idx="11"/>
          </p:nvPr>
        </p:nvSpPr>
        <p:spPr/>
        <p:txBody>
          <a:bodyPr/>
          <a:lstStyle>
            <a:lvl1pPr>
              <a:defRPr/>
            </a:lvl1pPr>
          </a:lstStyle>
          <a:p>
            <a:pPr>
              <a:defRPr/>
            </a:pPr>
            <a:endParaRPr lang="en-GB"/>
          </a:p>
        </p:txBody>
      </p:sp>
      <p:sp>
        <p:nvSpPr>
          <p:cNvPr id="8" name="Slide Number Placeholder 5">
            <a:extLst>
              <a:ext uri="{FF2B5EF4-FFF2-40B4-BE49-F238E27FC236}">
                <a16:creationId xmlns:a16="http://schemas.microsoft.com/office/drawing/2014/main" id="{19F482F9-44C1-4443-BE5A-C791172F176D}"/>
              </a:ext>
            </a:extLst>
          </p:cNvPr>
          <p:cNvSpPr>
            <a:spLocks noGrp="1"/>
          </p:cNvSpPr>
          <p:nvPr>
            <p:ph type="sldNum" sz="quarter" idx="12"/>
          </p:nvPr>
        </p:nvSpPr>
        <p:spPr/>
        <p:txBody>
          <a:bodyPr/>
          <a:lstStyle>
            <a:lvl1pPr>
              <a:defRPr/>
            </a:lvl1pPr>
          </a:lstStyle>
          <a:p>
            <a:pPr>
              <a:defRPr/>
            </a:pPr>
            <a:fld id="{BFB8E0B3-3E9B-44CF-894B-DCC86EB67F48}" type="slidenum">
              <a:rPr lang="en-GB" altLang="en-US"/>
              <a:pPr>
                <a:defRPr/>
              </a:pPr>
              <a:t>‹#›</a:t>
            </a:fld>
            <a:endParaRPr lang="en-GB" altLang="en-US"/>
          </a:p>
        </p:txBody>
      </p:sp>
    </p:spTree>
    <p:extLst>
      <p:ext uri="{BB962C8B-B14F-4D97-AF65-F5344CB8AC3E}">
        <p14:creationId xmlns:p14="http://schemas.microsoft.com/office/powerpoint/2010/main" val="152186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theme" Target="../theme/theme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4914" name="Rectangle 2">
            <a:extLst>
              <a:ext uri="{FF2B5EF4-FFF2-40B4-BE49-F238E27FC236}">
                <a16:creationId xmlns:a16="http://schemas.microsoft.com/office/drawing/2014/main" id="{D3E3F318-BFA0-41AE-8D05-2D0B43780D52}"/>
              </a:ext>
            </a:extLst>
          </p:cNvPr>
          <p:cNvSpPr>
            <a:spLocks noGrp="1" noChangeArrowheads="1"/>
          </p:cNvSpPr>
          <p:nvPr>
            <p:ph type="dt" sz="half" idx="2"/>
          </p:nvPr>
        </p:nvSpPr>
        <p:spPr bwMode="auto">
          <a:xfrm>
            <a:off x="609600" y="6251575"/>
            <a:ext cx="28448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200">
                <a:latin typeface="Arial" charset="0"/>
                <a:cs typeface="Arial" charset="0"/>
              </a:defRPr>
            </a:lvl1pPr>
          </a:lstStyle>
          <a:p>
            <a:pPr>
              <a:defRPr/>
            </a:pPr>
            <a:endParaRPr lang="en-GB"/>
          </a:p>
        </p:txBody>
      </p:sp>
      <p:sp>
        <p:nvSpPr>
          <p:cNvPr id="294915" name="Rectangle 3">
            <a:extLst>
              <a:ext uri="{FF2B5EF4-FFF2-40B4-BE49-F238E27FC236}">
                <a16:creationId xmlns:a16="http://schemas.microsoft.com/office/drawing/2014/main" id="{2A21487B-AFEB-4898-A2D1-AD4C34E40F92}"/>
              </a:ext>
            </a:extLst>
          </p:cNvPr>
          <p:cNvSpPr>
            <a:spLocks noGrp="1" noChangeArrowheads="1"/>
          </p:cNvSpPr>
          <p:nvPr>
            <p:ph type="sldNum" sz="quarter" idx="4"/>
          </p:nvPr>
        </p:nvSpPr>
        <p:spPr bwMode="auto">
          <a:xfrm>
            <a:off x="8737600" y="6248400"/>
            <a:ext cx="28448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fontAlgn="auto" hangingPunct="1">
              <a:spcBef>
                <a:spcPts val="0"/>
              </a:spcBef>
              <a:spcAft>
                <a:spcPts val="0"/>
              </a:spcAft>
              <a:defRPr sz="1200">
                <a:latin typeface="Arial" panose="020B0604020202020204" pitchFamily="34" charset="0"/>
              </a:defRPr>
            </a:lvl1pPr>
          </a:lstStyle>
          <a:p>
            <a:pPr>
              <a:defRPr/>
            </a:pPr>
            <a:fld id="{C8DD501E-E9D0-4CB5-B7FF-FC99516023D8}" type="slidenum">
              <a:rPr lang="en-GB" altLang="en-US"/>
              <a:pPr>
                <a:defRPr/>
              </a:pPr>
              <a:t>‹#›</a:t>
            </a:fld>
            <a:endParaRPr lang="en-GB" altLang="en-US"/>
          </a:p>
        </p:txBody>
      </p:sp>
      <p:grpSp>
        <p:nvGrpSpPr>
          <p:cNvPr id="2052" name="Group 4"/>
          <p:cNvGrpSpPr>
            <a:grpSpLocks/>
          </p:cNvGrpSpPr>
          <p:nvPr/>
        </p:nvGrpSpPr>
        <p:grpSpPr bwMode="auto">
          <a:xfrm>
            <a:off x="1" y="1"/>
            <a:ext cx="12187767" cy="6850063"/>
            <a:chOff x="0" y="0"/>
            <a:chExt cx="5758" cy="4315"/>
          </a:xfrm>
        </p:grpSpPr>
        <p:grpSp>
          <p:nvGrpSpPr>
            <p:cNvPr id="2056" name="Group 5"/>
            <p:cNvGrpSpPr>
              <a:grpSpLocks/>
            </p:cNvGrpSpPr>
            <p:nvPr userDrawn="1"/>
          </p:nvGrpSpPr>
          <p:grpSpPr bwMode="auto">
            <a:xfrm>
              <a:off x="1728" y="2230"/>
              <a:ext cx="4027" cy="2085"/>
              <a:chOff x="1728" y="2230"/>
              <a:chExt cx="4027" cy="2085"/>
            </a:xfrm>
          </p:grpSpPr>
          <p:sp>
            <p:nvSpPr>
              <p:cNvPr id="294918" name="Freeform 6">
                <a:extLst>
                  <a:ext uri="{FF2B5EF4-FFF2-40B4-BE49-F238E27FC236}">
                    <a16:creationId xmlns:a16="http://schemas.microsoft.com/office/drawing/2014/main" id="{AF858560-6657-4A04-BD22-ABACB7A5A2CF}"/>
                  </a:ext>
                </a:extLst>
              </p:cNvPr>
              <p:cNvSpPr>
                <a:spLocks/>
              </p:cNvSpPr>
              <p:nvPr/>
            </p:nvSpPr>
            <p:spPr bwMode="hidden">
              <a:xfrm>
                <a:off x="1728" y="2644"/>
                <a:ext cx="2882" cy="1671"/>
              </a:xfrm>
              <a:custGeom>
                <a:avLst/>
                <a:gdLst/>
                <a:ahLst/>
                <a:cxnLst>
                  <a:cxn ang="0">
                    <a:pos x="2740" y="528"/>
                  </a:cxn>
                  <a:cxn ang="0">
                    <a:pos x="2632" y="484"/>
                  </a:cxn>
                  <a:cxn ang="0">
                    <a:pos x="2480" y="424"/>
                  </a:cxn>
                  <a:cxn ang="0">
                    <a:pos x="2203" y="343"/>
                  </a:cxn>
                  <a:cxn ang="0">
                    <a:pos x="1970" y="277"/>
                  </a:cxn>
                  <a:cxn ang="0">
                    <a:pos x="1807" y="212"/>
                  </a:cxn>
                  <a:cxn ang="0">
                    <a:pos x="1693" y="152"/>
                  </a:cxn>
                  <a:cxn ang="0">
                    <a:pos x="1628" y="103"/>
                  </a:cxn>
                  <a:cxn ang="0">
                    <a:pos x="1590" y="60"/>
                  </a:cxn>
                  <a:cxn ang="0">
                    <a:pos x="1579" y="27"/>
                  </a:cxn>
                  <a:cxn ang="0">
                    <a:pos x="1585" y="0"/>
                  </a:cxn>
                  <a:cxn ang="0">
                    <a:pos x="1557" y="49"/>
                  </a:cxn>
                  <a:cxn ang="0">
                    <a:pos x="1568" y="98"/>
                  </a:cxn>
                  <a:cxn ang="0">
                    <a:pos x="1617" y="141"/>
                  </a:cxn>
                  <a:cxn ang="0">
                    <a:pos x="1688" y="185"/>
                  </a:cxn>
                  <a:cxn ang="0">
                    <a:pos x="1791" y="228"/>
                  </a:cxn>
                  <a:cxn ang="0">
                    <a:pos x="2040" y="310"/>
                  </a:cxn>
                  <a:cxn ang="0">
                    <a:pos x="2285" y="381"/>
                  </a:cxn>
                  <a:cxn ang="0">
                    <a:pos x="2464" y="435"/>
                  </a:cxn>
                  <a:cxn ang="0">
                    <a:pos x="2605" y="484"/>
                  </a:cxn>
                  <a:cxn ang="0">
                    <a:pos x="2708" y="528"/>
                  </a:cxn>
                  <a:cxn ang="0">
                    <a:pos x="2768" y="560"/>
                  </a:cxn>
                  <a:cxn ang="0">
                    <a:pos x="2795" y="593"/>
                  </a:cxn>
                  <a:cxn ang="0">
                    <a:pos x="2795" y="642"/>
                  </a:cxn>
                  <a:cxn ang="0">
                    <a:pos x="2762" y="691"/>
                  </a:cxn>
                  <a:cxn ang="0">
                    <a:pos x="2692" y="735"/>
                  </a:cxn>
                  <a:cxn ang="0">
                    <a:pos x="2589" y="778"/>
                  </a:cxn>
                  <a:cxn ang="0">
                    <a:pos x="2458" y="822"/>
                  </a:cxn>
                  <a:cxn ang="0">
                    <a:pos x="2301" y="865"/>
                  </a:cxn>
                  <a:cxn ang="0">
                    <a:pos x="2030" y="930"/>
                  </a:cxn>
                  <a:cxn ang="0">
                    <a:pos x="1606" y="1034"/>
                  </a:cxn>
                  <a:cxn ang="0">
                    <a:pos x="1145" y="1164"/>
                  </a:cxn>
                  <a:cxn ang="0">
                    <a:pos x="673" y="1328"/>
                  </a:cxn>
                  <a:cxn ang="0">
                    <a:pos x="217" y="1545"/>
                  </a:cxn>
                  <a:cxn ang="0">
                    <a:pos x="353" y="1671"/>
                  </a:cxn>
                  <a:cxn ang="0">
                    <a:pos x="754" y="1469"/>
                  </a:cxn>
                  <a:cxn ang="0">
                    <a:pos x="1145" y="1311"/>
                  </a:cxn>
                  <a:cxn ang="0">
                    <a:pos x="1519" y="1186"/>
                  </a:cxn>
                  <a:cxn ang="0">
                    <a:pos x="1861" y="1083"/>
                  </a:cxn>
                  <a:cxn ang="0">
                    <a:pos x="2165" y="1007"/>
                  </a:cxn>
                  <a:cxn ang="0">
                    <a:pos x="2426" y="947"/>
                  </a:cxn>
                  <a:cxn ang="0">
                    <a:pos x="2626" y="892"/>
                  </a:cxn>
                  <a:cxn ang="0">
                    <a:pos x="2762" y="838"/>
                  </a:cxn>
                  <a:cxn ang="0">
                    <a:pos x="2827" y="794"/>
                  </a:cxn>
                  <a:cxn ang="0">
                    <a:pos x="2865" y="745"/>
                  </a:cxn>
                  <a:cxn ang="0">
                    <a:pos x="2882" y="702"/>
                  </a:cxn>
                  <a:cxn ang="0">
                    <a:pos x="2854" y="620"/>
                  </a:cxn>
                  <a:cxn ang="0">
                    <a:pos x="2800" y="560"/>
                  </a:cxn>
                  <a:cxn ang="0">
                    <a:pos x="2773" y="544"/>
                  </a:cxn>
                </a:cxnLst>
                <a:rect l="0" t="0" r="r" b="b"/>
                <a:pathLst>
                  <a:path w="2882" h="1671">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rotWithShape="0">
                <a:gsLst>
                  <a:gs pos="0">
                    <a:schemeClr val="bg1"/>
                  </a:gs>
                  <a:gs pos="100000">
                    <a:schemeClr val="bg1">
                      <a:gamma/>
                      <a:shade val="90980"/>
                      <a:invGamma/>
                    </a:schemeClr>
                  </a:gs>
                </a:gsLst>
                <a:lin ang="0" scaled="1"/>
              </a:gradFill>
              <a:ln w="9525">
                <a:noFill/>
                <a:round/>
                <a:headEnd/>
                <a:tailEnd/>
              </a:ln>
            </p:spPr>
            <p:txBody>
              <a:bodyPr/>
              <a:lstStyle/>
              <a:p>
                <a:pPr eaLnBrk="1" fontAlgn="auto" hangingPunct="1">
                  <a:spcBef>
                    <a:spcPts val="0"/>
                  </a:spcBef>
                  <a:spcAft>
                    <a:spcPts val="0"/>
                  </a:spcAft>
                  <a:defRPr/>
                </a:pPr>
                <a:endParaRPr lang="en-GB">
                  <a:latin typeface="+mn-lt"/>
                </a:endParaRPr>
              </a:p>
            </p:txBody>
          </p:sp>
          <p:sp>
            <p:nvSpPr>
              <p:cNvPr id="294919" name="Freeform 7">
                <a:extLst>
                  <a:ext uri="{FF2B5EF4-FFF2-40B4-BE49-F238E27FC236}">
                    <a16:creationId xmlns:a16="http://schemas.microsoft.com/office/drawing/2014/main" id="{3B12EFC0-22AB-4D1B-8DD3-AAEE145C2A12}"/>
                  </a:ext>
                </a:extLst>
              </p:cNvPr>
              <p:cNvSpPr>
                <a:spLocks/>
              </p:cNvSpPr>
              <p:nvPr/>
            </p:nvSpPr>
            <p:spPr bwMode="hidden">
              <a:xfrm>
                <a:off x="4170" y="2671"/>
                <a:ext cx="1259" cy="811"/>
              </a:xfrm>
              <a:custGeom>
                <a:avLst/>
                <a:gdLst/>
                <a:ahLst/>
                <a:cxnLst>
                  <a:cxn ang="0">
                    <a:pos x="1259" y="615"/>
                  </a:cxn>
                  <a:cxn ang="0">
                    <a:pos x="1248" y="588"/>
                  </a:cxn>
                  <a:cxn ang="0">
                    <a:pos x="1237" y="566"/>
                  </a:cxn>
                  <a:cxn ang="0">
                    <a:pos x="1216" y="539"/>
                  </a:cxn>
                  <a:cxn ang="0">
                    <a:pos x="1188" y="517"/>
                  </a:cxn>
                  <a:cxn ang="0">
                    <a:pos x="1123" y="479"/>
                  </a:cxn>
                  <a:cxn ang="0">
                    <a:pos x="1042" y="441"/>
                  </a:cxn>
                  <a:cxn ang="0">
                    <a:pos x="944" y="408"/>
                  </a:cxn>
                  <a:cxn ang="0">
                    <a:pos x="841" y="381"/>
                  </a:cxn>
                  <a:cxn ang="0">
                    <a:pos x="727" y="348"/>
                  </a:cxn>
                  <a:cxn ang="0">
                    <a:pos x="613" y="321"/>
                  </a:cxn>
                  <a:cxn ang="0">
                    <a:pos x="499" y="294"/>
                  </a:cxn>
                  <a:cxn ang="0">
                    <a:pos x="391" y="261"/>
                  </a:cxn>
                  <a:cxn ang="0">
                    <a:pos x="288" y="229"/>
                  </a:cxn>
                  <a:cxn ang="0">
                    <a:pos x="195" y="196"/>
                  </a:cxn>
                  <a:cxn ang="0">
                    <a:pos x="119" y="152"/>
                  </a:cxn>
                  <a:cxn ang="0">
                    <a:pos x="54" y="109"/>
                  </a:cxn>
                  <a:cxn ang="0">
                    <a:pos x="33" y="87"/>
                  </a:cxn>
                  <a:cxn ang="0">
                    <a:pos x="16" y="60"/>
                  </a:cxn>
                  <a:cxn ang="0">
                    <a:pos x="5" y="33"/>
                  </a:cxn>
                  <a:cxn ang="0">
                    <a:pos x="0" y="0"/>
                  </a:cxn>
                  <a:cxn ang="0">
                    <a:pos x="0" y="6"/>
                  </a:cxn>
                  <a:cxn ang="0">
                    <a:pos x="0" y="11"/>
                  </a:cxn>
                  <a:cxn ang="0">
                    <a:pos x="0" y="38"/>
                  </a:cxn>
                  <a:cxn ang="0">
                    <a:pos x="5" y="60"/>
                  </a:cxn>
                  <a:cxn ang="0">
                    <a:pos x="16" y="87"/>
                  </a:cxn>
                  <a:cxn ang="0">
                    <a:pos x="33" y="114"/>
                  </a:cxn>
                  <a:cxn ang="0">
                    <a:pos x="54" y="142"/>
                  </a:cxn>
                  <a:cxn ang="0">
                    <a:pos x="87" y="174"/>
                  </a:cxn>
                  <a:cxn ang="0">
                    <a:pos x="125" y="207"/>
                  </a:cxn>
                  <a:cxn ang="0">
                    <a:pos x="179" y="240"/>
                  </a:cxn>
                  <a:cxn ang="0">
                    <a:pos x="244" y="278"/>
                  </a:cxn>
                  <a:cxn ang="0">
                    <a:pos x="326" y="310"/>
                  </a:cxn>
                  <a:cxn ang="0">
                    <a:pos x="418" y="348"/>
                  </a:cxn>
                  <a:cxn ang="0">
                    <a:pos x="526" y="381"/>
                  </a:cxn>
                  <a:cxn ang="0">
                    <a:pos x="657" y="414"/>
                  </a:cxn>
                  <a:cxn ang="0">
                    <a:pos x="749" y="435"/>
                  </a:cxn>
                  <a:cxn ang="0">
                    <a:pos x="830" y="463"/>
                  </a:cxn>
                  <a:cxn ang="0">
                    <a:pos x="901" y="490"/>
                  </a:cxn>
                  <a:cxn ang="0">
                    <a:pos x="966" y="512"/>
                  </a:cxn>
                  <a:cxn ang="0">
                    <a:pos x="1015" y="539"/>
                  </a:cxn>
                  <a:cxn ang="0">
                    <a:pos x="1053" y="566"/>
                  </a:cxn>
                  <a:cxn ang="0">
                    <a:pos x="1080" y="593"/>
                  </a:cxn>
                  <a:cxn ang="0">
                    <a:pos x="1102" y="620"/>
                  </a:cxn>
                  <a:cxn ang="0">
                    <a:pos x="1112" y="648"/>
                  </a:cxn>
                  <a:cxn ang="0">
                    <a:pos x="1118" y="675"/>
                  </a:cxn>
                  <a:cxn ang="0">
                    <a:pos x="1112" y="697"/>
                  </a:cxn>
                  <a:cxn ang="0">
                    <a:pos x="1096" y="724"/>
                  </a:cxn>
                  <a:cxn ang="0">
                    <a:pos x="1080" y="746"/>
                  </a:cxn>
                  <a:cxn ang="0">
                    <a:pos x="1053" y="767"/>
                  </a:cxn>
                  <a:cxn ang="0">
                    <a:pos x="1015" y="789"/>
                  </a:cxn>
                  <a:cxn ang="0">
                    <a:pos x="977" y="811"/>
                  </a:cxn>
                  <a:cxn ang="0">
                    <a:pos x="1047" y="789"/>
                  </a:cxn>
                  <a:cxn ang="0">
                    <a:pos x="1107" y="767"/>
                  </a:cxn>
                  <a:cxn ang="0">
                    <a:pos x="1156" y="746"/>
                  </a:cxn>
                  <a:cxn ang="0">
                    <a:pos x="1199" y="724"/>
                  </a:cxn>
                  <a:cxn ang="0">
                    <a:pos x="1226" y="702"/>
                  </a:cxn>
                  <a:cxn ang="0">
                    <a:pos x="1248" y="675"/>
                  </a:cxn>
                  <a:cxn ang="0">
                    <a:pos x="1259" y="648"/>
                  </a:cxn>
                  <a:cxn ang="0">
                    <a:pos x="1259" y="615"/>
                  </a:cxn>
                  <a:cxn ang="0">
                    <a:pos x="1259" y="615"/>
                  </a:cxn>
                </a:cxnLst>
                <a:rect l="0" t="0" r="r" b="b"/>
                <a:pathLst>
                  <a:path w="1259" h="811">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rotWithShape="0">
                <a:gsLst>
                  <a:gs pos="0">
                    <a:schemeClr val="bg1"/>
                  </a:gs>
                  <a:gs pos="100000">
                    <a:schemeClr val="bg1">
                      <a:gamma/>
                      <a:shade val="90980"/>
                      <a:invGamma/>
                    </a:schemeClr>
                  </a:gs>
                </a:gsLst>
                <a:lin ang="2700000" scaled="1"/>
              </a:gradFill>
              <a:ln w="9525">
                <a:noFill/>
                <a:round/>
                <a:headEnd/>
                <a:tailEnd/>
              </a:ln>
            </p:spPr>
            <p:txBody>
              <a:bodyPr/>
              <a:lstStyle/>
              <a:p>
                <a:pPr eaLnBrk="1" fontAlgn="auto" hangingPunct="1">
                  <a:spcBef>
                    <a:spcPts val="0"/>
                  </a:spcBef>
                  <a:spcAft>
                    <a:spcPts val="0"/>
                  </a:spcAft>
                  <a:defRPr/>
                </a:pPr>
                <a:endParaRPr lang="en-GB">
                  <a:latin typeface="+mn-lt"/>
                </a:endParaRPr>
              </a:p>
            </p:txBody>
          </p:sp>
          <p:sp>
            <p:nvSpPr>
              <p:cNvPr id="294920" name="Freeform 8">
                <a:extLst>
                  <a:ext uri="{FF2B5EF4-FFF2-40B4-BE49-F238E27FC236}">
                    <a16:creationId xmlns:a16="http://schemas.microsoft.com/office/drawing/2014/main" id="{EB7E2C3F-C994-4455-AD5C-E63A783A9877}"/>
                  </a:ext>
                </a:extLst>
              </p:cNvPr>
              <p:cNvSpPr>
                <a:spLocks/>
              </p:cNvSpPr>
              <p:nvPr/>
            </p:nvSpPr>
            <p:spPr bwMode="hidden">
              <a:xfrm>
                <a:off x="2900" y="3346"/>
                <a:ext cx="2849" cy="969"/>
              </a:xfrm>
              <a:custGeom>
                <a:avLst/>
                <a:gdLst/>
                <a:ahLst/>
                <a:cxnLst>
                  <a:cxn ang="0">
                    <a:pos x="92" y="958"/>
                  </a:cxn>
                  <a:cxn ang="0">
                    <a:pos x="0" y="969"/>
                  </a:cxn>
                  <a:cxn ang="0">
                    <a:pos x="391" y="969"/>
                  </a:cxn>
                  <a:cxn ang="0">
                    <a:pos x="434" y="947"/>
                  </a:cxn>
                  <a:cxn ang="0">
                    <a:pos x="483" y="914"/>
                  </a:cxn>
                  <a:cxn ang="0">
                    <a:pos x="554" y="876"/>
                  </a:cxn>
                  <a:cxn ang="0">
                    <a:pos x="635" y="838"/>
                  </a:cxn>
                  <a:cxn ang="0">
                    <a:pos x="727" y="794"/>
                  </a:cxn>
                  <a:cxn ang="0">
                    <a:pos x="836" y="745"/>
                  </a:cxn>
                  <a:cxn ang="0">
                    <a:pos x="961" y="696"/>
                  </a:cxn>
                  <a:cxn ang="0">
                    <a:pos x="1102" y="642"/>
                  </a:cxn>
                  <a:cxn ang="0">
                    <a:pos x="1259" y="582"/>
                  </a:cxn>
                  <a:cxn ang="0">
                    <a:pos x="1433" y="522"/>
                  </a:cxn>
                  <a:cxn ang="0">
                    <a:pos x="1623" y="462"/>
                  </a:cxn>
                  <a:cxn ang="0">
                    <a:pos x="1829" y="403"/>
                  </a:cxn>
                  <a:cxn ang="0">
                    <a:pos x="2057" y="343"/>
                  </a:cxn>
                  <a:cxn ang="0">
                    <a:pos x="2301" y="283"/>
                  </a:cxn>
                  <a:cxn ang="0">
                    <a:pos x="2567" y="223"/>
                  </a:cxn>
                  <a:cxn ang="0">
                    <a:pos x="2849" y="163"/>
                  </a:cxn>
                  <a:cxn ang="0">
                    <a:pos x="2849" y="0"/>
                  </a:cxn>
                  <a:cxn ang="0">
                    <a:pos x="2817" y="16"/>
                  </a:cxn>
                  <a:cxn ang="0">
                    <a:pos x="2773" y="33"/>
                  </a:cxn>
                  <a:cxn ang="0">
                    <a:pos x="2719" y="54"/>
                  </a:cxn>
                  <a:cxn ang="0">
                    <a:pos x="2648" y="76"/>
                  </a:cxn>
                  <a:cxn ang="0">
                    <a:pos x="2572" y="98"/>
                  </a:cxn>
                  <a:cxn ang="0">
                    <a:pos x="2491" y="120"/>
                  </a:cxn>
                  <a:cxn ang="0">
                    <a:pos x="2399" y="147"/>
                  </a:cxn>
                  <a:cxn ang="0">
                    <a:pos x="2301" y="169"/>
                  </a:cxn>
                  <a:cxn ang="0">
                    <a:pos x="2095" y="223"/>
                  </a:cxn>
                  <a:cxn ang="0">
                    <a:pos x="1889" y="277"/>
                  </a:cxn>
                  <a:cxn ang="0">
                    <a:pos x="1688" y="326"/>
                  </a:cxn>
                  <a:cxn ang="0">
                    <a:pos x="1590" y="354"/>
                  </a:cxn>
                  <a:cxn ang="0">
                    <a:pos x="1503" y="381"/>
                  </a:cxn>
                  <a:cxn ang="0">
                    <a:pos x="1107" y="506"/>
                  </a:cxn>
                  <a:cxn ang="0">
                    <a:pos x="912" y="577"/>
                  </a:cxn>
                  <a:cxn ang="0">
                    <a:pos x="727" y="647"/>
                  </a:cxn>
                  <a:cxn ang="0">
                    <a:pos x="548" y="718"/>
                  </a:cxn>
                  <a:cxn ang="0">
                    <a:pos x="380" y="794"/>
                  </a:cxn>
                  <a:cxn ang="0">
                    <a:pos x="228" y="876"/>
                  </a:cxn>
                  <a:cxn ang="0">
                    <a:pos x="92" y="958"/>
                  </a:cxn>
                  <a:cxn ang="0">
                    <a:pos x="92" y="958"/>
                  </a:cxn>
                </a:cxnLst>
                <a:rect l="0" t="0" r="r" b="b"/>
                <a:pathLst>
                  <a:path w="2849" h="96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rotWithShape="0">
                <a:gsLst>
                  <a:gs pos="0">
                    <a:schemeClr val="bg1">
                      <a:gamma/>
                      <a:shade val="81961"/>
                      <a:invGamma/>
                    </a:schemeClr>
                  </a:gs>
                  <a:gs pos="100000">
                    <a:schemeClr val="bg1"/>
                  </a:gs>
                </a:gsLst>
                <a:lin ang="5400000" scaled="1"/>
              </a:gradFill>
              <a:ln w="9525">
                <a:noFill/>
                <a:round/>
                <a:headEnd/>
                <a:tailEnd/>
              </a:ln>
            </p:spPr>
            <p:txBody>
              <a:bodyPr/>
              <a:lstStyle/>
              <a:p>
                <a:pPr eaLnBrk="1" fontAlgn="auto" hangingPunct="1">
                  <a:spcBef>
                    <a:spcPts val="0"/>
                  </a:spcBef>
                  <a:spcAft>
                    <a:spcPts val="0"/>
                  </a:spcAft>
                  <a:defRPr/>
                </a:pPr>
                <a:endParaRPr lang="en-GB">
                  <a:latin typeface="+mn-lt"/>
                </a:endParaRPr>
              </a:p>
            </p:txBody>
          </p:sp>
          <p:sp>
            <p:nvSpPr>
              <p:cNvPr id="2062" name="Freeform 9"/>
              <p:cNvSpPr>
                <a:spLocks/>
              </p:cNvSpPr>
              <p:nvPr/>
            </p:nvSpPr>
            <p:spPr bwMode="hidden">
              <a:xfrm>
                <a:off x="2748" y="2230"/>
                <a:ext cx="3007" cy="2085"/>
              </a:xfrm>
              <a:custGeom>
                <a:avLst/>
                <a:gdLst>
                  <a:gd name="T0" fmla="*/ 1433 w 3007"/>
                  <a:gd name="T1" fmla="*/ 474 h 2085"/>
                  <a:gd name="T2" fmla="*/ 1460 w 3007"/>
                  <a:gd name="T3" fmla="*/ 528 h 2085"/>
                  <a:gd name="T4" fmla="*/ 1541 w 3007"/>
                  <a:gd name="T5" fmla="*/ 593 h 2085"/>
                  <a:gd name="T6" fmla="*/ 1715 w 3007"/>
                  <a:gd name="T7" fmla="*/ 670 h 2085"/>
                  <a:gd name="T8" fmla="*/ 1927 w 3007"/>
                  <a:gd name="T9" fmla="*/ 735 h 2085"/>
                  <a:gd name="T10" fmla="*/ 2155 w 3007"/>
                  <a:gd name="T11" fmla="*/ 789 h 2085"/>
                  <a:gd name="T12" fmla="*/ 2372 w 3007"/>
                  <a:gd name="T13" fmla="*/ 849 h 2085"/>
                  <a:gd name="T14" fmla="*/ 2551 w 3007"/>
                  <a:gd name="T15" fmla="*/ 920 h 2085"/>
                  <a:gd name="T16" fmla="*/ 2638 w 3007"/>
                  <a:gd name="T17" fmla="*/ 980 h 2085"/>
                  <a:gd name="T18" fmla="*/ 2676 w 3007"/>
                  <a:gd name="T19" fmla="*/ 1029 h 2085"/>
                  <a:gd name="T20" fmla="*/ 2681 w 3007"/>
                  <a:gd name="T21" fmla="*/ 1083 h 2085"/>
                  <a:gd name="T22" fmla="*/ 2665 w 3007"/>
                  <a:gd name="T23" fmla="*/ 1127 h 2085"/>
                  <a:gd name="T24" fmla="*/ 2616 w 3007"/>
                  <a:gd name="T25" fmla="*/ 1170 h 2085"/>
                  <a:gd name="T26" fmla="*/ 2545 w 3007"/>
                  <a:gd name="T27" fmla="*/ 1208 h 2085"/>
                  <a:gd name="T28" fmla="*/ 2448 w 3007"/>
                  <a:gd name="T29" fmla="*/ 1241 h 2085"/>
                  <a:gd name="T30" fmla="*/ 2328 w 3007"/>
                  <a:gd name="T31" fmla="*/ 1274 h 2085"/>
                  <a:gd name="T32" fmla="*/ 2106 w 3007"/>
                  <a:gd name="T33" fmla="*/ 1328 h 2085"/>
                  <a:gd name="T34" fmla="*/ 1742 w 3007"/>
                  <a:gd name="T35" fmla="*/ 1421 h 2085"/>
                  <a:gd name="T36" fmla="*/ 1308 w 3007"/>
                  <a:gd name="T37" fmla="*/ 1540 h 2085"/>
                  <a:gd name="T38" fmla="*/ 820 w 3007"/>
                  <a:gd name="T39" fmla="*/ 1709 h 2085"/>
                  <a:gd name="T40" fmla="*/ 282 w 3007"/>
                  <a:gd name="T41" fmla="*/ 1943 h 2085"/>
                  <a:gd name="T42" fmla="*/ 152 w 3007"/>
                  <a:gd name="T43" fmla="*/ 2085 h 2085"/>
                  <a:gd name="T44" fmla="*/ 386 w 3007"/>
                  <a:gd name="T45" fmla="*/ 1992 h 2085"/>
                  <a:gd name="T46" fmla="*/ 700 w 3007"/>
                  <a:gd name="T47" fmla="*/ 1834 h 2085"/>
                  <a:gd name="T48" fmla="*/ 1064 w 3007"/>
                  <a:gd name="T49" fmla="*/ 1693 h 2085"/>
                  <a:gd name="T50" fmla="*/ 1661 w 3007"/>
                  <a:gd name="T51" fmla="*/ 1497 h 2085"/>
                  <a:gd name="T52" fmla="*/ 1845 w 3007"/>
                  <a:gd name="T53" fmla="*/ 1442 h 2085"/>
                  <a:gd name="T54" fmla="*/ 2252 w 3007"/>
                  <a:gd name="T55" fmla="*/ 1339 h 2085"/>
                  <a:gd name="T56" fmla="*/ 2551 w 3007"/>
                  <a:gd name="T57" fmla="*/ 1263 h 2085"/>
                  <a:gd name="T58" fmla="*/ 2730 w 3007"/>
                  <a:gd name="T59" fmla="*/ 1214 h 2085"/>
                  <a:gd name="T60" fmla="*/ 2876 w 3007"/>
                  <a:gd name="T61" fmla="*/ 1170 h 2085"/>
                  <a:gd name="T62" fmla="*/ 2974 w 3007"/>
                  <a:gd name="T63" fmla="*/ 1132 h 2085"/>
                  <a:gd name="T64" fmla="*/ 3007 w 3007"/>
                  <a:gd name="T65" fmla="*/ 871 h 2085"/>
                  <a:gd name="T66" fmla="*/ 2860 w 3007"/>
                  <a:gd name="T67" fmla="*/ 844 h 2085"/>
                  <a:gd name="T68" fmla="*/ 2670 w 3007"/>
                  <a:gd name="T69" fmla="*/ 806 h 2085"/>
                  <a:gd name="T70" fmla="*/ 2458 w 3007"/>
                  <a:gd name="T71" fmla="*/ 757 h 2085"/>
                  <a:gd name="T72" fmla="*/ 2138 w 3007"/>
                  <a:gd name="T73" fmla="*/ 670 h 2085"/>
                  <a:gd name="T74" fmla="*/ 1959 w 3007"/>
                  <a:gd name="T75" fmla="*/ 604 h 2085"/>
                  <a:gd name="T76" fmla="*/ 1824 w 3007"/>
                  <a:gd name="T77" fmla="*/ 534 h 2085"/>
                  <a:gd name="T78" fmla="*/ 1769 w 3007"/>
                  <a:gd name="T79" fmla="*/ 474 h 2085"/>
                  <a:gd name="T80" fmla="*/ 1753 w 3007"/>
                  <a:gd name="T81" fmla="*/ 436 h 2085"/>
                  <a:gd name="T82" fmla="*/ 1780 w 3007"/>
                  <a:gd name="T83" fmla="*/ 381 h 2085"/>
                  <a:gd name="T84" fmla="*/ 1862 w 3007"/>
                  <a:gd name="T85" fmla="*/ 316 h 2085"/>
                  <a:gd name="T86" fmla="*/ 1986 w 3007"/>
                  <a:gd name="T87" fmla="*/ 267 h 2085"/>
                  <a:gd name="T88" fmla="*/ 2149 w 3007"/>
                  <a:gd name="T89" fmla="*/ 229 h 2085"/>
                  <a:gd name="T90" fmla="*/ 2431 w 3007"/>
                  <a:gd name="T91" fmla="*/ 180 h 2085"/>
                  <a:gd name="T92" fmla="*/ 2827 w 3007"/>
                  <a:gd name="T93" fmla="*/ 125 h 2085"/>
                  <a:gd name="T94" fmla="*/ 3007 w 3007"/>
                  <a:gd name="T95" fmla="*/ 87 h 2085"/>
                  <a:gd name="T96" fmla="*/ 2909 w 3007"/>
                  <a:gd name="T97" fmla="*/ 22 h 2085"/>
                  <a:gd name="T98" fmla="*/ 2676 w 3007"/>
                  <a:gd name="T99" fmla="*/ 66 h 2085"/>
                  <a:gd name="T100" fmla="*/ 2285 w 3007"/>
                  <a:gd name="T101" fmla="*/ 120 h 2085"/>
                  <a:gd name="T102" fmla="*/ 2030 w 3007"/>
                  <a:gd name="T103" fmla="*/ 158 h 2085"/>
                  <a:gd name="T104" fmla="*/ 1791 w 3007"/>
                  <a:gd name="T105" fmla="*/ 202 h 2085"/>
                  <a:gd name="T106" fmla="*/ 1601 w 3007"/>
                  <a:gd name="T107" fmla="*/ 261 h 2085"/>
                  <a:gd name="T108" fmla="*/ 1471 w 3007"/>
                  <a:gd name="T109" fmla="*/ 338 h 2085"/>
                  <a:gd name="T110" fmla="*/ 1438 w 3007"/>
                  <a:gd name="T111" fmla="*/ 387 h 2085"/>
                  <a:gd name="T112" fmla="*/ 1427 w 3007"/>
                  <a:gd name="T113" fmla="*/ 441 h 208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3007" h="2085">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94922" name="Freeform 10">
                <a:extLst>
                  <a:ext uri="{FF2B5EF4-FFF2-40B4-BE49-F238E27FC236}">
                    <a16:creationId xmlns:a16="http://schemas.microsoft.com/office/drawing/2014/main" id="{D302371C-706C-4353-90E9-0592B0FA6CCF}"/>
                  </a:ext>
                </a:extLst>
              </p:cNvPr>
              <p:cNvSpPr>
                <a:spLocks/>
              </p:cNvSpPr>
              <p:nvPr/>
            </p:nvSpPr>
            <p:spPr bwMode="hidden">
              <a:xfrm>
                <a:off x="4501" y="2317"/>
                <a:ext cx="1248" cy="539"/>
              </a:xfrm>
              <a:custGeom>
                <a:avLst/>
                <a:gdLst/>
                <a:ahLst/>
                <a:cxnLst>
                  <a:cxn ang="0">
                    <a:pos x="0" y="332"/>
                  </a:cxn>
                  <a:cxn ang="0">
                    <a:pos x="0" y="360"/>
                  </a:cxn>
                  <a:cxn ang="0">
                    <a:pos x="5" y="387"/>
                  </a:cxn>
                  <a:cxn ang="0">
                    <a:pos x="27" y="414"/>
                  </a:cxn>
                  <a:cxn ang="0">
                    <a:pos x="54" y="436"/>
                  </a:cxn>
                  <a:cxn ang="0">
                    <a:pos x="92" y="463"/>
                  </a:cxn>
                  <a:cxn ang="0">
                    <a:pos x="141" y="490"/>
                  </a:cxn>
                  <a:cxn ang="0">
                    <a:pos x="195" y="512"/>
                  </a:cxn>
                  <a:cxn ang="0">
                    <a:pos x="255" y="539"/>
                  </a:cxn>
                  <a:cxn ang="0">
                    <a:pos x="212" y="517"/>
                  </a:cxn>
                  <a:cxn ang="0">
                    <a:pos x="179" y="490"/>
                  </a:cxn>
                  <a:cxn ang="0">
                    <a:pos x="157" y="468"/>
                  </a:cxn>
                  <a:cxn ang="0">
                    <a:pos x="141" y="447"/>
                  </a:cxn>
                  <a:cxn ang="0">
                    <a:pos x="136" y="425"/>
                  </a:cxn>
                  <a:cxn ang="0">
                    <a:pos x="136" y="403"/>
                  </a:cxn>
                  <a:cxn ang="0">
                    <a:pos x="141" y="381"/>
                  </a:cxn>
                  <a:cxn ang="0">
                    <a:pos x="157" y="365"/>
                  </a:cxn>
                  <a:cxn ang="0">
                    <a:pos x="179" y="343"/>
                  </a:cxn>
                  <a:cxn ang="0">
                    <a:pos x="201" y="327"/>
                  </a:cxn>
                  <a:cxn ang="0">
                    <a:pos x="266" y="294"/>
                  </a:cxn>
                  <a:cxn ang="0">
                    <a:pos x="353" y="262"/>
                  </a:cxn>
                  <a:cxn ang="0">
                    <a:pos x="445" y="234"/>
                  </a:cxn>
                  <a:cxn ang="0">
                    <a:pos x="554" y="213"/>
                  </a:cxn>
                  <a:cxn ang="0">
                    <a:pos x="662" y="191"/>
                  </a:cxn>
                  <a:cxn ang="0">
                    <a:pos x="890" y="153"/>
                  </a:cxn>
                  <a:cxn ang="0">
                    <a:pos x="993" y="136"/>
                  </a:cxn>
                  <a:cxn ang="0">
                    <a:pos x="1091" y="120"/>
                  </a:cxn>
                  <a:cxn ang="0">
                    <a:pos x="1178" y="115"/>
                  </a:cxn>
                  <a:cxn ang="0">
                    <a:pos x="1248" y="104"/>
                  </a:cxn>
                  <a:cxn ang="0">
                    <a:pos x="1248" y="0"/>
                  </a:cxn>
                  <a:cxn ang="0">
                    <a:pos x="1161" y="22"/>
                  </a:cxn>
                  <a:cxn ang="0">
                    <a:pos x="1069" y="38"/>
                  </a:cxn>
                  <a:cxn ang="0">
                    <a:pos x="874" y="71"/>
                  </a:cxn>
                  <a:cxn ang="0">
                    <a:pos x="673" y="93"/>
                  </a:cxn>
                  <a:cxn ang="0">
                    <a:pos x="483" y="126"/>
                  </a:cxn>
                  <a:cxn ang="0">
                    <a:pos x="391" y="142"/>
                  </a:cxn>
                  <a:cxn ang="0">
                    <a:pos x="309" y="158"/>
                  </a:cxn>
                  <a:cxn ang="0">
                    <a:pos x="228" y="180"/>
                  </a:cxn>
                  <a:cxn ang="0">
                    <a:pos x="163" y="202"/>
                  </a:cxn>
                  <a:cxn ang="0">
                    <a:pos x="103" y="229"/>
                  </a:cxn>
                  <a:cxn ang="0">
                    <a:pos x="54" y="256"/>
                  </a:cxn>
                  <a:cxn ang="0">
                    <a:pos x="22" y="294"/>
                  </a:cxn>
                  <a:cxn ang="0">
                    <a:pos x="0" y="332"/>
                  </a:cxn>
                  <a:cxn ang="0">
                    <a:pos x="0" y="332"/>
                  </a:cxn>
                </a:cxnLst>
                <a:rect l="0" t="0" r="r" b="b"/>
                <a:pathLst>
                  <a:path w="1248" h="539">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rotWithShape="0">
                <a:gsLst>
                  <a:gs pos="0">
                    <a:schemeClr val="bg1">
                      <a:gamma/>
                      <a:shade val="87843"/>
                      <a:invGamma/>
                    </a:schemeClr>
                  </a:gs>
                  <a:gs pos="100000">
                    <a:schemeClr val="bg1"/>
                  </a:gs>
                </a:gsLst>
                <a:lin ang="2700000" scaled="1"/>
              </a:gradFill>
              <a:ln w="9525">
                <a:noFill/>
                <a:round/>
                <a:headEnd/>
                <a:tailEnd/>
              </a:ln>
            </p:spPr>
            <p:txBody>
              <a:bodyPr/>
              <a:lstStyle/>
              <a:p>
                <a:pPr eaLnBrk="1" fontAlgn="auto" hangingPunct="1">
                  <a:spcBef>
                    <a:spcPts val="0"/>
                  </a:spcBef>
                  <a:spcAft>
                    <a:spcPts val="0"/>
                  </a:spcAft>
                  <a:defRPr/>
                </a:pPr>
                <a:endParaRPr lang="en-GB">
                  <a:latin typeface="+mn-lt"/>
                </a:endParaRPr>
              </a:p>
            </p:txBody>
          </p:sp>
        </p:grpSp>
        <p:sp>
          <p:nvSpPr>
            <p:cNvPr id="294923" name="Freeform 11">
              <a:extLst>
                <a:ext uri="{FF2B5EF4-FFF2-40B4-BE49-F238E27FC236}">
                  <a16:creationId xmlns:a16="http://schemas.microsoft.com/office/drawing/2014/main" id="{A1C94782-E244-480E-ACD8-2772ADD2F59D}"/>
                </a:ext>
              </a:extLst>
            </p:cNvPr>
            <p:cNvSpPr>
              <a:spLocks/>
            </p:cNvSpPr>
            <p:nvPr/>
          </p:nvSpPr>
          <p:spPr bwMode="hidden">
            <a:xfrm>
              <a:off x="3322" y="1341"/>
              <a:ext cx="1825" cy="1537"/>
            </a:xfrm>
            <a:custGeom>
              <a:avLst/>
              <a:gdLst/>
              <a:ahLst/>
              <a:cxnLst>
                <a:cxn ang="0">
                  <a:pos x="982" y="1061"/>
                </a:cxn>
                <a:cxn ang="0">
                  <a:pos x="1357" y="1012"/>
                </a:cxn>
                <a:cxn ang="0">
                  <a:pos x="1666" y="957"/>
                </a:cxn>
                <a:cxn ang="0">
                  <a:pos x="1916" y="897"/>
                </a:cxn>
                <a:cxn ang="0">
                  <a:pos x="2100" y="832"/>
                </a:cxn>
                <a:cxn ang="0">
                  <a:pos x="2220" y="756"/>
                </a:cxn>
                <a:cxn ang="0">
                  <a:pos x="2285" y="669"/>
                </a:cxn>
                <a:cxn ang="0">
                  <a:pos x="2290" y="560"/>
                </a:cxn>
                <a:cxn ang="0">
                  <a:pos x="2241" y="457"/>
                </a:cxn>
                <a:cxn ang="0">
                  <a:pos x="2144" y="364"/>
                </a:cxn>
                <a:cxn ang="0">
                  <a:pos x="2008" y="277"/>
                </a:cxn>
                <a:cxn ang="0">
                  <a:pos x="1769" y="157"/>
                </a:cxn>
                <a:cxn ang="0">
                  <a:pos x="1612" y="92"/>
                </a:cxn>
                <a:cxn ang="0">
                  <a:pos x="1476" y="43"/>
                </a:cxn>
                <a:cxn ang="0">
                  <a:pos x="1384" y="10"/>
                </a:cxn>
                <a:cxn ang="0">
                  <a:pos x="1346" y="0"/>
                </a:cxn>
                <a:cxn ang="0">
                  <a:pos x="1655" y="119"/>
                </a:cxn>
                <a:cxn ang="0">
                  <a:pos x="1948" y="255"/>
                </a:cxn>
                <a:cxn ang="0">
                  <a:pos x="2068" y="326"/>
                </a:cxn>
                <a:cxn ang="0">
                  <a:pos x="2171" y="402"/>
                </a:cxn>
                <a:cxn ang="0">
                  <a:pos x="2236" y="478"/>
                </a:cxn>
                <a:cxn ang="0">
                  <a:pos x="2263" y="560"/>
                </a:cxn>
                <a:cxn ang="0">
                  <a:pos x="2241" y="636"/>
                </a:cxn>
                <a:cxn ang="0">
                  <a:pos x="2171" y="702"/>
                </a:cxn>
                <a:cxn ang="0">
                  <a:pos x="2062" y="756"/>
                </a:cxn>
                <a:cxn ang="0">
                  <a:pos x="1921" y="800"/>
                </a:cxn>
                <a:cxn ang="0">
                  <a:pos x="1748" y="843"/>
                </a:cxn>
                <a:cxn ang="0">
                  <a:pos x="1351" y="908"/>
                </a:cxn>
                <a:cxn ang="0">
                  <a:pos x="923" y="968"/>
                </a:cxn>
                <a:cxn ang="0">
                  <a:pos x="521" y="1028"/>
                </a:cxn>
                <a:cxn ang="0">
                  <a:pos x="353" y="1066"/>
                </a:cxn>
                <a:cxn ang="0">
                  <a:pos x="206" y="1104"/>
                </a:cxn>
                <a:cxn ang="0">
                  <a:pos x="92" y="1148"/>
                </a:cxn>
                <a:cxn ang="0">
                  <a:pos x="22" y="1202"/>
                </a:cxn>
                <a:cxn ang="0">
                  <a:pos x="0" y="1262"/>
                </a:cxn>
                <a:cxn ang="0">
                  <a:pos x="27" y="1327"/>
                </a:cxn>
                <a:cxn ang="0">
                  <a:pos x="98" y="1382"/>
                </a:cxn>
                <a:cxn ang="0">
                  <a:pos x="196" y="1425"/>
                </a:cxn>
                <a:cxn ang="0">
                  <a:pos x="326" y="1469"/>
                </a:cxn>
                <a:cxn ang="0">
                  <a:pos x="217" y="1414"/>
                </a:cxn>
                <a:cxn ang="0">
                  <a:pos x="147" y="1360"/>
                </a:cxn>
                <a:cxn ang="0">
                  <a:pos x="120" y="1306"/>
                </a:cxn>
                <a:cxn ang="0">
                  <a:pos x="141" y="1257"/>
                </a:cxn>
                <a:cxn ang="0">
                  <a:pos x="212" y="1208"/>
                </a:cxn>
                <a:cxn ang="0">
                  <a:pos x="342" y="1164"/>
                </a:cxn>
                <a:cxn ang="0">
                  <a:pos x="527" y="1121"/>
                </a:cxn>
                <a:cxn ang="0">
                  <a:pos x="771" y="1088"/>
                </a:cxn>
              </a:cxnLst>
              <a:rect l="0" t="0" r="r" b="b"/>
              <a:pathLst>
                <a:path w="2296" h="1469">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rotWithShape="0">
              <a:gsLst>
                <a:gs pos="0">
                  <a:schemeClr val="bg1">
                    <a:gamma/>
                    <a:shade val="84706"/>
                    <a:invGamma/>
                  </a:schemeClr>
                </a:gs>
                <a:gs pos="100000">
                  <a:schemeClr val="bg1"/>
                </a:gs>
              </a:gsLst>
              <a:lin ang="2700000" scaled="1"/>
            </a:gradFill>
            <a:ln w="9525">
              <a:noFill/>
              <a:round/>
              <a:headEnd/>
              <a:tailEnd/>
            </a:ln>
          </p:spPr>
          <p:txBody>
            <a:bodyPr/>
            <a:lstStyle/>
            <a:p>
              <a:pPr eaLnBrk="1" fontAlgn="auto" hangingPunct="1">
                <a:spcBef>
                  <a:spcPts val="0"/>
                </a:spcBef>
                <a:spcAft>
                  <a:spcPts val="0"/>
                </a:spcAft>
                <a:defRPr/>
              </a:pPr>
              <a:endParaRPr lang="en-GB">
                <a:latin typeface="+mn-lt"/>
              </a:endParaRPr>
            </a:p>
          </p:txBody>
        </p:sp>
        <p:sp>
          <p:nvSpPr>
            <p:cNvPr id="2058" name="Freeform 12"/>
            <p:cNvSpPr>
              <a:spLocks/>
            </p:cNvSpPr>
            <p:nvPr/>
          </p:nvSpPr>
          <p:spPr bwMode="hidden">
            <a:xfrm>
              <a:off x="0" y="0"/>
              <a:ext cx="5758" cy="1776"/>
            </a:xfrm>
            <a:custGeom>
              <a:avLst/>
              <a:gdLst>
                <a:gd name="T0" fmla="*/ 0 w 5740"/>
                <a:gd name="T1" fmla="*/ 0 h 1906"/>
                <a:gd name="T2" fmla="*/ 0 w 5740"/>
                <a:gd name="T3" fmla="*/ 1010 h 1906"/>
                <a:gd name="T4" fmla="*/ 5902 w 5740"/>
                <a:gd name="T5" fmla="*/ 1010 h 1906"/>
                <a:gd name="T6" fmla="*/ 5902 w 5740"/>
                <a:gd name="T7" fmla="*/ 0 h 1906"/>
                <a:gd name="T8" fmla="*/ 0 w 5740"/>
                <a:gd name="T9" fmla="*/ 0 h 1906"/>
                <a:gd name="T10" fmla="*/ 0 w 5740"/>
                <a:gd name="T11" fmla="*/ 0 h 190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40" h="1906">
                  <a:moveTo>
                    <a:pt x="0" y="0"/>
                  </a:moveTo>
                  <a:lnTo>
                    <a:pt x="0" y="1906"/>
                  </a:lnTo>
                  <a:lnTo>
                    <a:pt x="5740" y="1906"/>
                  </a:lnTo>
                  <a:lnTo>
                    <a:pt x="5740" y="0"/>
                  </a:lnTo>
                  <a:lnTo>
                    <a:pt x="0" y="0"/>
                  </a:lnTo>
                  <a:close/>
                </a:path>
              </a:pathLst>
            </a:custGeom>
            <a:gradFill rotWithShape="0">
              <a:gsLst>
                <a:gs pos="0">
                  <a:schemeClr val="bg2"/>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sp>
        <p:nvSpPr>
          <p:cNvPr id="294925" name="Rectangle 13">
            <a:extLst>
              <a:ext uri="{FF2B5EF4-FFF2-40B4-BE49-F238E27FC236}">
                <a16:creationId xmlns:a16="http://schemas.microsoft.com/office/drawing/2014/main" id="{7477DE67-95AC-4163-B970-93E6E7C0271B}"/>
              </a:ext>
            </a:extLst>
          </p:cNvPr>
          <p:cNvSpPr>
            <a:spLocks noGrp="1" noRot="1" noChangeArrowheads="1"/>
          </p:cNvSpPr>
          <p:nvPr>
            <p:ph type="title"/>
          </p:nvPr>
        </p:nvSpPr>
        <p:spPr bwMode="auto">
          <a:xfrm>
            <a:off x="609600" y="274638"/>
            <a:ext cx="109728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294926" name="Rectangle 14">
            <a:extLst>
              <a:ext uri="{FF2B5EF4-FFF2-40B4-BE49-F238E27FC236}">
                <a16:creationId xmlns:a16="http://schemas.microsoft.com/office/drawing/2014/main" id="{855349BE-9AAD-444A-9E40-A4DC172713AD}"/>
              </a:ext>
            </a:extLst>
          </p:cNvPr>
          <p:cNvSpPr>
            <a:spLocks noGrp="1" noChangeArrowheads="1"/>
          </p:cNvSpPr>
          <p:nvPr>
            <p:ph type="ftr" sz="quarter" idx="3"/>
          </p:nvPr>
        </p:nvSpPr>
        <p:spPr bwMode="auto">
          <a:xfrm>
            <a:off x="4165600" y="6248400"/>
            <a:ext cx="38608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fontAlgn="auto" hangingPunct="1">
              <a:spcBef>
                <a:spcPts val="0"/>
              </a:spcBef>
              <a:spcAft>
                <a:spcPts val="0"/>
              </a:spcAft>
              <a:defRPr sz="1200">
                <a:latin typeface="Arial" charset="0"/>
                <a:cs typeface="Arial" charset="0"/>
              </a:defRPr>
            </a:lvl1pPr>
          </a:lstStyle>
          <a:p>
            <a:pPr>
              <a:defRPr/>
            </a:pPr>
            <a:endParaRPr lang="en-GB"/>
          </a:p>
        </p:txBody>
      </p:sp>
      <p:sp>
        <p:nvSpPr>
          <p:cNvPr id="294927" name="Rectangle 15">
            <a:extLst>
              <a:ext uri="{FF2B5EF4-FFF2-40B4-BE49-F238E27FC236}">
                <a16:creationId xmlns:a16="http://schemas.microsoft.com/office/drawing/2014/main" id="{CD732FF3-B1E8-41A4-906E-C3FAC5634C5F}"/>
              </a:ext>
            </a:extLst>
          </p:cNvPr>
          <p:cNvSpPr>
            <a:spLocks noGrp="1" noChangeArrowheads="1"/>
          </p:cNvSpPr>
          <p:nvPr>
            <p:ph type="body" idx="1"/>
          </p:nvPr>
        </p:nvSpPr>
        <p:spPr bwMode="auto">
          <a:xfrm>
            <a:off x="609600" y="1600201"/>
            <a:ext cx="109728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cSld>
  <p:clrMap bg1="dk1" tx1="lt1" bg2="dk2" tx2="lt2" accent1="accent1" accent2="accent2" accent3="accent3" accent4="accent4" accent5="accent5" accent6="accent6" hlink="hlink" folHlink="folHlink"/>
  <p:sldLayoutIdLst>
    <p:sldLayoutId id="2147483958" r:id="rId1"/>
    <p:sldLayoutId id="2147483933" r:id="rId2"/>
    <p:sldLayoutId id="2147483934" r:id="rId3"/>
    <p:sldLayoutId id="2147483935" r:id="rId4"/>
    <p:sldLayoutId id="2147483936" r:id="rId5"/>
    <p:sldLayoutId id="2147483937" r:id="rId6"/>
    <p:sldLayoutId id="2147483938" r:id="rId7"/>
    <p:sldLayoutId id="2147483939" r:id="rId8"/>
    <p:sldLayoutId id="2147483940" r:id="rId9"/>
    <p:sldLayoutId id="2147483941" r:id="rId10"/>
    <p:sldLayoutId id="2147483942" r:id="rId11"/>
    <p:sldLayoutId id="2147483943" r:id="rId12"/>
    <p:sldLayoutId id="2147483944" r:id="rId13"/>
  </p:sldLayoutIdLst>
  <p:hf hdr="0" ftr="0" dt="0"/>
  <p:txStyles>
    <p:titleStyle>
      <a:lvl1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itchFamily="18" charset="0"/>
          <a:cs typeface="Arial" charset="0"/>
        </a:defRPr>
      </a:lvl2pPr>
      <a:lvl3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itchFamily="18" charset="0"/>
          <a:cs typeface="Arial" charset="0"/>
        </a:defRPr>
      </a:lvl3pPr>
      <a:lvl4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itchFamily="18" charset="0"/>
          <a:cs typeface="Arial" charset="0"/>
        </a:defRPr>
      </a:lvl4pPr>
      <a:lvl5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itchFamily="18" charset="0"/>
          <a:cs typeface="Arial" charset="0"/>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Garamond" pitchFamily="18" charset="0"/>
          <a:cs typeface="Arial" charset="0"/>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Garamond" pitchFamily="18" charset="0"/>
          <a:cs typeface="Arial" charset="0"/>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Garamond" pitchFamily="18" charset="0"/>
          <a:cs typeface="Arial" charset="0"/>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Garamond" pitchFamily="18" charset="0"/>
          <a:cs typeface="Arial" charset="0"/>
        </a:defRPr>
      </a:lvl9pPr>
    </p:titleStyle>
    <p:body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n"/>
        <a:defRPr sz="2800">
          <a:solidFill>
            <a:schemeClr val="tx1"/>
          </a:solidFill>
          <a:effectLst>
            <a:outerShdw blurRad="38100" dist="38100" dir="2700000" algn="tl">
              <a:srgbClr val="000000"/>
            </a:outerShdw>
          </a:effectLst>
          <a:latin typeface="+mn-lt"/>
          <a:cs typeface="+mn-cs"/>
        </a:defRPr>
      </a:lvl2pPr>
      <a:lvl3pPr marL="1143000" indent="-228600" algn="l" rtl="0" eaLnBrk="0" fontAlgn="base" hangingPunct="0">
        <a:spcBef>
          <a:spcPct val="20000"/>
        </a:spcBef>
        <a:spcAft>
          <a:spcPct val="0"/>
        </a:spcAft>
        <a:buClr>
          <a:schemeClr val="tx2"/>
        </a:buClr>
        <a:buSzPct val="70000"/>
        <a:buFont typeface="Wingdings" panose="05000000000000000000" pitchFamily="2" charset="2"/>
        <a:buChar char="n"/>
        <a:defRPr sz="2400">
          <a:solidFill>
            <a:schemeClr val="tx1"/>
          </a:solidFill>
          <a:effectLst>
            <a:outerShdw blurRad="38100" dist="38100" dir="2700000" algn="tl">
              <a:srgbClr val="000000"/>
            </a:outerShdw>
          </a:effectLst>
          <a:latin typeface="+mn-lt"/>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cs typeface="+mn-cs"/>
        </a:defRPr>
      </a:lvl4pPr>
      <a:lvl5pPr marL="2057400" indent="-228600" algn="l" rtl="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cs typeface="+mn-cs"/>
        </a:defRPr>
      </a:lvl5pPr>
      <a:lvl6pPr marL="25146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6pPr>
      <a:lvl7pPr marL="29718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7pPr>
      <a:lvl8pPr marL="34290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8pPr>
      <a:lvl9pPr marL="38862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A6EE97DF-FED0-4AEA-87EB-5FCB7E93C4B8}" type="slidenum">
              <a:rPr lang="en-GB" altLang="en-US" smtClean="0"/>
              <a:pPr>
                <a:defRPr/>
              </a:pPr>
              <a:t>‹#›</a:t>
            </a:fld>
            <a:endParaRPr lang="en-GB" altLang="en-US"/>
          </a:p>
        </p:txBody>
      </p:sp>
    </p:spTree>
    <p:extLst>
      <p:ext uri="{BB962C8B-B14F-4D97-AF65-F5344CB8AC3E}">
        <p14:creationId xmlns:p14="http://schemas.microsoft.com/office/powerpoint/2010/main" val="674045027"/>
      </p:ext>
    </p:extLst>
  </p:cSld>
  <p:clrMap bg1="lt1" tx1="dk1" bg2="lt2" tx2="dk2" accent1="accent1" accent2="accent2" accent3="accent3" accent4="accent4" accent5="accent5" accent6="accent6" hlink="hlink" folHlink="folHlink"/>
  <p:sldLayoutIdLst>
    <p:sldLayoutId id="2147483961" r:id="rId1"/>
    <p:sldLayoutId id="2147483962" r:id="rId2"/>
    <p:sldLayoutId id="2147483963" r:id="rId3"/>
    <p:sldLayoutId id="2147483964" r:id="rId4"/>
    <p:sldLayoutId id="2147483965" r:id="rId5"/>
    <p:sldLayoutId id="2147483966" r:id="rId6"/>
    <p:sldLayoutId id="2147483967" r:id="rId7"/>
    <p:sldLayoutId id="2147483968" r:id="rId8"/>
    <p:sldLayoutId id="2147483969" r:id="rId9"/>
    <p:sldLayoutId id="2147483970" r:id="rId10"/>
    <p:sldLayoutId id="2147483971" r:id="rId11"/>
    <p:sldLayoutId id="2147483972"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8DD501E-E9D0-4CB5-B7FF-FC99516023D8}" type="slidenum">
              <a:rPr lang="en-GB" altLang="en-US" smtClean="0"/>
              <a:pPr>
                <a:defRPr/>
              </a:pPr>
              <a:t>‹#›</a:t>
            </a:fld>
            <a:endParaRPr lang="en-GB" altLang="en-US"/>
          </a:p>
        </p:txBody>
      </p:sp>
    </p:spTree>
    <p:extLst>
      <p:ext uri="{BB962C8B-B14F-4D97-AF65-F5344CB8AC3E}">
        <p14:creationId xmlns:p14="http://schemas.microsoft.com/office/powerpoint/2010/main" val="3410914464"/>
      </p:ext>
    </p:extLst>
  </p:cSld>
  <p:clrMap bg1="lt1" tx1="dk1" bg2="lt2" tx2="dk2" accent1="accent1" accent2="accent2" accent3="accent3" accent4="accent4" accent5="accent5" accent6="accent6" hlink="hlink" folHlink="folHlink"/>
  <p:sldLayoutIdLst>
    <p:sldLayoutId id="2147483974" r:id="rId1"/>
    <p:sldLayoutId id="2147483975" r:id="rId2"/>
    <p:sldLayoutId id="2147483976" r:id="rId3"/>
    <p:sldLayoutId id="2147483977" r:id="rId4"/>
    <p:sldLayoutId id="2147483978" r:id="rId5"/>
    <p:sldLayoutId id="2147483979" r:id="rId6"/>
    <p:sldLayoutId id="2147483980" r:id="rId7"/>
    <p:sldLayoutId id="2147483981" r:id="rId8"/>
    <p:sldLayoutId id="2147483982" r:id="rId9"/>
    <p:sldLayoutId id="2147483983" r:id="rId10"/>
    <p:sldLayoutId id="2147483984" r:id="rId11"/>
    <p:sldLayoutId id="2147483985"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4.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5.xml"/><Relationship Id="rId1" Type="http://schemas.openxmlformats.org/officeDocument/2006/relationships/vmlDrawing" Target="../drawings/vmlDrawing1.vml"/><Relationship Id="rId4" Type="http://schemas.openxmlformats.org/officeDocument/2006/relationships/image" Target="../media/image5.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5.xml"/><Relationship Id="rId1" Type="http://schemas.openxmlformats.org/officeDocument/2006/relationships/vmlDrawing" Target="../drawings/vmlDrawing2.vml"/><Relationship Id="rId4" Type="http://schemas.openxmlformats.org/officeDocument/2006/relationships/image" Target="../media/image7.e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5.xml"/><Relationship Id="rId1" Type="http://schemas.openxmlformats.org/officeDocument/2006/relationships/vmlDrawing" Target="../drawings/vmlDrawing3.vml"/><Relationship Id="rId4" Type="http://schemas.openxmlformats.org/officeDocument/2006/relationships/image" Target="../media/image8.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37.xml"/><Relationship Id="rId1" Type="http://schemas.openxmlformats.org/officeDocument/2006/relationships/vmlDrawing" Target="../drawings/vmlDrawing4.vml"/><Relationship Id="rId6" Type="http://schemas.openxmlformats.org/officeDocument/2006/relationships/image" Target="../media/image10.emf"/><Relationship Id="rId5" Type="http://schemas.openxmlformats.org/officeDocument/2006/relationships/oleObject" Target="../embeddings/oleObject5.bin"/><Relationship Id="rId4" Type="http://schemas.openxmlformats.org/officeDocument/2006/relationships/image" Target="../media/image9.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5.xml"/><Relationship Id="rId1" Type="http://schemas.openxmlformats.org/officeDocument/2006/relationships/vmlDrawing" Target="../drawings/vmlDrawing5.vml"/><Relationship Id="rId4" Type="http://schemas.openxmlformats.org/officeDocument/2006/relationships/image" Target="../media/image14.e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0.xml"/></Relationships>
</file>

<file path=ppt/slides/_rels/slide4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5.xml"/><Relationship Id="rId1" Type="http://schemas.openxmlformats.org/officeDocument/2006/relationships/vmlDrawing" Target="../drawings/vmlDrawing6.vml"/><Relationship Id="rId4" Type="http://schemas.openxmlformats.org/officeDocument/2006/relationships/image" Target="../media/image18.emf"/></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5.xml"/><Relationship Id="rId1" Type="http://schemas.openxmlformats.org/officeDocument/2006/relationships/vmlDrawing" Target="../drawings/vmlDrawing7.vml"/><Relationship Id="rId4" Type="http://schemas.openxmlformats.org/officeDocument/2006/relationships/image" Target="../media/image19.em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21.wmf"/></Relationships>
</file>

<file path=ppt/slides/_rels/slide59.x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oleObject" Target="../embeddings/oleObject10.bin"/><Relationship Id="rId7"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23.wmf"/><Relationship Id="rId5" Type="http://schemas.openxmlformats.org/officeDocument/2006/relationships/oleObject" Target="../embeddings/oleObject11.bin"/><Relationship Id="rId4" Type="http://schemas.openxmlformats.org/officeDocument/2006/relationships/image" Target="../media/image22.wmf"/></Relationships>
</file>

<file path=ppt/slides/_rels/slide60.xml.rels><?xml version="1.0" encoding="UTF-8" standalone="yes"?>
<Relationships xmlns="http://schemas.openxmlformats.org/package/2006/relationships"><Relationship Id="rId8" Type="http://schemas.openxmlformats.org/officeDocument/2006/relationships/image" Target="../media/image27.wmf"/><Relationship Id="rId13" Type="http://schemas.openxmlformats.org/officeDocument/2006/relationships/oleObject" Target="../embeddings/oleObject18.bin"/><Relationship Id="rId3" Type="http://schemas.openxmlformats.org/officeDocument/2006/relationships/oleObject" Target="../embeddings/oleObject13.bin"/><Relationship Id="rId7" Type="http://schemas.openxmlformats.org/officeDocument/2006/relationships/oleObject" Target="../embeddings/oleObject15.bin"/><Relationship Id="rId12" Type="http://schemas.openxmlformats.org/officeDocument/2006/relationships/image" Target="../media/image29.wmf"/><Relationship Id="rId2" Type="http://schemas.openxmlformats.org/officeDocument/2006/relationships/slideLayout" Target="../slideLayouts/slideLayout2.xml"/><Relationship Id="rId16" Type="http://schemas.openxmlformats.org/officeDocument/2006/relationships/image" Target="../media/image31.wmf"/><Relationship Id="rId1" Type="http://schemas.openxmlformats.org/officeDocument/2006/relationships/vmlDrawing" Target="../drawings/vmlDrawing10.vml"/><Relationship Id="rId6" Type="http://schemas.openxmlformats.org/officeDocument/2006/relationships/image" Target="../media/image26.wmf"/><Relationship Id="rId11" Type="http://schemas.openxmlformats.org/officeDocument/2006/relationships/oleObject" Target="../embeddings/oleObject17.bin"/><Relationship Id="rId5" Type="http://schemas.openxmlformats.org/officeDocument/2006/relationships/oleObject" Target="../embeddings/oleObject14.bin"/><Relationship Id="rId15" Type="http://schemas.openxmlformats.org/officeDocument/2006/relationships/oleObject" Target="../embeddings/oleObject19.bin"/><Relationship Id="rId10" Type="http://schemas.openxmlformats.org/officeDocument/2006/relationships/image" Target="../media/image28.wmf"/><Relationship Id="rId4" Type="http://schemas.openxmlformats.org/officeDocument/2006/relationships/image" Target="../media/image25.wmf"/><Relationship Id="rId9" Type="http://schemas.openxmlformats.org/officeDocument/2006/relationships/oleObject" Target="../embeddings/oleObject16.bin"/><Relationship Id="rId14" Type="http://schemas.openxmlformats.org/officeDocument/2006/relationships/image" Target="../media/image30.wmf"/></Relationships>
</file>

<file path=ppt/slides/_rels/slide61.x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oleObject" Target="../embeddings/oleObject20.bin"/><Relationship Id="rId7"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33.wmf"/><Relationship Id="rId5" Type="http://schemas.openxmlformats.org/officeDocument/2006/relationships/oleObject" Target="../embeddings/oleObject21.bin"/><Relationship Id="rId4" Type="http://schemas.openxmlformats.org/officeDocument/2006/relationships/image" Target="../media/image32.wmf"/></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36.wmf"/><Relationship Id="rId5" Type="http://schemas.openxmlformats.org/officeDocument/2006/relationships/oleObject" Target="../embeddings/oleObject24.bin"/><Relationship Id="rId4" Type="http://schemas.openxmlformats.org/officeDocument/2006/relationships/image" Target="../media/image35.wmf"/></Relationships>
</file>

<file path=ppt/slides/_rels/slide63.xml.rels><?xml version="1.0" encoding="UTF-8" standalone="yes"?>
<Relationships xmlns="http://schemas.openxmlformats.org/package/2006/relationships"><Relationship Id="rId8" Type="http://schemas.openxmlformats.org/officeDocument/2006/relationships/image" Target="../media/image39.wmf"/><Relationship Id="rId3" Type="http://schemas.openxmlformats.org/officeDocument/2006/relationships/oleObject" Target="../embeddings/oleObject25.bin"/><Relationship Id="rId7" Type="http://schemas.openxmlformats.org/officeDocument/2006/relationships/oleObject" Target="../embeddings/oleObject27.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38.wmf"/><Relationship Id="rId5" Type="http://schemas.openxmlformats.org/officeDocument/2006/relationships/oleObject" Target="../embeddings/oleObject26.bin"/><Relationship Id="rId10" Type="http://schemas.openxmlformats.org/officeDocument/2006/relationships/image" Target="../media/image40.wmf"/><Relationship Id="rId4" Type="http://schemas.openxmlformats.org/officeDocument/2006/relationships/image" Target="../media/image37.wmf"/><Relationship Id="rId9" Type="http://schemas.openxmlformats.org/officeDocument/2006/relationships/oleObject" Target="../embeddings/oleObject28.bin"/></Relationships>
</file>

<file path=ppt/slides/_rels/slide64.xml.rels><?xml version="1.0" encoding="UTF-8" standalone="yes"?>
<Relationships xmlns="http://schemas.openxmlformats.org/package/2006/relationships"><Relationship Id="rId8" Type="http://schemas.openxmlformats.org/officeDocument/2006/relationships/image" Target="../media/image43.wmf"/><Relationship Id="rId3" Type="http://schemas.openxmlformats.org/officeDocument/2006/relationships/oleObject" Target="../embeddings/oleObject29.bin"/><Relationship Id="rId7" Type="http://schemas.openxmlformats.org/officeDocument/2006/relationships/oleObject" Target="../embeddings/oleObject31.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42.wmf"/><Relationship Id="rId5" Type="http://schemas.openxmlformats.org/officeDocument/2006/relationships/oleObject" Target="../embeddings/oleObject30.bin"/><Relationship Id="rId4" Type="http://schemas.openxmlformats.org/officeDocument/2006/relationships/image" Target="../media/image41.wmf"/></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0.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15.xml"/></Relationships>
</file>

<file path=ppt/slides/_rels/slide71.x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slideLayout" Target="../slideLayouts/slideLayout15.xml"/></Relationships>
</file>

<file path=ppt/slides/_rels/slide72.x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slideLayout" Target="../slideLayouts/slideLayout1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5.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15.xml"/></Relationships>
</file>

<file path=ppt/slides/_rels/slide76.x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slideLayout" Target="../slideLayouts/slideLayout1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82.x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slideLayout" Target="../slideLayouts/slideLayout15.xml"/></Relationships>
</file>

<file path=ppt/slides/_rels/slide83.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1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9.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15.xml"/></Relationships>
</file>

<file path=ppt/slides/_rels/slide9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Title 5"/>
          <p:cNvSpPr>
            <a:spLocks noGrp="1"/>
          </p:cNvSpPr>
          <p:nvPr>
            <p:ph type="ctrTitle"/>
          </p:nvPr>
        </p:nvSpPr>
        <p:spPr>
          <a:xfrm>
            <a:off x="1631504" y="188640"/>
            <a:ext cx="8928992" cy="1800200"/>
          </a:xfrm>
        </p:spPr>
        <p:txBody>
          <a:bodyPr anchor="ctr"/>
          <a:lstStyle/>
          <a:p>
            <a:r>
              <a:rPr lang="en-GB" sz="5400" dirty="0">
                <a:latin typeface="Bahnschrift Condensed" panose="020B0502040204020203" pitchFamily="34" charset="0"/>
              </a:rPr>
              <a:t>INTRODUCTION TO SURVIVAL ANALYSIS</a:t>
            </a:r>
          </a:p>
        </p:txBody>
      </p:sp>
      <p:pic>
        <p:nvPicPr>
          <p:cNvPr id="7" name="Picture 6"/>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3089816" y="2204865"/>
            <a:ext cx="6012368" cy="4008245"/>
          </a:xfrm>
          <a:prstGeom prst="rect">
            <a:avLst/>
          </a:prstGeom>
          <a:effectLst>
            <a:softEdge rad="6350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noChangeArrowheads="1"/>
          </p:cNvSpPr>
          <p:nvPr>
            <p:ph type="title"/>
          </p:nvPr>
        </p:nvSpPr>
        <p:spPr>
          <a:xfrm>
            <a:off x="2224088" y="188914"/>
            <a:ext cx="7975600" cy="752475"/>
          </a:xfrm>
        </p:spPr>
        <p:txBody>
          <a:bodyPr/>
          <a:lstStyle/>
          <a:p>
            <a:pPr eaLnBrk="1" hangingPunct="1"/>
            <a:r>
              <a:rPr lang="en-GB" altLang="en-GB" dirty="0"/>
              <a:t>Introduction</a:t>
            </a:r>
          </a:p>
        </p:txBody>
      </p:sp>
      <p:sp>
        <p:nvSpPr>
          <p:cNvPr id="11267" name="Content Placeholder 2">
            <a:extLst>
              <a:ext uri="{FF2B5EF4-FFF2-40B4-BE49-F238E27FC236}">
                <a16:creationId xmlns:a16="http://schemas.microsoft.com/office/drawing/2014/main" id="{90315C48-C953-4F92-A6EF-8C82CB704E0D}"/>
              </a:ext>
            </a:extLst>
          </p:cNvPr>
          <p:cNvSpPr>
            <a:spLocks noGrp="1" noChangeArrowheads="1"/>
          </p:cNvSpPr>
          <p:nvPr>
            <p:ph idx="1"/>
          </p:nvPr>
        </p:nvSpPr>
        <p:spPr>
          <a:xfrm>
            <a:off x="1992314" y="980729"/>
            <a:ext cx="8316458" cy="5542536"/>
          </a:xfrm>
        </p:spPr>
        <p:txBody>
          <a:bodyPr>
            <a:noAutofit/>
          </a:bodyPr>
          <a:lstStyle/>
          <a:p>
            <a:pPr algn="just" eaLnBrk="1" hangingPunct="1">
              <a:lnSpc>
                <a:spcPct val="80000"/>
              </a:lnSpc>
            </a:pPr>
            <a:r>
              <a:rPr lang="en-GB" altLang="en-GB" sz="2200" dirty="0"/>
              <a:t>So far we have looked at how to model data when an outcome is;</a:t>
            </a:r>
          </a:p>
          <a:p>
            <a:pPr lvl="1" algn="just" eaLnBrk="1" hangingPunct="1">
              <a:lnSpc>
                <a:spcPct val="80000"/>
              </a:lnSpc>
            </a:pPr>
            <a:r>
              <a:rPr lang="en-GB" altLang="en-GB" sz="2200" dirty="0"/>
              <a:t>Continuous (linear regression)</a:t>
            </a:r>
          </a:p>
          <a:p>
            <a:pPr lvl="1" algn="just" eaLnBrk="1" hangingPunct="1">
              <a:lnSpc>
                <a:spcPct val="80000"/>
              </a:lnSpc>
            </a:pPr>
            <a:r>
              <a:rPr lang="en-GB" altLang="en-GB" sz="2200" dirty="0"/>
              <a:t>Binary (logistic regression)</a:t>
            </a:r>
          </a:p>
          <a:p>
            <a:pPr lvl="1" algn="just" eaLnBrk="1" hangingPunct="1">
              <a:lnSpc>
                <a:spcPct val="80000"/>
              </a:lnSpc>
            </a:pPr>
            <a:r>
              <a:rPr lang="en-GB" altLang="en-GB" sz="2200" dirty="0"/>
              <a:t>Count outcome (Poisson regression)</a:t>
            </a:r>
          </a:p>
          <a:p>
            <a:pPr algn="just" eaLnBrk="1" hangingPunct="1">
              <a:lnSpc>
                <a:spcPct val="80000"/>
              </a:lnSpc>
            </a:pPr>
            <a:endParaRPr lang="en-GB" altLang="en-GB" sz="2200" dirty="0"/>
          </a:p>
          <a:p>
            <a:pPr algn="just" eaLnBrk="1" hangingPunct="1">
              <a:lnSpc>
                <a:spcPct val="80000"/>
              </a:lnSpc>
            </a:pPr>
            <a:r>
              <a:rPr lang="en-US" altLang="en-GB" sz="2200" dirty="0"/>
              <a:t>Sometimes, we are not only interested in the occurrence of an outcome, but also in the </a:t>
            </a:r>
            <a:r>
              <a:rPr lang="en-US" altLang="en-GB" sz="2200" b="1" i="1" dirty="0"/>
              <a:t>time interval </a:t>
            </a:r>
            <a:r>
              <a:rPr lang="en-US" altLang="en-GB" sz="2200" dirty="0"/>
              <a:t>from a defined </a:t>
            </a:r>
            <a:r>
              <a:rPr lang="en-US" altLang="en-GB" sz="2200" b="1" i="1" dirty="0"/>
              <a:t>starting point </a:t>
            </a:r>
            <a:r>
              <a:rPr lang="en-US" altLang="en-GB" sz="2200" dirty="0"/>
              <a:t>to when that </a:t>
            </a:r>
            <a:r>
              <a:rPr lang="en-US" altLang="en-GB" sz="2200" b="1" i="1" dirty="0"/>
              <a:t>outcome happens</a:t>
            </a:r>
            <a:r>
              <a:rPr lang="en-US" altLang="en-GB" sz="2200" dirty="0"/>
              <a:t>, because timing can affect prognosis, risk, and intervention effectiveness.</a:t>
            </a:r>
          </a:p>
          <a:p>
            <a:pPr algn="just" eaLnBrk="1" hangingPunct="1">
              <a:lnSpc>
                <a:spcPct val="80000"/>
              </a:lnSpc>
            </a:pPr>
            <a:endParaRPr lang="en-GB" altLang="en-GB" sz="2200" dirty="0"/>
          </a:p>
          <a:p>
            <a:pPr algn="just" eaLnBrk="1" hangingPunct="1">
              <a:lnSpc>
                <a:spcPct val="80000"/>
              </a:lnSpc>
            </a:pPr>
            <a:r>
              <a:rPr lang="en-GB" altLang="en-GB" sz="2200" dirty="0"/>
              <a:t>Sometimes, we do not witness the outcome of interest. </a:t>
            </a:r>
          </a:p>
          <a:p>
            <a:pPr algn="just" eaLnBrk="1" hangingPunct="1">
              <a:lnSpc>
                <a:spcPct val="80000"/>
              </a:lnSpc>
            </a:pPr>
            <a:endParaRPr lang="en-GB" altLang="en-GB" sz="2200" dirty="0"/>
          </a:p>
          <a:p>
            <a:pPr algn="just" eaLnBrk="1" hangingPunct="1">
              <a:lnSpc>
                <a:spcPct val="80000"/>
              </a:lnSpc>
            </a:pPr>
            <a:r>
              <a:rPr lang="en-GB" altLang="en-GB" sz="2200" dirty="0"/>
              <a:t>To analyse data that measures how much time passed before the outcome of interest occurred, we use </a:t>
            </a:r>
            <a:r>
              <a:rPr lang="en-GB" altLang="en-GB" sz="2200" b="1" i="1" dirty="0"/>
              <a:t>survival analysis techniques</a:t>
            </a:r>
          </a:p>
        </p:txBody>
      </p:sp>
      <p:sp>
        <p:nvSpPr>
          <p:cNvPr id="4" name="Slide Number Placeholder 3">
            <a:extLst>
              <a:ext uri="{FF2B5EF4-FFF2-40B4-BE49-F238E27FC236}">
                <a16:creationId xmlns:a16="http://schemas.microsoft.com/office/drawing/2014/main" id="{33D05FEB-69A7-4FEB-876A-B845DE8ABBD7}"/>
              </a:ext>
            </a:extLst>
          </p:cNvPr>
          <p:cNvSpPr>
            <a:spLocks noGrp="1"/>
          </p:cNvSpPr>
          <p:nvPr>
            <p:ph type="sldNum" sz="quarter" idx="12"/>
          </p:nvPr>
        </p:nvSpPr>
        <p:spPr/>
        <p:txBody>
          <a:bodyPr/>
          <a:lstStyle/>
          <a:p>
            <a:pPr>
              <a:defRPr/>
            </a:pPr>
            <a:fld id="{4F1C3BB1-092C-406B-9651-B4F558E3C40C}" type="slidenum">
              <a:rPr lang="en-GB" altLang="en-US"/>
              <a:pPr>
                <a:defRPr/>
              </a:pPr>
              <a:t>2</a:t>
            </a:fld>
            <a:endParaRPr lang="en-GB"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p:cNvSpPr>
            <a:spLocks noGrp="1" noRot="1" noChangeArrowheads="1"/>
          </p:cNvSpPr>
          <p:nvPr>
            <p:ph type="title"/>
          </p:nvPr>
        </p:nvSpPr>
        <p:spPr>
          <a:xfrm>
            <a:off x="2208213" y="404814"/>
            <a:ext cx="7772400" cy="668337"/>
          </a:xfrm>
        </p:spPr>
        <p:txBody>
          <a:bodyPr/>
          <a:lstStyle/>
          <a:p>
            <a:pPr eaLnBrk="1" hangingPunct="1"/>
            <a:r>
              <a:rPr lang="en-GB" altLang="en-GB" sz="3200"/>
              <a:t>Introduction</a:t>
            </a:r>
          </a:p>
        </p:txBody>
      </p:sp>
      <p:sp>
        <p:nvSpPr>
          <p:cNvPr id="157699" name="Rectangle 3">
            <a:extLst>
              <a:ext uri="{FF2B5EF4-FFF2-40B4-BE49-F238E27FC236}">
                <a16:creationId xmlns:a16="http://schemas.microsoft.com/office/drawing/2014/main" id="{B23B29C0-33B4-4CE1-B61A-11B1C55729AF}"/>
              </a:ext>
            </a:extLst>
          </p:cNvPr>
          <p:cNvSpPr>
            <a:spLocks noGrp="1" noChangeArrowheads="1"/>
          </p:cNvSpPr>
          <p:nvPr>
            <p:ph idx="1"/>
          </p:nvPr>
        </p:nvSpPr>
        <p:spPr>
          <a:xfrm>
            <a:off x="1703389" y="1412876"/>
            <a:ext cx="8785225" cy="4943475"/>
          </a:xfrm>
        </p:spPr>
        <p:txBody>
          <a:bodyPr rtlCol="0">
            <a:normAutofit lnSpcReduction="10000"/>
          </a:bodyPr>
          <a:lstStyle/>
          <a:p>
            <a:pPr algn="just" eaLnBrk="1" fontAlgn="auto" hangingPunct="1">
              <a:spcAft>
                <a:spcPts val="0"/>
              </a:spcAft>
              <a:defRPr/>
            </a:pPr>
            <a:r>
              <a:rPr lang="en-GB" dirty="0">
                <a:cs typeface="+mn-cs"/>
              </a:rPr>
              <a:t>‘</a:t>
            </a:r>
            <a:r>
              <a:rPr lang="en-GB" b="1" dirty="0">
                <a:cs typeface="+mn-cs"/>
              </a:rPr>
              <a:t>Survival Analysis</a:t>
            </a:r>
            <a:r>
              <a:rPr lang="en-GB" dirty="0">
                <a:cs typeface="+mn-cs"/>
              </a:rPr>
              <a:t>’ refers to techniques dealing with ‘time to an event’ data :</a:t>
            </a:r>
          </a:p>
          <a:p>
            <a:pPr algn="just" eaLnBrk="1" fontAlgn="auto" hangingPunct="1">
              <a:spcAft>
                <a:spcPts val="0"/>
              </a:spcAft>
              <a:defRPr/>
            </a:pPr>
            <a:r>
              <a:rPr lang="en-US" dirty="0">
                <a:cs typeface="+mn-cs"/>
              </a:rPr>
              <a:t>Survival analysis examines time until an event occurs.</a:t>
            </a:r>
          </a:p>
          <a:p>
            <a:pPr eaLnBrk="1" fontAlgn="auto" hangingPunct="1">
              <a:spcAft>
                <a:spcPts val="0"/>
              </a:spcAft>
              <a:defRPr/>
            </a:pPr>
            <a:r>
              <a:rPr lang="en-GB" dirty="0">
                <a:cs typeface="+mn-cs"/>
              </a:rPr>
              <a:t>E.g.</a:t>
            </a:r>
          </a:p>
          <a:p>
            <a:pPr lvl="2" eaLnBrk="1" fontAlgn="auto" hangingPunct="1">
              <a:spcAft>
                <a:spcPts val="0"/>
              </a:spcAft>
              <a:defRPr/>
            </a:pPr>
            <a:r>
              <a:rPr lang="en-GB" dirty="0">
                <a:cs typeface="+mn-cs"/>
              </a:rPr>
              <a:t>time to death;</a:t>
            </a:r>
          </a:p>
          <a:p>
            <a:pPr lvl="2" eaLnBrk="1" fontAlgn="auto" hangingPunct="1">
              <a:spcAft>
                <a:spcPts val="0"/>
              </a:spcAft>
              <a:defRPr/>
            </a:pPr>
            <a:r>
              <a:rPr lang="en-GB" dirty="0">
                <a:cs typeface="+mn-cs"/>
              </a:rPr>
              <a:t>time to recovery or cure;</a:t>
            </a:r>
          </a:p>
          <a:p>
            <a:pPr lvl="2" eaLnBrk="1" fontAlgn="auto" hangingPunct="1">
              <a:spcAft>
                <a:spcPts val="0"/>
              </a:spcAft>
              <a:defRPr/>
            </a:pPr>
            <a:r>
              <a:rPr lang="en-GB" dirty="0">
                <a:cs typeface="+mn-cs"/>
              </a:rPr>
              <a:t>waiting time for surgery;</a:t>
            </a:r>
          </a:p>
          <a:p>
            <a:pPr lvl="2" eaLnBrk="1" fontAlgn="auto" hangingPunct="1">
              <a:spcAft>
                <a:spcPts val="0"/>
              </a:spcAft>
              <a:defRPr/>
            </a:pPr>
            <a:r>
              <a:rPr lang="en-GB" dirty="0">
                <a:cs typeface="+mn-cs"/>
              </a:rPr>
              <a:t>Time to mechanical failure;</a:t>
            </a:r>
          </a:p>
          <a:p>
            <a:pPr lvl="2" eaLnBrk="1" fontAlgn="auto" hangingPunct="1">
              <a:spcAft>
                <a:spcPts val="0"/>
              </a:spcAft>
              <a:defRPr/>
            </a:pPr>
            <a:r>
              <a:rPr lang="en-GB" dirty="0">
                <a:cs typeface="+mn-cs"/>
              </a:rPr>
              <a:t>Time to remission</a:t>
            </a:r>
          </a:p>
          <a:p>
            <a:pPr eaLnBrk="1" fontAlgn="auto" hangingPunct="1">
              <a:spcAft>
                <a:spcPts val="0"/>
              </a:spcAft>
              <a:buNone/>
              <a:defRPr/>
            </a:pPr>
            <a:endParaRPr lang="en-GB" dirty="0">
              <a:cs typeface="+mn-cs"/>
            </a:endParaRPr>
          </a:p>
          <a:p>
            <a:pPr algn="just" eaLnBrk="1" fontAlgn="auto" hangingPunct="1">
              <a:spcAft>
                <a:spcPts val="0"/>
              </a:spcAft>
              <a:defRPr/>
            </a:pPr>
            <a:r>
              <a:rPr lang="en-GB" dirty="0">
                <a:cs typeface="+mn-cs"/>
              </a:rPr>
              <a:t>‘Time to event’ variables are commonly used </a:t>
            </a:r>
            <a:r>
              <a:rPr lang="en-GB" b="1" dirty="0">
                <a:cs typeface="+mn-cs"/>
              </a:rPr>
              <a:t>endpoints</a:t>
            </a:r>
            <a:r>
              <a:rPr lang="en-GB" dirty="0">
                <a:cs typeface="+mn-cs"/>
              </a:rPr>
              <a:t> in clinical studies, including RCTs and longitudinal cohort studies.</a:t>
            </a:r>
          </a:p>
        </p:txBody>
      </p:sp>
      <p:sp>
        <p:nvSpPr>
          <p:cNvPr id="12292"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E48352ED-98E8-432C-B848-EE89AD83F666}" type="slidenum">
              <a:rPr lang="en-GB" altLang="en-US" sz="1200">
                <a:latin typeface="Arial" panose="020B0604020202020204" pitchFamily="34" charset="0"/>
                <a:cs typeface="Arial" panose="020B0604020202020204" pitchFamily="34" charset="0"/>
              </a:rPr>
              <a:pPr fontAlgn="base">
                <a:spcBef>
                  <a:spcPct val="0"/>
                </a:spcBef>
                <a:spcAft>
                  <a:spcPct val="0"/>
                </a:spcAft>
              </a:pPr>
              <a:t>3</a:t>
            </a:fld>
            <a:endParaRPr lang="en-GB" altLang="en-US" sz="1200">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noChangeArrowheads="1"/>
          </p:cNvSpPr>
          <p:nvPr>
            <p:ph type="title"/>
          </p:nvPr>
        </p:nvSpPr>
        <p:spPr>
          <a:xfrm>
            <a:off x="2224088" y="188914"/>
            <a:ext cx="7975600" cy="752475"/>
          </a:xfrm>
        </p:spPr>
        <p:txBody>
          <a:bodyPr/>
          <a:lstStyle/>
          <a:p>
            <a:pPr eaLnBrk="1" hangingPunct="1"/>
            <a:r>
              <a:rPr lang="en-GB" altLang="en-GB"/>
              <a:t>Introduction</a:t>
            </a:r>
          </a:p>
        </p:txBody>
      </p:sp>
      <p:sp>
        <p:nvSpPr>
          <p:cNvPr id="11267" name="Content Placeholder 2">
            <a:extLst>
              <a:ext uri="{FF2B5EF4-FFF2-40B4-BE49-F238E27FC236}">
                <a16:creationId xmlns:a16="http://schemas.microsoft.com/office/drawing/2014/main" id="{90315C48-C953-4F92-A6EF-8C82CB704E0D}"/>
              </a:ext>
            </a:extLst>
          </p:cNvPr>
          <p:cNvSpPr>
            <a:spLocks noGrp="1" noChangeArrowheads="1"/>
          </p:cNvSpPr>
          <p:nvPr>
            <p:ph idx="1"/>
          </p:nvPr>
        </p:nvSpPr>
        <p:spPr>
          <a:xfrm>
            <a:off x="1992314" y="980729"/>
            <a:ext cx="8316458" cy="5542536"/>
          </a:xfrm>
        </p:spPr>
        <p:txBody>
          <a:bodyPr>
            <a:noAutofit/>
          </a:bodyPr>
          <a:lstStyle/>
          <a:p>
            <a:pPr algn="just" eaLnBrk="1" hangingPunct="1">
              <a:lnSpc>
                <a:spcPct val="80000"/>
              </a:lnSpc>
            </a:pPr>
            <a:r>
              <a:rPr lang="en-GB" altLang="en-GB" sz="2200" dirty="0"/>
              <a:t>Survival analysis is used to analyse data in which the </a:t>
            </a:r>
            <a:r>
              <a:rPr lang="en-GB" altLang="en-GB" sz="2200" b="1" i="1" dirty="0"/>
              <a:t>time until </a:t>
            </a:r>
            <a:r>
              <a:rPr lang="en-GB" altLang="en-GB" sz="2200" dirty="0"/>
              <a:t>the event of interest occurs. </a:t>
            </a:r>
          </a:p>
          <a:p>
            <a:pPr algn="just" eaLnBrk="1" hangingPunct="1">
              <a:lnSpc>
                <a:spcPct val="80000"/>
              </a:lnSpc>
            </a:pPr>
            <a:r>
              <a:rPr lang="en-GB" altLang="en-GB" sz="2200" dirty="0"/>
              <a:t>The ‘response variable’ is often referred to as a </a:t>
            </a:r>
            <a:r>
              <a:rPr lang="en-GB" altLang="en-GB" sz="2200" b="1" i="1" dirty="0"/>
              <a:t>failure time, survival time, or event time.</a:t>
            </a:r>
          </a:p>
          <a:p>
            <a:pPr algn="just" eaLnBrk="1" hangingPunct="1">
              <a:lnSpc>
                <a:spcPct val="80000"/>
              </a:lnSpc>
            </a:pPr>
            <a:endParaRPr lang="en-GB" altLang="en-GB" sz="2200" dirty="0"/>
          </a:p>
          <a:p>
            <a:pPr algn="just" eaLnBrk="1" hangingPunct="1">
              <a:lnSpc>
                <a:spcPct val="80000"/>
              </a:lnSpc>
            </a:pPr>
            <a:r>
              <a:rPr lang="en-GB" altLang="en-GB" sz="2200" dirty="0"/>
              <a:t>Failure times are always </a:t>
            </a:r>
            <a:r>
              <a:rPr lang="en-GB" altLang="en-GB" sz="2200" b="1" i="1" dirty="0"/>
              <a:t>non-negative</a:t>
            </a:r>
            <a:r>
              <a:rPr lang="en-GB" altLang="en-GB" sz="2200" dirty="0"/>
              <a:t>. That is, if we denote the failure time random variable by T, then T ≥0.</a:t>
            </a:r>
          </a:p>
          <a:p>
            <a:pPr algn="just" eaLnBrk="1" hangingPunct="1">
              <a:lnSpc>
                <a:spcPct val="80000"/>
              </a:lnSpc>
            </a:pPr>
            <a:r>
              <a:rPr lang="en-GB" altLang="en-GB" sz="2200" dirty="0"/>
              <a:t>T can either be discrete or continuous</a:t>
            </a:r>
          </a:p>
          <a:p>
            <a:pPr algn="just" eaLnBrk="1" hangingPunct="1">
              <a:lnSpc>
                <a:spcPct val="80000"/>
              </a:lnSpc>
            </a:pPr>
            <a:endParaRPr lang="en-GB" altLang="en-GB" sz="2200" dirty="0"/>
          </a:p>
          <a:p>
            <a:pPr algn="just" eaLnBrk="1" hangingPunct="1">
              <a:lnSpc>
                <a:spcPct val="80000"/>
              </a:lnSpc>
            </a:pPr>
            <a:r>
              <a:rPr lang="en-GB" altLang="en-GB" sz="2200" dirty="0"/>
              <a:t>In order to define a failure time random variable, we need:</a:t>
            </a:r>
          </a:p>
          <a:p>
            <a:pPr lvl="1" algn="just" eaLnBrk="1" hangingPunct="1">
              <a:lnSpc>
                <a:spcPct val="80000"/>
              </a:lnSpc>
              <a:buFont typeface="Calibri Light" panose="020F0302020204030204" pitchFamily="34" charset="0"/>
              <a:buAutoNum type="arabicPeriod"/>
            </a:pPr>
            <a:r>
              <a:rPr lang="en-GB" altLang="en-GB" sz="2200" dirty="0"/>
              <a:t>A </a:t>
            </a:r>
            <a:r>
              <a:rPr lang="en-GB" altLang="en-GB" sz="2200" b="1" dirty="0"/>
              <a:t>time origin t(0) </a:t>
            </a:r>
            <a:r>
              <a:rPr lang="en-GB" altLang="en-GB" sz="2200" dirty="0"/>
              <a:t>(e.g. diagnosis of a disease, start of treatment, servicing of a car, etc.,</a:t>
            </a:r>
          </a:p>
          <a:p>
            <a:pPr lvl="1" algn="just" eaLnBrk="1" hangingPunct="1">
              <a:lnSpc>
                <a:spcPct val="80000"/>
              </a:lnSpc>
              <a:buFont typeface="Calibri Light" panose="020F0302020204030204" pitchFamily="34" charset="0"/>
              <a:buAutoNum type="arabicPeriod"/>
            </a:pPr>
            <a:r>
              <a:rPr lang="en-GB" altLang="en-GB" sz="2200" dirty="0"/>
              <a:t>A </a:t>
            </a:r>
            <a:r>
              <a:rPr lang="en-GB" altLang="en-GB" sz="2200" b="1" dirty="0"/>
              <a:t>time scale </a:t>
            </a:r>
            <a:r>
              <a:rPr lang="en-GB" altLang="en-GB" sz="2200" dirty="0"/>
              <a:t>(e.g. days, years, mileage of a car)</a:t>
            </a:r>
          </a:p>
          <a:p>
            <a:pPr lvl="1" algn="just" eaLnBrk="1" hangingPunct="1">
              <a:lnSpc>
                <a:spcPct val="80000"/>
              </a:lnSpc>
              <a:buFont typeface="Calibri Light" panose="020F0302020204030204" pitchFamily="34" charset="0"/>
              <a:buAutoNum type="arabicPeriod"/>
            </a:pPr>
            <a:r>
              <a:rPr lang="en-GB" altLang="en-GB" sz="2200" dirty="0"/>
              <a:t>Definition of the ‘</a:t>
            </a:r>
            <a:r>
              <a:rPr lang="en-GB" altLang="en-GB" sz="2200" b="1" i="1" dirty="0"/>
              <a:t>event’</a:t>
            </a:r>
            <a:r>
              <a:rPr lang="en-GB" altLang="en-GB" sz="2200" dirty="0"/>
              <a:t> (e.g. death, remission of cancer, car breakdown, vaccination)</a:t>
            </a:r>
          </a:p>
        </p:txBody>
      </p:sp>
      <p:sp>
        <p:nvSpPr>
          <p:cNvPr id="4" name="Slide Number Placeholder 3">
            <a:extLst>
              <a:ext uri="{FF2B5EF4-FFF2-40B4-BE49-F238E27FC236}">
                <a16:creationId xmlns:a16="http://schemas.microsoft.com/office/drawing/2014/main" id="{33D05FEB-69A7-4FEB-876A-B845DE8ABBD7}"/>
              </a:ext>
            </a:extLst>
          </p:cNvPr>
          <p:cNvSpPr>
            <a:spLocks noGrp="1"/>
          </p:cNvSpPr>
          <p:nvPr>
            <p:ph type="sldNum" sz="quarter" idx="12"/>
          </p:nvPr>
        </p:nvSpPr>
        <p:spPr/>
        <p:txBody>
          <a:bodyPr/>
          <a:lstStyle/>
          <a:p>
            <a:pPr>
              <a:defRPr/>
            </a:pPr>
            <a:fld id="{4F1C3BB1-092C-406B-9651-B4F558E3C40C}" type="slidenum">
              <a:rPr lang="en-GB" altLang="en-US"/>
              <a:pPr>
                <a:defRPr/>
              </a:pPr>
              <a:t>4</a:t>
            </a:fld>
            <a:endParaRPr lang="en-GB" altLang="en-US"/>
          </a:p>
        </p:txBody>
      </p:sp>
    </p:spTree>
    <p:extLst>
      <p:ext uri="{BB962C8B-B14F-4D97-AF65-F5344CB8AC3E}">
        <p14:creationId xmlns:p14="http://schemas.microsoft.com/office/powerpoint/2010/main" val="21923792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p:cNvSpPr>
            <a:spLocks noGrp="1" noRot="1" noChangeArrowheads="1"/>
          </p:cNvSpPr>
          <p:nvPr>
            <p:ph type="title"/>
          </p:nvPr>
        </p:nvSpPr>
        <p:spPr>
          <a:xfrm>
            <a:off x="1979613" y="293688"/>
            <a:ext cx="8229600" cy="595312"/>
          </a:xfrm>
        </p:spPr>
        <p:txBody>
          <a:bodyPr/>
          <a:lstStyle/>
          <a:p>
            <a:pPr eaLnBrk="1" hangingPunct="1"/>
            <a:r>
              <a:rPr lang="en-GB" altLang="en-GB" sz="3200"/>
              <a:t>Introduction</a:t>
            </a:r>
          </a:p>
        </p:txBody>
      </p:sp>
      <p:sp>
        <p:nvSpPr>
          <p:cNvPr id="210947" name="Rectangle 3">
            <a:extLst>
              <a:ext uri="{FF2B5EF4-FFF2-40B4-BE49-F238E27FC236}">
                <a16:creationId xmlns:a16="http://schemas.microsoft.com/office/drawing/2014/main" id="{D3F82411-93D3-43AF-8462-9A0E992E91F5}"/>
              </a:ext>
            </a:extLst>
          </p:cNvPr>
          <p:cNvSpPr>
            <a:spLocks noGrp="1" noChangeArrowheads="1"/>
          </p:cNvSpPr>
          <p:nvPr>
            <p:ph idx="1"/>
          </p:nvPr>
        </p:nvSpPr>
        <p:spPr>
          <a:xfrm>
            <a:off x="1847851" y="1060451"/>
            <a:ext cx="8640763" cy="5503863"/>
          </a:xfrm>
        </p:spPr>
        <p:txBody>
          <a:bodyPr rtlCol="0">
            <a:noAutofit/>
          </a:bodyPr>
          <a:lstStyle/>
          <a:p>
            <a:pPr eaLnBrk="1" fontAlgn="auto" hangingPunct="1">
              <a:spcAft>
                <a:spcPts val="0"/>
              </a:spcAft>
              <a:defRPr/>
            </a:pPr>
            <a:r>
              <a:rPr lang="en-GB" sz="2200" dirty="0">
                <a:cs typeface="+mn-cs"/>
                <a:sym typeface="Symbol" pitchFamily="18" charset="2"/>
              </a:rPr>
              <a:t>When dealing with ‘time to an event’ data, two issues present a challenge for analysis :</a:t>
            </a:r>
            <a:br>
              <a:rPr lang="en-GB" sz="2200" dirty="0">
                <a:cs typeface="+mn-cs"/>
                <a:sym typeface="Symbol" pitchFamily="18" charset="2"/>
              </a:rPr>
            </a:br>
            <a:br>
              <a:rPr lang="en-GB" sz="2200" dirty="0">
                <a:cs typeface="+mn-cs"/>
                <a:sym typeface="Symbol" pitchFamily="18" charset="2"/>
              </a:rPr>
            </a:br>
            <a:r>
              <a:rPr lang="en-GB" sz="2200" dirty="0">
                <a:cs typeface="+mn-cs"/>
                <a:sym typeface="Symbol" pitchFamily="18" charset="2"/>
              </a:rPr>
              <a:t>(</a:t>
            </a:r>
            <a:r>
              <a:rPr lang="en-GB" sz="2200" dirty="0" err="1">
                <a:cs typeface="+mn-cs"/>
                <a:sym typeface="Symbol" pitchFamily="18" charset="2"/>
              </a:rPr>
              <a:t>i</a:t>
            </a:r>
            <a:r>
              <a:rPr lang="en-GB" sz="2200" dirty="0">
                <a:cs typeface="+mn-cs"/>
                <a:sym typeface="Symbol" pitchFamily="18" charset="2"/>
              </a:rPr>
              <a:t>) The distribution of ‘time to event’ variables is very often </a:t>
            </a:r>
            <a:r>
              <a:rPr lang="en-GB" sz="2200" b="1" i="1" dirty="0">
                <a:cs typeface="+mn-cs"/>
                <a:sym typeface="Symbol" pitchFamily="18" charset="2"/>
              </a:rPr>
              <a:t>right skewed</a:t>
            </a:r>
            <a:r>
              <a:rPr lang="en-GB" sz="2200" dirty="0">
                <a:cs typeface="+mn-cs"/>
                <a:sym typeface="Symbol" pitchFamily="18" charset="2"/>
              </a:rPr>
              <a:t>. </a:t>
            </a:r>
          </a:p>
          <a:p>
            <a:pPr eaLnBrk="1" fontAlgn="auto" hangingPunct="1">
              <a:spcAft>
                <a:spcPts val="0"/>
              </a:spcAft>
              <a:defRPr/>
            </a:pPr>
            <a:endParaRPr lang="en-GB" sz="2200" dirty="0">
              <a:cs typeface="+mn-cs"/>
              <a:sym typeface="Symbol" pitchFamily="18" charset="2"/>
            </a:endParaRPr>
          </a:p>
          <a:p>
            <a:pPr eaLnBrk="1" fontAlgn="auto" hangingPunct="1">
              <a:spcAft>
                <a:spcPts val="0"/>
              </a:spcAft>
              <a:defRPr/>
            </a:pPr>
            <a:endParaRPr lang="en-GB" sz="2200" dirty="0">
              <a:cs typeface="+mn-cs"/>
              <a:sym typeface="Symbol" pitchFamily="18" charset="2"/>
            </a:endParaRPr>
          </a:p>
          <a:p>
            <a:pPr eaLnBrk="1" fontAlgn="auto" hangingPunct="1">
              <a:spcAft>
                <a:spcPts val="0"/>
              </a:spcAft>
              <a:defRPr/>
            </a:pPr>
            <a:endParaRPr lang="en-GB" sz="2200" dirty="0">
              <a:cs typeface="+mn-cs"/>
              <a:sym typeface="Symbol" pitchFamily="18" charset="2"/>
            </a:endParaRPr>
          </a:p>
          <a:p>
            <a:pPr eaLnBrk="1" fontAlgn="auto" hangingPunct="1">
              <a:spcAft>
                <a:spcPts val="0"/>
              </a:spcAft>
              <a:defRPr/>
            </a:pPr>
            <a:endParaRPr lang="en-GB" sz="2200" dirty="0">
              <a:cs typeface="+mn-cs"/>
              <a:sym typeface="Symbol" pitchFamily="18" charset="2"/>
            </a:endParaRPr>
          </a:p>
          <a:p>
            <a:pPr eaLnBrk="1" fontAlgn="auto" hangingPunct="1">
              <a:spcAft>
                <a:spcPts val="0"/>
              </a:spcAft>
              <a:defRPr/>
            </a:pPr>
            <a:r>
              <a:rPr lang="en-GB" sz="2200" dirty="0">
                <a:cs typeface="+mn-cs"/>
                <a:sym typeface="Symbol" pitchFamily="18" charset="2"/>
              </a:rPr>
              <a:t>While some individuals will experience the event of interest soon after t(0), others will experience the event much later</a:t>
            </a:r>
          </a:p>
          <a:p>
            <a:pPr eaLnBrk="1" fontAlgn="auto" hangingPunct="1">
              <a:spcAft>
                <a:spcPts val="0"/>
              </a:spcAft>
              <a:defRPr/>
            </a:pPr>
            <a:endParaRPr lang="en-GB" sz="2200" dirty="0">
              <a:cs typeface="+mn-cs"/>
              <a:sym typeface="Symbol" pitchFamily="18" charset="2"/>
            </a:endParaRPr>
          </a:p>
          <a:p>
            <a:pPr eaLnBrk="1" fontAlgn="auto" hangingPunct="1">
              <a:spcAft>
                <a:spcPts val="0"/>
              </a:spcAft>
              <a:defRPr/>
            </a:pPr>
            <a:r>
              <a:rPr lang="en-US" sz="2200" dirty="0">
                <a:cs typeface="+mn-cs"/>
                <a:sym typeface="Symbol" pitchFamily="18" charset="2"/>
              </a:rPr>
              <a:t>In a group of patients who undergo chemotherapy for breast cancer and achieve remission, the length of time each individual remains in remission will vary</a:t>
            </a:r>
            <a:endParaRPr lang="en-GB" sz="2200" dirty="0">
              <a:cs typeface="+mn-cs"/>
              <a:sym typeface="Symbol" pitchFamily="18" charset="2"/>
            </a:endParaRPr>
          </a:p>
        </p:txBody>
      </p:sp>
      <p:sp>
        <p:nvSpPr>
          <p:cNvPr id="14340"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F993CD4B-A8E7-473A-81F6-D264DE81B213}" type="slidenum">
              <a:rPr lang="en-GB" altLang="en-US" sz="1200">
                <a:latin typeface="Arial" panose="020B0604020202020204" pitchFamily="34" charset="0"/>
                <a:cs typeface="Arial" panose="020B0604020202020204" pitchFamily="34" charset="0"/>
              </a:rPr>
              <a:pPr fontAlgn="base">
                <a:spcBef>
                  <a:spcPct val="0"/>
                </a:spcBef>
                <a:spcAft>
                  <a:spcPct val="0"/>
                </a:spcAft>
              </a:pPr>
              <a:t>5</a:t>
            </a:fld>
            <a:endParaRPr lang="en-GB" altLang="en-US" sz="1200">
              <a:latin typeface="Arial" panose="020B0604020202020204" pitchFamily="34" charset="0"/>
              <a:cs typeface="Arial" panose="020B0604020202020204" pitchFamily="34" charset="0"/>
            </a:endParaRPr>
          </a:p>
        </p:txBody>
      </p:sp>
      <p:sp>
        <p:nvSpPr>
          <p:cNvPr id="4" name="Left Brace 3">
            <a:extLst>
              <a:ext uri="{FF2B5EF4-FFF2-40B4-BE49-F238E27FC236}">
                <a16:creationId xmlns:a16="http://schemas.microsoft.com/office/drawing/2014/main" id="{BFC156BA-2110-4EC1-970E-C503BF0CFC47}"/>
              </a:ext>
            </a:extLst>
          </p:cNvPr>
          <p:cNvSpPr/>
          <p:nvPr/>
        </p:nvSpPr>
        <p:spPr>
          <a:xfrm>
            <a:off x="3216275" y="2806700"/>
            <a:ext cx="44450" cy="46038"/>
          </a:xfrm>
          <a:prstGeom prst="leftBrace">
            <a:avLst/>
          </a:prstGeom>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lang="en-KE"/>
          </a:p>
        </p:txBody>
      </p:sp>
      <p:pic>
        <p:nvPicPr>
          <p:cNvPr id="2" name="Picture 1"/>
          <p:cNvPicPr>
            <a:picLocks noChangeAspect="1"/>
          </p:cNvPicPr>
          <p:nvPr/>
        </p:nvPicPr>
        <p:blipFill>
          <a:blip r:embed="rId2"/>
          <a:stretch>
            <a:fillRect/>
          </a:stretch>
        </p:blipFill>
        <p:spPr>
          <a:xfrm>
            <a:off x="5375920" y="2435021"/>
            <a:ext cx="2520280" cy="1845071"/>
          </a:xfrm>
          <a:prstGeom prst="rect">
            <a:avLst/>
          </a:prstGeom>
          <a:ln>
            <a:solidFill>
              <a:schemeClr val="tx1"/>
            </a:solid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Rectangle 2"/>
          <p:cNvSpPr>
            <a:spLocks noGrp="1" noRot="1" noChangeArrowheads="1"/>
          </p:cNvSpPr>
          <p:nvPr>
            <p:ph type="title"/>
          </p:nvPr>
        </p:nvSpPr>
        <p:spPr>
          <a:xfrm>
            <a:off x="1979613" y="293688"/>
            <a:ext cx="8229600" cy="595312"/>
          </a:xfrm>
        </p:spPr>
        <p:txBody>
          <a:bodyPr/>
          <a:lstStyle/>
          <a:p>
            <a:pPr eaLnBrk="1" hangingPunct="1"/>
            <a:r>
              <a:rPr lang="en-GB" altLang="en-GB" sz="3200"/>
              <a:t>Introduction</a:t>
            </a:r>
          </a:p>
        </p:txBody>
      </p:sp>
      <p:sp>
        <p:nvSpPr>
          <p:cNvPr id="210947" name="Rectangle 3">
            <a:extLst>
              <a:ext uri="{FF2B5EF4-FFF2-40B4-BE49-F238E27FC236}">
                <a16:creationId xmlns:a16="http://schemas.microsoft.com/office/drawing/2014/main" id="{D3F82411-93D3-43AF-8462-9A0E992E91F5}"/>
              </a:ext>
            </a:extLst>
          </p:cNvPr>
          <p:cNvSpPr>
            <a:spLocks noGrp="1" noChangeArrowheads="1"/>
          </p:cNvSpPr>
          <p:nvPr>
            <p:ph idx="1"/>
          </p:nvPr>
        </p:nvSpPr>
        <p:spPr>
          <a:xfrm>
            <a:off x="1847851" y="1060451"/>
            <a:ext cx="8640763" cy="5503863"/>
          </a:xfrm>
        </p:spPr>
        <p:txBody>
          <a:bodyPr rtlCol="0">
            <a:noAutofit/>
          </a:bodyPr>
          <a:lstStyle/>
          <a:p>
            <a:pPr algn="just" eaLnBrk="1" fontAlgn="auto" hangingPunct="1">
              <a:spcAft>
                <a:spcPts val="0"/>
              </a:spcAft>
              <a:buNone/>
              <a:defRPr/>
            </a:pPr>
            <a:r>
              <a:rPr lang="en-GB" sz="2200" dirty="0">
                <a:cs typeface="+mn-cs"/>
                <a:sym typeface="Symbol" pitchFamily="18" charset="2"/>
              </a:rPr>
              <a:t>	(ii)  Time to event data is often ‘censored’. </a:t>
            </a:r>
          </a:p>
          <a:p>
            <a:pPr algn="just" eaLnBrk="1" fontAlgn="auto" hangingPunct="1">
              <a:spcAft>
                <a:spcPts val="0"/>
              </a:spcAft>
              <a:buNone/>
              <a:defRPr/>
            </a:pPr>
            <a:endParaRPr lang="en-GB" sz="2200" dirty="0">
              <a:cs typeface="+mn-cs"/>
              <a:sym typeface="Symbol" pitchFamily="18" charset="2"/>
            </a:endParaRPr>
          </a:p>
          <a:p>
            <a:pPr marL="514350" indent="-342900" algn="just" eaLnBrk="1" fontAlgn="auto" hangingPunct="1">
              <a:spcAft>
                <a:spcPts val="0"/>
              </a:spcAft>
              <a:defRPr/>
            </a:pPr>
            <a:r>
              <a:rPr lang="en-GB" sz="2200" dirty="0">
                <a:cs typeface="+mn-cs"/>
              </a:rPr>
              <a:t>Censoring refers to incomplete measurement of the time to an event or not observing the event of interest.</a:t>
            </a:r>
          </a:p>
          <a:p>
            <a:pPr indent="0" algn="just" eaLnBrk="1" fontAlgn="auto" hangingPunct="1">
              <a:spcAft>
                <a:spcPts val="0"/>
              </a:spcAft>
              <a:buNone/>
              <a:defRPr/>
            </a:pPr>
            <a:endParaRPr lang="en-GB" sz="2200" dirty="0">
              <a:cs typeface="+mn-cs"/>
            </a:endParaRPr>
          </a:p>
          <a:p>
            <a:pPr marL="514350" indent="-342900" algn="just" eaLnBrk="1" fontAlgn="auto" hangingPunct="1">
              <a:spcAft>
                <a:spcPts val="0"/>
              </a:spcAft>
              <a:defRPr/>
            </a:pPr>
            <a:r>
              <a:rPr lang="en-GB" sz="2200" dirty="0">
                <a:cs typeface="+mn-cs"/>
              </a:rPr>
              <a:t>While most study participants will experience the event of interest during the study, others will not, or will be lost to follow up. </a:t>
            </a:r>
          </a:p>
          <a:p>
            <a:pPr marL="514350" indent="-342900" algn="just" eaLnBrk="1" fontAlgn="auto" hangingPunct="1">
              <a:spcAft>
                <a:spcPts val="0"/>
              </a:spcAft>
              <a:defRPr/>
            </a:pPr>
            <a:endParaRPr lang="en-GB" sz="2200" dirty="0">
              <a:cs typeface="+mn-cs"/>
            </a:endParaRPr>
          </a:p>
          <a:p>
            <a:pPr marL="514350" indent="-342900" algn="just" eaLnBrk="1" fontAlgn="auto" hangingPunct="1">
              <a:spcAft>
                <a:spcPts val="0"/>
              </a:spcAft>
              <a:defRPr/>
            </a:pPr>
            <a:r>
              <a:rPr lang="en-GB" sz="2200" dirty="0">
                <a:cs typeface="+mn-cs"/>
              </a:rPr>
              <a:t>In our example of women </a:t>
            </a:r>
            <a:r>
              <a:rPr lang="en-US" sz="2200" dirty="0">
                <a:cs typeface="+mn-cs"/>
              </a:rPr>
              <a:t>who undergo chemotherapy for breast cancer and achieve remission, some women will relapse during the study period while others will remain in remission till the end of the study period</a:t>
            </a:r>
            <a:endParaRPr lang="en-GB" sz="2200" dirty="0">
              <a:cs typeface="+mn-cs"/>
              <a:sym typeface="Symbol" pitchFamily="18" charset="2"/>
            </a:endParaRPr>
          </a:p>
        </p:txBody>
      </p:sp>
      <p:sp>
        <p:nvSpPr>
          <p:cNvPr id="15364"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26B56EFF-1279-4385-9B2E-5235C408C09E}" type="slidenum">
              <a:rPr lang="en-GB" altLang="en-US" sz="1200">
                <a:latin typeface="Arial" panose="020B0604020202020204" pitchFamily="34" charset="0"/>
                <a:cs typeface="Arial" panose="020B0604020202020204" pitchFamily="34" charset="0"/>
              </a:rPr>
              <a:pPr fontAlgn="base">
                <a:spcBef>
                  <a:spcPct val="0"/>
                </a:spcBef>
                <a:spcAft>
                  <a:spcPct val="0"/>
                </a:spcAft>
              </a:pPr>
              <a:t>6</a:t>
            </a:fld>
            <a:endParaRPr lang="en-GB" altLang="en-US" sz="1200" dirty="0">
              <a:latin typeface="Arial" panose="020B0604020202020204" pitchFamily="34" charset="0"/>
              <a:cs typeface="Arial" panose="020B0604020202020204" pitchFamily="34" charset="0"/>
            </a:endParaRPr>
          </a:p>
        </p:txBody>
      </p:sp>
      <p:sp>
        <p:nvSpPr>
          <p:cNvPr id="4" name="Left Brace 3">
            <a:extLst>
              <a:ext uri="{FF2B5EF4-FFF2-40B4-BE49-F238E27FC236}">
                <a16:creationId xmlns:a16="http://schemas.microsoft.com/office/drawing/2014/main" id="{BFC156BA-2110-4EC1-970E-C503BF0CFC47}"/>
              </a:ext>
            </a:extLst>
          </p:cNvPr>
          <p:cNvSpPr/>
          <p:nvPr/>
        </p:nvSpPr>
        <p:spPr>
          <a:xfrm>
            <a:off x="3216275" y="2806700"/>
            <a:ext cx="44450" cy="46038"/>
          </a:xfrm>
          <a:prstGeom prst="leftBrace">
            <a:avLst/>
          </a:prstGeom>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lang="en-KE"/>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noChangeArrowheads="1"/>
          </p:cNvSpPr>
          <p:nvPr>
            <p:ph type="title"/>
          </p:nvPr>
        </p:nvSpPr>
        <p:spPr>
          <a:xfrm>
            <a:off x="2208214" y="242889"/>
            <a:ext cx="7831137" cy="896937"/>
          </a:xfrm>
        </p:spPr>
        <p:txBody>
          <a:bodyPr/>
          <a:lstStyle/>
          <a:p>
            <a:pPr eaLnBrk="1" hangingPunct="1"/>
            <a:r>
              <a:rPr lang="en-GB" altLang="en-GB"/>
              <a:t>Left vs Right Censoring</a:t>
            </a:r>
          </a:p>
        </p:txBody>
      </p:sp>
      <p:sp>
        <p:nvSpPr>
          <p:cNvPr id="19460" name="Content Placeholder 9"/>
          <p:cNvSpPr>
            <a:spLocks noGrp="1" noChangeArrowheads="1"/>
          </p:cNvSpPr>
          <p:nvPr>
            <p:ph idx="1"/>
          </p:nvPr>
        </p:nvSpPr>
        <p:spPr>
          <a:xfrm>
            <a:off x="2152651" y="1139825"/>
            <a:ext cx="8120063" cy="5384800"/>
          </a:xfrm>
        </p:spPr>
        <p:txBody>
          <a:bodyPr>
            <a:normAutofit fontScale="92500" lnSpcReduction="10000"/>
          </a:bodyPr>
          <a:lstStyle/>
          <a:p>
            <a:pPr algn="just" eaLnBrk="1" hangingPunct="1"/>
            <a:r>
              <a:rPr lang="en-GB" altLang="en-GB" dirty="0"/>
              <a:t>Let us imagine that some proportion of the population has been exposed to a virus and individuals are tested at a given point in time to see whether they have the virus or not. </a:t>
            </a:r>
          </a:p>
          <a:p>
            <a:pPr algn="just" eaLnBrk="1" hangingPunct="1"/>
            <a:endParaRPr lang="en-GB" altLang="en-GB" dirty="0"/>
          </a:p>
          <a:p>
            <a:pPr algn="just" eaLnBrk="1" hangingPunct="1"/>
            <a:r>
              <a:rPr lang="en-GB" altLang="en-GB" dirty="0"/>
              <a:t>We will assume that these tests are very accurate</a:t>
            </a:r>
          </a:p>
          <a:p>
            <a:pPr algn="just" eaLnBrk="1" hangingPunct="1"/>
            <a:endParaRPr lang="en-GB" altLang="en-GB" dirty="0"/>
          </a:p>
          <a:p>
            <a:pPr algn="just" eaLnBrk="1" hangingPunct="1"/>
            <a:r>
              <a:rPr lang="en-GB" altLang="en-GB" dirty="0"/>
              <a:t>Given this assumption, we can say that people with a positive test contracted the virus at some point leading up to the test, but we don’t know exactly when they contracted the virus. </a:t>
            </a:r>
          </a:p>
          <a:p>
            <a:pPr algn="just" eaLnBrk="1" hangingPunct="1"/>
            <a:r>
              <a:rPr lang="en-GB" altLang="en-GB" dirty="0"/>
              <a:t>We do not know how much time passed between exposure and infection</a:t>
            </a:r>
          </a:p>
          <a:p>
            <a:pPr algn="just" eaLnBrk="1" hangingPunct="1"/>
            <a:r>
              <a:rPr lang="en-GB" altLang="en-GB" dirty="0"/>
              <a:t>These are </a:t>
            </a:r>
            <a:r>
              <a:rPr lang="en-GB" altLang="en-GB" b="1" dirty="0"/>
              <a:t>‘left censored’</a:t>
            </a:r>
          </a:p>
        </p:txBody>
      </p:sp>
      <p:sp>
        <p:nvSpPr>
          <p:cNvPr id="4" name="Slide Number Placeholder 3">
            <a:extLst>
              <a:ext uri="{FF2B5EF4-FFF2-40B4-BE49-F238E27FC236}">
                <a16:creationId xmlns:a16="http://schemas.microsoft.com/office/drawing/2014/main" id="{CCC07564-5BC3-4452-91DC-34A30400A06E}"/>
              </a:ext>
            </a:extLst>
          </p:cNvPr>
          <p:cNvSpPr>
            <a:spLocks noGrp="1"/>
          </p:cNvSpPr>
          <p:nvPr>
            <p:ph type="sldNum" sz="quarter" idx="12"/>
          </p:nvPr>
        </p:nvSpPr>
        <p:spPr/>
        <p:txBody>
          <a:bodyPr/>
          <a:lstStyle/>
          <a:p>
            <a:pPr>
              <a:defRPr/>
            </a:pPr>
            <a:fld id="{76C8612B-42AF-4766-ACEE-AEF41AAAF729}" type="slidenum">
              <a:rPr lang="en-GB" altLang="en-US"/>
              <a:pPr>
                <a:defRPr/>
              </a:pPr>
              <a:t>7</a:t>
            </a:fld>
            <a:endParaRPr lang="en-GB"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noChangeArrowheads="1"/>
          </p:cNvSpPr>
          <p:nvPr>
            <p:ph type="title"/>
          </p:nvPr>
        </p:nvSpPr>
        <p:spPr>
          <a:xfrm>
            <a:off x="2208214" y="242889"/>
            <a:ext cx="7831137" cy="896937"/>
          </a:xfrm>
        </p:spPr>
        <p:txBody>
          <a:bodyPr/>
          <a:lstStyle/>
          <a:p>
            <a:pPr eaLnBrk="1" hangingPunct="1"/>
            <a:r>
              <a:rPr lang="en-GB" altLang="en-GB"/>
              <a:t>Left vs Right Censoring</a:t>
            </a:r>
          </a:p>
        </p:txBody>
      </p:sp>
      <p:sp>
        <p:nvSpPr>
          <p:cNvPr id="10" name="Content Placeholder 9">
            <a:extLst>
              <a:ext uri="{FF2B5EF4-FFF2-40B4-BE49-F238E27FC236}">
                <a16:creationId xmlns:a16="http://schemas.microsoft.com/office/drawing/2014/main" id="{D4E7D7F2-BC87-4B3A-BA23-F04756F6F85E}"/>
              </a:ext>
            </a:extLst>
          </p:cNvPr>
          <p:cNvSpPr>
            <a:spLocks noGrp="1"/>
          </p:cNvSpPr>
          <p:nvPr>
            <p:ph idx="1"/>
          </p:nvPr>
        </p:nvSpPr>
        <p:spPr>
          <a:xfrm>
            <a:off x="2152651" y="1139825"/>
            <a:ext cx="8120063" cy="5384800"/>
          </a:xfrm>
        </p:spPr>
        <p:txBody>
          <a:bodyPr rtlCol="0">
            <a:normAutofit lnSpcReduction="10000"/>
          </a:bodyPr>
          <a:lstStyle/>
          <a:p>
            <a:pPr algn="just" eaLnBrk="1" fontAlgn="auto" hangingPunct="1">
              <a:spcAft>
                <a:spcPts val="0"/>
              </a:spcAft>
              <a:defRPr/>
            </a:pPr>
            <a:r>
              <a:rPr lang="en-GB" dirty="0">
                <a:cs typeface="+mn-cs"/>
              </a:rPr>
              <a:t>They are left-censored, since the event is when the individual contracted the virus, not the positive test.</a:t>
            </a:r>
          </a:p>
          <a:p>
            <a:pPr algn="just" eaLnBrk="1" fontAlgn="auto" hangingPunct="1">
              <a:spcAft>
                <a:spcPts val="0"/>
              </a:spcAft>
              <a:defRPr/>
            </a:pPr>
            <a:endParaRPr lang="en-GB" dirty="0">
              <a:cs typeface="+mn-cs"/>
            </a:endParaRPr>
          </a:p>
          <a:p>
            <a:pPr algn="just" eaLnBrk="1" fontAlgn="auto" hangingPunct="1">
              <a:spcAft>
                <a:spcPts val="0"/>
              </a:spcAft>
              <a:defRPr/>
            </a:pPr>
            <a:r>
              <a:rPr lang="en-GB" b="1" dirty="0"/>
              <a:t>Left censoring</a:t>
            </a:r>
            <a:r>
              <a:rPr lang="en-GB" dirty="0"/>
              <a:t> is when the event has occurred before the data is collected (or study has started) – that is we only know the upper bound of the time.</a:t>
            </a:r>
            <a:endParaRPr lang="en-GB" dirty="0">
              <a:cs typeface="+mn-cs"/>
            </a:endParaRPr>
          </a:p>
          <a:p>
            <a:pPr algn="just" eaLnBrk="1" fontAlgn="auto" hangingPunct="1">
              <a:spcAft>
                <a:spcPts val="0"/>
              </a:spcAft>
              <a:defRPr/>
            </a:pPr>
            <a:endParaRPr lang="en-GB" dirty="0"/>
          </a:p>
          <a:p>
            <a:pPr algn="just" eaLnBrk="1" fontAlgn="auto" hangingPunct="1">
              <a:spcAft>
                <a:spcPts val="0"/>
              </a:spcAft>
              <a:defRPr/>
            </a:pPr>
            <a:r>
              <a:rPr lang="en-GB" dirty="0"/>
              <a:t>The same test is repeated at time(t) among the non-infected participants. Participants who test positive are said to be </a:t>
            </a:r>
            <a:r>
              <a:rPr lang="en-GB" b="1" dirty="0"/>
              <a:t>interval censored</a:t>
            </a:r>
            <a:r>
              <a:rPr lang="en-GB" dirty="0"/>
              <a:t>. </a:t>
            </a:r>
          </a:p>
          <a:p>
            <a:pPr algn="just" eaLnBrk="1" fontAlgn="auto" hangingPunct="1">
              <a:spcAft>
                <a:spcPts val="0"/>
              </a:spcAft>
              <a:defRPr/>
            </a:pPr>
            <a:endParaRPr lang="en-GB" dirty="0"/>
          </a:p>
          <a:p>
            <a:pPr algn="just" eaLnBrk="1" fontAlgn="auto" hangingPunct="1">
              <a:spcAft>
                <a:spcPts val="0"/>
              </a:spcAft>
              <a:defRPr/>
            </a:pPr>
            <a:r>
              <a:rPr lang="en-GB" dirty="0"/>
              <a:t>Interval censoring occurs when the event of interest occurs during a </a:t>
            </a:r>
            <a:r>
              <a:rPr lang="en-GB" i="1" dirty="0"/>
              <a:t>known time window</a:t>
            </a:r>
          </a:p>
          <a:p>
            <a:pPr algn="just" eaLnBrk="1" fontAlgn="auto" hangingPunct="1">
              <a:spcAft>
                <a:spcPts val="0"/>
              </a:spcAft>
              <a:defRPr/>
            </a:pPr>
            <a:endParaRPr lang="en-GB" dirty="0">
              <a:cs typeface="+mn-cs"/>
            </a:endParaRPr>
          </a:p>
          <a:p>
            <a:pPr algn="just" eaLnBrk="1" fontAlgn="auto" hangingPunct="1">
              <a:spcAft>
                <a:spcPts val="0"/>
              </a:spcAft>
              <a:defRPr/>
            </a:pPr>
            <a:endParaRPr lang="en-GB" dirty="0">
              <a:cs typeface="+mn-cs"/>
            </a:endParaRPr>
          </a:p>
          <a:p>
            <a:pPr algn="just" eaLnBrk="1" fontAlgn="auto" hangingPunct="1">
              <a:spcAft>
                <a:spcPts val="0"/>
              </a:spcAft>
              <a:defRPr/>
            </a:pPr>
            <a:endParaRPr lang="en-GB" dirty="0">
              <a:cs typeface="+mn-cs"/>
            </a:endParaRPr>
          </a:p>
          <a:p>
            <a:pPr algn="just" eaLnBrk="1" fontAlgn="auto" hangingPunct="1">
              <a:spcAft>
                <a:spcPts val="0"/>
              </a:spcAft>
              <a:defRPr/>
            </a:pPr>
            <a:endParaRPr lang="en-GB" dirty="0">
              <a:cs typeface="+mn-cs"/>
            </a:endParaRPr>
          </a:p>
          <a:p>
            <a:pPr algn="just" eaLnBrk="1" fontAlgn="auto" hangingPunct="1">
              <a:spcAft>
                <a:spcPts val="0"/>
              </a:spcAft>
              <a:defRPr/>
            </a:pPr>
            <a:endParaRPr lang="en-KE" dirty="0">
              <a:cs typeface="+mn-cs"/>
            </a:endParaRPr>
          </a:p>
        </p:txBody>
      </p:sp>
      <p:sp>
        <p:nvSpPr>
          <p:cNvPr id="4" name="Slide Number Placeholder 3">
            <a:extLst>
              <a:ext uri="{FF2B5EF4-FFF2-40B4-BE49-F238E27FC236}">
                <a16:creationId xmlns:a16="http://schemas.microsoft.com/office/drawing/2014/main" id="{CCC07564-5BC3-4452-91DC-34A30400A06E}"/>
              </a:ext>
            </a:extLst>
          </p:cNvPr>
          <p:cNvSpPr>
            <a:spLocks noGrp="1"/>
          </p:cNvSpPr>
          <p:nvPr>
            <p:ph type="sldNum" sz="quarter" idx="12"/>
          </p:nvPr>
        </p:nvSpPr>
        <p:spPr/>
        <p:txBody>
          <a:bodyPr/>
          <a:lstStyle/>
          <a:p>
            <a:pPr>
              <a:defRPr/>
            </a:pPr>
            <a:fld id="{E0A92682-E60C-4A08-B367-250B33B4D8CB}" type="slidenum">
              <a:rPr lang="en-GB" altLang="en-US"/>
              <a:pPr>
                <a:defRPr/>
              </a:pPr>
              <a:t>8</a:t>
            </a:fld>
            <a:endParaRPr lang="en-GB" altLang="en-US"/>
          </a:p>
        </p:txBody>
      </p:sp>
    </p:spTree>
    <p:extLst>
      <p:ext uri="{BB962C8B-B14F-4D97-AF65-F5344CB8AC3E}">
        <p14:creationId xmlns:p14="http://schemas.microsoft.com/office/powerpoint/2010/main" val="11782721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noChangeArrowheads="1"/>
          </p:cNvSpPr>
          <p:nvPr>
            <p:ph type="title"/>
          </p:nvPr>
        </p:nvSpPr>
        <p:spPr>
          <a:xfrm>
            <a:off x="2208214" y="242889"/>
            <a:ext cx="7831137" cy="896937"/>
          </a:xfrm>
        </p:spPr>
        <p:txBody>
          <a:bodyPr/>
          <a:lstStyle/>
          <a:p>
            <a:pPr eaLnBrk="1" hangingPunct="1"/>
            <a:r>
              <a:rPr lang="en-GB" altLang="en-GB"/>
              <a:t>Left vs Right Censoring</a:t>
            </a:r>
          </a:p>
        </p:txBody>
      </p:sp>
      <p:sp>
        <p:nvSpPr>
          <p:cNvPr id="10" name="Content Placeholder 9">
            <a:extLst>
              <a:ext uri="{FF2B5EF4-FFF2-40B4-BE49-F238E27FC236}">
                <a16:creationId xmlns:a16="http://schemas.microsoft.com/office/drawing/2014/main" id="{D4E7D7F2-BC87-4B3A-BA23-F04756F6F85E}"/>
              </a:ext>
            </a:extLst>
          </p:cNvPr>
          <p:cNvSpPr>
            <a:spLocks noGrp="1"/>
          </p:cNvSpPr>
          <p:nvPr>
            <p:ph idx="1"/>
          </p:nvPr>
        </p:nvSpPr>
        <p:spPr>
          <a:xfrm>
            <a:off x="2152651" y="1139825"/>
            <a:ext cx="8120063" cy="5384800"/>
          </a:xfrm>
        </p:spPr>
        <p:txBody>
          <a:bodyPr rtlCol="0">
            <a:normAutofit fontScale="92500" lnSpcReduction="20000"/>
          </a:bodyPr>
          <a:lstStyle/>
          <a:p>
            <a:pPr algn="just" eaLnBrk="1" fontAlgn="auto" hangingPunct="1">
              <a:spcAft>
                <a:spcPts val="0"/>
              </a:spcAft>
              <a:defRPr/>
            </a:pPr>
            <a:r>
              <a:rPr lang="en-GB" dirty="0">
                <a:cs typeface="+mn-cs"/>
              </a:rPr>
              <a:t>A final test is done among the remaining exposed  participants</a:t>
            </a:r>
          </a:p>
          <a:p>
            <a:pPr algn="just" eaLnBrk="1" fontAlgn="auto" hangingPunct="1">
              <a:spcAft>
                <a:spcPts val="0"/>
              </a:spcAft>
              <a:defRPr/>
            </a:pPr>
            <a:endParaRPr lang="en-GB" dirty="0">
              <a:cs typeface="+mn-cs"/>
            </a:endParaRPr>
          </a:p>
          <a:p>
            <a:pPr algn="just" eaLnBrk="1" fontAlgn="auto" hangingPunct="1">
              <a:spcAft>
                <a:spcPts val="0"/>
              </a:spcAft>
              <a:defRPr/>
            </a:pPr>
            <a:r>
              <a:rPr lang="en-GB" dirty="0">
                <a:cs typeface="+mn-cs"/>
              </a:rPr>
              <a:t>All individuals who test negative will be said to be right censored</a:t>
            </a:r>
          </a:p>
          <a:p>
            <a:pPr algn="just" eaLnBrk="1" fontAlgn="auto" hangingPunct="1">
              <a:spcAft>
                <a:spcPts val="0"/>
              </a:spcAft>
              <a:defRPr/>
            </a:pPr>
            <a:endParaRPr lang="en-GB" dirty="0">
              <a:cs typeface="+mn-cs"/>
            </a:endParaRPr>
          </a:p>
          <a:p>
            <a:pPr algn="just" eaLnBrk="1" fontAlgn="auto" hangingPunct="1">
              <a:spcAft>
                <a:spcPts val="0"/>
              </a:spcAft>
              <a:defRPr/>
            </a:pPr>
            <a:r>
              <a:rPr lang="en-GB" dirty="0">
                <a:cs typeface="+mn-cs"/>
              </a:rPr>
              <a:t>All individuals who contracted the virus after the last testing and all individuals who never contracted the virus are considered to be </a:t>
            </a:r>
            <a:r>
              <a:rPr lang="en-GB" b="1" dirty="0">
                <a:cs typeface="+mn-cs"/>
              </a:rPr>
              <a:t>‘right censored’.</a:t>
            </a:r>
          </a:p>
          <a:p>
            <a:pPr algn="just" eaLnBrk="1" fontAlgn="auto" hangingPunct="1">
              <a:spcAft>
                <a:spcPts val="0"/>
              </a:spcAft>
              <a:defRPr/>
            </a:pPr>
            <a:endParaRPr lang="en-GB" b="1" dirty="0">
              <a:cs typeface="+mn-cs"/>
            </a:endParaRPr>
          </a:p>
          <a:p>
            <a:pPr algn="just" eaLnBrk="1" fontAlgn="auto" hangingPunct="1">
              <a:spcAft>
                <a:spcPts val="0"/>
              </a:spcAft>
              <a:defRPr/>
            </a:pPr>
            <a:r>
              <a:rPr lang="en-GB" b="1" dirty="0">
                <a:cs typeface="+mn-cs"/>
              </a:rPr>
              <a:t>Right censoring </a:t>
            </a:r>
            <a:r>
              <a:rPr lang="en-GB" dirty="0">
                <a:cs typeface="+mn-cs"/>
              </a:rPr>
              <a:t>occurs when a participant has not yet reached the milestone of interest at the end of the study</a:t>
            </a:r>
          </a:p>
          <a:p>
            <a:pPr algn="just" eaLnBrk="1" fontAlgn="auto" hangingPunct="1">
              <a:spcAft>
                <a:spcPts val="0"/>
              </a:spcAft>
              <a:defRPr/>
            </a:pPr>
            <a:r>
              <a:rPr lang="en-GB" altLang="en-GB" dirty="0"/>
              <a:t>Subjects with a censored time are known to have been in uninfected for at </a:t>
            </a:r>
            <a:r>
              <a:rPr lang="en-GB" altLang="en-GB" i="1" dirty="0"/>
              <a:t>least</a:t>
            </a:r>
            <a:r>
              <a:rPr lang="en-GB" altLang="en-GB" dirty="0"/>
              <a:t> that time – but the actual time is </a:t>
            </a:r>
            <a:r>
              <a:rPr lang="en-GB" altLang="en-GB" b="1" dirty="0"/>
              <a:t>unknown</a:t>
            </a:r>
            <a:r>
              <a:rPr lang="en-GB" altLang="en-GB" dirty="0"/>
              <a:t> presenting an issue for analysis.</a:t>
            </a:r>
          </a:p>
          <a:p>
            <a:pPr algn="just" eaLnBrk="1" fontAlgn="auto" hangingPunct="1">
              <a:spcAft>
                <a:spcPts val="0"/>
              </a:spcAft>
              <a:defRPr/>
            </a:pPr>
            <a:endParaRPr lang="en-GB" dirty="0">
              <a:cs typeface="+mn-cs"/>
            </a:endParaRPr>
          </a:p>
          <a:p>
            <a:pPr algn="just" eaLnBrk="1" fontAlgn="auto" hangingPunct="1">
              <a:spcAft>
                <a:spcPts val="0"/>
              </a:spcAft>
              <a:defRPr/>
            </a:pPr>
            <a:endParaRPr lang="en-GB" dirty="0">
              <a:cs typeface="+mn-cs"/>
            </a:endParaRPr>
          </a:p>
          <a:p>
            <a:pPr algn="just" eaLnBrk="1" fontAlgn="auto" hangingPunct="1">
              <a:spcAft>
                <a:spcPts val="0"/>
              </a:spcAft>
              <a:defRPr/>
            </a:pPr>
            <a:endParaRPr lang="en-KE" dirty="0">
              <a:cs typeface="+mn-cs"/>
            </a:endParaRPr>
          </a:p>
        </p:txBody>
      </p:sp>
      <p:sp>
        <p:nvSpPr>
          <p:cNvPr id="4" name="Slide Number Placeholder 3">
            <a:extLst>
              <a:ext uri="{FF2B5EF4-FFF2-40B4-BE49-F238E27FC236}">
                <a16:creationId xmlns:a16="http://schemas.microsoft.com/office/drawing/2014/main" id="{CCC07564-5BC3-4452-91DC-34A30400A06E}"/>
              </a:ext>
            </a:extLst>
          </p:cNvPr>
          <p:cNvSpPr>
            <a:spLocks noGrp="1"/>
          </p:cNvSpPr>
          <p:nvPr>
            <p:ph type="sldNum" sz="quarter" idx="12"/>
          </p:nvPr>
        </p:nvSpPr>
        <p:spPr/>
        <p:txBody>
          <a:bodyPr/>
          <a:lstStyle/>
          <a:p>
            <a:pPr>
              <a:defRPr/>
            </a:pPr>
            <a:fld id="{022728FE-897B-4266-9BEC-366D1B0CD116}" type="slidenum">
              <a:rPr lang="en-GB" altLang="en-US"/>
              <a:pPr>
                <a:defRPr/>
              </a:pPr>
              <a:t>9</a:t>
            </a:fld>
            <a:endParaRPr lang="en-GB"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Title 1"/>
          <p:cNvSpPr>
            <a:spLocks noGrp="1" noChangeArrowheads="1"/>
          </p:cNvSpPr>
          <p:nvPr>
            <p:ph type="title"/>
          </p:nvPr>
        </p:nvSpPr>
        <p:spPr>
          <a:xfrm>
            <a:off x="2208214" y="176214"/>
            <a:ext cx="7831137" cy="896937"/>
          </a:xfrm>
        </p:spPr>
        <p:txBody>
          <a:bodyPr/>
          <a:lstStyle/>
          <a:p>
            <a:pPr eaLnBrk="1" hangingPunct="1"/>
            <a:r>
              <a:rPr lang="en-GB" altLang="en-GB"/>
              <a:t>Left vs Right Censoring</a:t>
            </a:r>
          </a:p>
        </p:txBody>
      </p:sp>
      <p:sp>
        <p:nvSpPr>
          <p:cNvPr id="3" name="Content Placeholder 2">
            <a:extLst>
              <a:ext uri="{FF2B5EF4-FFF2-40B4-BE49-F238E27FC236}">
                <a16:creationId xmlns:a16="http://schemas.microsoft.com/office/drawing/2014/main" id="{22DA4494-38C7-4B56-B540-673F510FB612}"/>
              </a:ext>
            </a:extLst>
          </p:cNvPr>
          <p:cNvSpPr>
            <a:spLocks noGrp="1"/>
          </p:cNvSpPr>
          <p:nvPr>
            <p:ph idx="1"/>
          </p:nvPr>
        </p:nvSpPr>
        <p:spPr>
          <a:xfrm>
            <a:off x="1774825" y="1139826"/>
            <a:ext cx="8713788" cy="1281113"/>
          </a:xfrm>
        </p:spPr>
        <p:txBody>
          <a:bodyPr rtlCol="0">
            <a:normAutofit lnSpcReduction="10000"/>
          </a:bodyPr>
          <a:lstStyle/>
          <a:p>
            <a:pPr eaLnBrk="1" fontAlgn="auto" hangingPunct="1">
              <a:spcAft>
                <a:spcPts val="0"/>
              </a:spcAft>
              <a:defRPr/>
            </a:pPr>
            <a:r>
              <a:rPr lang="en-GB" sz="2000" dirty="0">
                <a:cs typeface="+mn-cs"/>
              </a:rPr>
              <a:t>In this rather unique case, our dataset is filled with only left and right censored cases, we actually never observe the event directly and only have lower and upper bounds for individuals’ time of contracting the virus</a:t>
            </a:r>
          </a:p>
          <a:p>
            <a:pPr eaLnBrk="1" fontAlgn="auto" hangingPunct="1">
              <a:spcAft>
                <a:spcPts val="0"/>
              </a:spcAft>
              <a:defRPr/>
            </a:pPr>
            <a:r>
              <a:rPr lang="en-GB" sz="2000" dirty="0">
                <a:cs typeface="+mn-cs"/>
              </a:rPr>
              <a:t>The study ends at the testing round</a:t>
            </a:r>
          </a:p>
          <a:p>
            <a:pPr eaLnBrk="1" fontAlgn="auto" hangingPunct="1">
              <a:spcAft>
                <a:spcPts val="0"/>
              </a:spcAft>
              <a:defRPr/>
            </a:pPr>
            <a:endParaRPr lang="en-KE" sz="2000" dirty="0">
              <a:cs typeface="+mn-cs"/>
            </a:endParaRPr>
          </a:p>
        </p:txBody>
      </p:sp>
      <p:sp>
        <p:nvSpPr>
          <p:cNvPr id="4" name="Slide Number Placeholder 3">
            <a:extLst>
              <a:ext uri="{FF2B5EF4-FFF2-40B4-BE49-F238E27FC236}">
                <a16:creationId xmlns:a16="http://schemas.microsoft.com/office/drawing/2014/main" id="{B8C4AA86-34A5-4289-BC89-067868B31C54}"/>
              </a:ext>
            </a:extLst>
          </p:cNvPr>
          <p:cNvSpPr>
            <a:spLocks noGrp="1"/>
          </p:cNvSpPr>
          <p:nvPr>
            <p:ph type="sldNum" sz="quarter" idx="12"/>
          </p:nvPr>
        </p:nvSpPr>
        <p:spPr/>
        <p:txBody>
          <a:bodyPr/>
          <a:lstStyle/>
          <a:p>
            <a:pPr>
              <a:defRPr/>
            </a:pPr>
            <a:fld id="{5EE83C38-22FC-41BF-9DE1-B691636B75EC}" type="slidenum">
              <a:rPr lang="en-GB" altLang="en-US"/>
              <a:pPr>
                <a:defRPr/>
              </a:pPr>
              <a:t>10</a:t>
            </a:fld>
            <a:endParaRPr lang="en-GB" altLang="en-US"/>
          </a:p>
        </p:txBody>
      </p:sp>
      <p:pic>
        <p:nvPicPr>
          <p:cNvPr id="2253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8213" y="2781300"/>
            <a:ext cx="7835900" cy="369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noChangeArrowheads="1"/>
          </p:cNvSpPr>
          <p:nvPr>
            <p:ph type="title"/>
          </p:nvPr>
        </p:nvSpPr>
        <p:spPr>
          <a:xfrm>
            <a:off x="2152650" y="300038"/>
            <a:ext cx="7975600" cy="825500"/>
          </a:xfrm>
        </p:spPr>
        <p:txBody>
          <a:bodyPr/>
          <a:lstStyle/>
          <a:p>
            <a:pPr eaLnBrk="1" hangingPunct="1"/>
            <a:r>
              <a:rPr lang="en-GB" altLang="en-GB"/>
              <a:t>Censoring</a:t>
            </a:r>
          </a:p>
        </p:txBody>
      </p:sp>
      <p:sp>
        <p:nvSpPr>
          <p:cNvPr id="3" name="Content Placeholder 2">
            <a:extLst>
              <a:ext uri="{FF2B5EF4-FFF2-40B4-BE49-F238E27FC236}">
                <a16:creationId xmlns:a16="http://schemas.microsoft.com/office/drawing/2014/main" id="{A2FC5CDB-E304-4EC3-A49E-323BB93A1E67}"/>
              </a:ext>
            </a:extLst>
          </p:cNvPr>
          <p:cNvSpPr>
            <a:spLocks noGrp="1"/>
          </p:cNvSpPr>
          <p:nvPr>
            <p:ph idx="1"/>
          </p:nvPr>
        </p:nvSpPr>
        <p:spPr>
          <a:xfrm>
            <a:off x="2152650" y="1628776"/>
            <a:ext cx="7886700" cy="4581525"/>
          </a:xfrm>
        </p:spPr>
        <p:txBody>
          <a:bodyPr rtlCol="0"/>
          <a:lstStyle/>
          <a:p>
            <a:pPr marL="182880" indent="-182880" algn="just" defTabSz="914400" eaLnBrk="1" fontAlgn="auto" hangingPunct="1">
              <a:spcBef>
                <a:spcPts val="1200"/>
              </a:spcBef>
              <a:spcAft>
                <a:spcPts val="0"/>
              </a:spcAft>
              <a:buSzPct val="85000"/>
              <a:buFont typeface="Wingdings" pitchFamily="2" charset="2"/>
              <a:buChar char="§"/>
              <a:defRPr/>
            </a:pPr>
            <a:r>
              <a:rPr lang="en-US" dirty="0">
                <a:cs typeface="+mn-cs"/>
              </a:rPr>
              <a:t>There are generally three reasons why right- censoring might occur:</a:t>
            </a:r>
          </a:p>
          <a:p>
            <a:pPr marL="457200" indent="-457200" algn="just" defTabSz="914400" eaLnBrk="1" fontAlgn="auto" hangingPunct="1">
              <a:spcBef>
                <a:spcPts val="1200"/>
              </a:spcBef>
              <a:spcAft>
                <a:spcPts val="0"/>
              </a:spcAft>
              <a:buSzPct val="85000"/>
              <a:buFont typeface="+mj-lt"/>
              <a:buAutoNum type="arabicPeriod"/>
              <a:defRPr/>
            </a:pPr>
            <a:r>
              <a:rPr lang="en-US" dirty="0">
                <a:cs typeface="+mn-cs"/>
              </a:rPr>
              <a:t>A subject does not experience the event before the study ends</a:t>
            </a:r>
          </a:p>
          <a:p>
            <a:pPr marL="457200" indent="-457200" algn="just" defTabSz="914400" eaLnBrk="1" fontAlgn="auto" hangingPunct="1">
              <a:spcBef>
                <a:spcPts val="1200"/>
              </a:spcBef>
              <a:spcAft>
                <a:spcPts val="0"/>
              </a:spcAft>
              <a:buSzPct val="85000"/>
              <a:buFont typeface="+mj-lt"/>
              <a:buAutoNum type="arabicPeriod"/>
              <a:defRPr/>
            </a:pPr>
            <a:r>
              <a:rPr lang="en-US" dirty="0">
                <a:cs typeface="+mn-cs"/>
              </a:rPr>
              <a:t>A person is lost to follow-up during the study period</a:t>
            </a:r>
          </a:p>
          <a:p>
            <a:pPr marL="457200" indent="-457200" algn="just" defTabSz="914400" eaLnBrk="1" fontAlgn="auto" hangingPunct="1">
              <a:spcBef>
                <a:spcPts val="1200"/>
              </a:spcBef>
              <a:spcAft>
                <a:spcPts val="0"/>
              </a:spcAft>
              <a:buSzPct val="85000"/>
              <a:buFont typeface="+mj-lt"/>
              <a:buAutoNum type="arabicPeriod"/>
              <a:defRPr/>
            </a:pPr>
            <a:r>
              <a:rPr lang="en-US" dirty="0">
                <a:cs typeface="+mn-cs"/>
              </a:rPr>
              <a:t>A person withdraws from the study</a:t>
            </a:r>
          </a:p>
          <a:p>
            <a:pPr marL="457200" indent="-457200" algn="just" defTabSz="914400" eaLnBrk="1" fontAlgn="auto" hangingPunct="1">
              <a:spcBef>
                <a:spcPts val="1200"/>
              </a:spcBef>
              <a:spcAft>
                <a:spcPts val="0"/>
              </a:spcAft>
              <a:buSzPct val="85000"/>
              <a:buFont typeface="+mj-lt"/>
              <a:buAutoNum type="arabicPeriod"/>
              <a:defRPr/>
            </a:pPr>
            <a:endParaRPr lang="en-US" dirty="0">
              <a:cs typeface="+mn-cs"/>
            </a:endParaRPr>
          </a:p>
          <a:p>
            <a:pPr marL="0" indent="0" algn="just" defTabSz="914400" eaLnBrk="1" fontAlgn="auto" hangingPunct="1">
              <a:spcBef>
                <a:spcPts val="1200"/>
              </a:spcBef>
              <a:spcAft>
                <a:spcPts val="0"/>
              </a:spcAft>
              <a:buClr>
                <a:srgbClr val="D34817">
                  <a:lumMod val="75000"/>
                </a:srgbClr>
              </a:buClr>
              <a:buSzPct val="85000"/>
              <a:buNone/>
              <a:defRPr/>
            </a:pPr>
            <a:r>
              <a:rPr lang="en-US" dirty="0">
                <a:cs typeface="+mn-cs"/>
              </a:rPr>
              <a:t>*These are all examples of right-censoring.</a:t>
            </a:r>
          </a:p>
          <a:p>
            <a:pPr eaLnBrk="1" fontAlgn="auto" hangingPunct="1">
              <a:spcAft>
                <a:spcPts val="0"/>
              </a:spcAft>
              <a:defRPr/>
            </a:pPr>
            <a:endParaRPr lang="en-KE" sz="2800" dirty="0">
              <a:cs typeface="+mn-cs"/>
            </a:endParaRPr>
          </a:p>
        </p:txBody>
      </p:sp>
      <p:sp>
        <p:nvSpPr>
          <p:cNvPr id="4" name="Slide Number Placeholder 3">
            <a:extLst>
              <a:ext uri="{FF2B5EF4-FFF2-40B4-BE49-F238E27FC236}">
                <a16:creationId xmlns:a16="http://schemas.microsoft.com/office/drawing/2014/main" id="{FA453F7E-59D2-4736-B4E1-009207C0A268}"/>
              </a:ext>
            </a:extLst>
          </p:cNvPr>
          <p:cNvSpPr>
            <a:spLocks noGrp="1"/>
          </p:cNvSpPr>
          <p:nvPr>
            <p:ph type="sldNum" sz="quarter" idx="12"/>
          </p:nvPr>
        </p:nvSpPr>
        <p:spPr/>
        <p:txBody>
          <a:bodyPr/>
          <a:lstStyle/>
          <a:p>
            <a:pPr>
              <a:defRPr/>
            </a:pPr>
            <a:fld id="{BBA63288-A4BD-4F93-BA36-A5F3FAE13B9B}" type="slidenum">
              <a:rPr lang="en-GB" altLang="en-US"/>
              <a:pPr>
                <a:defRPr/>
              </a:pPr>
              <a:t>11</a:t>
            </a:fld>
            <a:endParaRPr lang="en-GB" altLang="en-US"/>
          </a:p>
        </p:txBody>
      </p:sp>
    </p:spTree>
    <p:extLst>
      <p:ext uri="{BB962C8B-B14F-4D97-AF65-F5344CB8AC3E}">
        <p14:creationId xmlns:p14="http://schemas.microsoft.com/office/powerpoint/2010/main" val="4930153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Rectangle 2"/>
          <p:cNvSpPr>
            <a:spLocks noGrp="1" noRot="1" noChangeArrowheads="1"/>
          </p:cNvSpPr>
          <p:nvPr>
            <p:ph type="title"/>
          </p:nvPr>
        </p:nvSpPr>
        <p:spPr>
          <a:xfrm>
            <a:off x="1981200" y="134938"/>
            <a:ext cx="8229600" cy="595312"/>
          </a:xfrm>
        </p:spPr>
        <p:txBody>
          <a:bodyPr/>
          <a:lstStyle/>
          <a:p>
            <a:pPr eaLnBrk="1" hangingPunct="1"/>
            <a:r>
              <a:rPr lang="en-GB" altLang="en-GB" sz="3200"/>
              <a:t>Censoring</a:t>
            </a:r>
          </a:p>
        </p:txBody>
      </p:sp>
      <p:sp>
        <p:nvSpPr>
          <p:cNvPr id="17411"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F77A0D65-6AF0-4EA8-8C55-31E3C60FE617}" type="slidenum">
              <a:rPr lang="en-GB" altLang="en-US" sz="1200">
                <a:latin typeface="Arial" panose="020B0604020202020204" pitchFamily="34" charset="0"/>
                <a:cs typeface="Arial" panose="020B0604020202020204" pitchFamily="34" charset="0"/>
              </a:rPr>
              <a:pPr fontAlgn="base">
                <a:spcBef>
                  <a:spcPct val="0"/>
                </a:spcBef>
                <a:spcAft>
                  <a:spcPct val="0"/>
                </a:spcAft>
              </a:pPr>
              <a:t>12</a:t>
            </a:fld>
            <a:endParaRPr lang="en-GB" altLang="en-US" sz="1200">
              <a:latin typeface="Arial" panose="020B0604020202020204" pitchFamily="34" charset="0"/>
              <a:cs typeface="Arial" panose="020B0604020202020204" pitchFamily="34" charset="0"/>
            </a:endParaRPr>
          </a:p>
        </p:txBody>
      </p:sp>
      <p:grpSp>
        <p:nvGrpSpPr>
          <p:cNvPr id="17412" name="Group 10"/>
          <p:cNvGrpSpPr>
            <a:grpSpLocks/>
          </p:cNvGrpSpPr>
          <p:nvPr/>
        </p:nvGrpSpPr>
        <p:grpSpPr bwMode="auto">
          <a:xfrm>
            <a:off x="1703388" y="1773238"/>
            <a:ext cx="9180512" cy="4857750"/>
            <a:chOff x="179388" y="1484313"/>
            <a:chExt cx="9180512" cy="4857750"/>
          </a:xfrm>
        </p:grpSpPr>
        <p:grpSp>
          <p:nvGrpSpPr>
            <p:cNvPr id="17414" name="Group 8"/>
            <p:cNvGrpSpPr>
              <a:grpSpLocks/>
            </p:cNvGrpSpPr>
            <p:nvPr/>
          </p:nvGrpSpPr>
          <p:grpSpPr bwMode="auto">
            <a:xfrm>
              <a:off x="179388" y="1527175"/>
              <a:ext cx="2735262" cy="4814888"/>
              <a:chOff x="113" y="935"/>
              <a:chExt cx="1723" cy="3033"/>
            </a:xfrm>
          </p:grpSpPr>
          <p:sp>
            <p:nvSpPr>
              <p:cNvPr id="17444" name="Line 5"/>
              <p:cNvSpPr>
                <a:spLocks noChangeShapeType="1"/>
              </p:cNvSpPr>
              <p:nvPr/>
            </p:nvSpPr>
            <p:spPr bwMode="auto">
              <a:xfrm>
                <a:off x="567" y="935"/>
                <a:ext cx="0" cy="240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7445" name="Text Box 6"/>
              <p:cNvSpPr txBox="1">
                <a:spLocks noChangeArrowheads="1"/>
              </p:cNvSpPr>
              <p:nvPr/>
            </p:nvSpPr>
            <p:spPr bwMode="auto">
              <a:xfrm>
                <a:off x="113" y="3430"/>
                <a:ext cx="1723"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GB" altLang="en-US" sz="2000" b="1">
                    <a:latin typeface="Dotum" pitchFamily="34" charset="-127"/>
                    <a:cs typeface="Arial" panose="020B0604020202020204" pitchFamily="34" charset="0"/>
                  </a:rPr>
                  <a:t>Start of Recruitment</a:t>
                </a:r>
              </a:p>
              <a:p>
                <a:pPr eaLnBrk="1" hangingPunct="1">
                  <a:spcBef>
                    <a:spcPct val="50000"/>
                  </a:spcBef>
                </a:pPr>
                <a:r>
                  <a:rPr lang="en-GB" altLang="en-US" sz="2000" b="1" i="1">
                    <a:latin typeface="Dotum" pitchFamily="34" charset="-127"/>
                    <a:cs typeface="Arial" panose="020B0604020202020204" pitchFamily="34" charset="0"/>
                  </a:rPr>
                  <a:t>Week 0</a:t>
                </a:r>
              </a:p>
            </p:txBody>
          </p:sp>
        </p:grpSp>
        <p:grpSp>
          <p:nvGrpSpPr>
            <p:cNvPr id="17415" name="Group 9"/>
            <p:cNvGrpSpPr>
              <a:grpSpLocks/>
            </p:cNvGrpSpPr>
            <p:nvPr/>
          </p:nvGrpSpPr>
          <p:grpSpPr bwMode="auto">
            <a:xfrm>
              <a:off x="6011863" y="1484313"/>
              <a:ext cx="2735262" cy="4814887"/>
              <a:chOff x="3787" y="935"/>
              <a:chExt cx="1723" cy="3033"/>
            </a:xfrm>
          </p:grpSpPr>
          <p:sp>
            <p:nvSpPr>
              <p:cNvPr id="17442" name="Line 4"/>
              <p:cNvSpPr>
                <a:spLocks noChangeShapeType="1"/>
              </p:cNvSpPr>
              <p:nvPr/>
            </p:nvSpPr>
            <p:spPr bwMode="auto">
              <a:xfrm>
                <a:off x="4558" y="935"/>
                <a:ext cx="0" cy="2404"/>
              </a:xfrm>
              <a:prstGeom prst="line">
                <a:avLst/>
              </a:prstGeom>
              <a:noFill/>
              <a:ln w="28575">
                <a:solidFill>
                  <a:srgbClr val="FF505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7443" name="Text Box 7"/>
              <p:cNvSpPr txBox="1">
                <a:spLocks noChangeArrowheads="1"/>
              </p:cNvSpPr>
              <p:nvPr/>
            </p:nvSpPr>
            <p:spPr bwMode="auto">
              <a:xfrm>
                <a:off x="3787" y="3430"/>
                <a:ext cx="1723"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GB" altLang="en-US" sz="2000" b="1">
                    <a:latin typeface="Dotum" pitchFamily="34" charset="-127"/>
                    <a:cs typeface="Arial" panose="020B0604020202020204" pitchFamily="34" charset="0"/>
                  </a:rPr>
                  <a:t>End of Study</a:t>
                </a:r>
              </a:p>
              <a:p>
                <a:pPr eaLnBrk="1" hangingPunct="1">
                  <a:spcBef>
                    <a:spcPct val="50000"/>
                  </a:spcBef>
                </a:pPr>
                <a:r>
                  <a:rPr lang="en-GB" altLang="en-US" sz="2000" b="1" i="1">
                    <a:latin typeface="Dotum" pitchFamily="34" charset="-127"/>
                    <a:cs typeface="Arial" panose="020B0604020202020204" pitchFamily="34" charset="0"/>
                  </a:rPr>
                  <a:t>Week 52</a:t>
                </a:r>
              </a:p>
            </p:txBody>
          </p:sp>
        </p:grpSp>
        <p:grpSp>
          <p:nvGrpSpPr>
            <p:cNvPr id="17416" name="Group 19"/>
            <p:cNvGrpSpPr>
              <a:grpSpLocks/>
            </p:cNvGrpSpPr>
            <p:nvPr/>
          </p:nvGrpSpPr>
          <p:grpSpPr bwMode="auto">
            <a:xfrm>
              <a:off x="971550" y="1846263"/>
              <a:ext cx="5040313" cy="520700"/>
              <a:chOff x="612" y="1162"/>
              <a:chExt cx="3175" cy="328"/>
            </a:xfrm>
          </p:grpSpPr>
          <p:sp>
            <p:nvSpPr>
              <p:cNvPr id="17437" name="AutoShape 10"/>
              <p:cNvSpPr>
                <a:spLocks noChangeArrowheads="1"/>
              </p:cNvSpPr>
              <p:nvPr/>
            </p:nvSpPr>
            <p:spPr bwMode="auto">
              <a:xfrm>
                <a:off x="1020" y="1162"/>
                <a:ext cx="91" cy="91"/>
              </a:xfrm>
              <a:prstGeom prst="flowChartOr">
                <a:avLst/>
              </a:prstGeom>
              <a:solidFill>
                <a:schemeClr val="accent1"/>
              </a:solidFill>
              <a:ln w="9525">
                <a:solidFill>
                  <a:schemeClr val="tx1"/>
                </a:solidFill>
                <a:round/>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latin typeface="Garamond" panose="02020404030301010803" pitchFamily="18" charset="0"/>
                  <a:cs typeface="Arial" panose="020B0604020202020204" pitchFamily="34" charset="0"/>
                </a:endParaRPr>
              </a:p>
            </p:txBody>
          </p:sp>
          <p:grpSp>
            <p:nvGrpSpPr>
              <p:cNvPr id="17438" name="Group 14"/>
              <p:cNvGrpSpPr>
                <a:grpSpLocks/>
              </p:cNvGrpSpPr>
              <p:nvPr/>
            </p:nvGrpSpPr>
            <p:grpSpPr bwMode="auto">
              <a:xfrm>
                <a:off x="612" y="1207"/>
                <a:ext cx="3175" cy="283"/>
                <a:chOff x="612" y="1207"/>
                <a:chExt cx="3175" cy="283"/>
              </a:xfrm>
            </p:grpSpPr>
            <p:sp>
              <p:nvSpPr>
                <p:cNvPr id="17439" name="Line 11"/>
                <p:cNvSpPr>
                  <a:spLocks noChangeShapeType="1"/>
                </p:cNvSpPr>
                <p:nvPr/>
              </p:nvSpPr>
              <p:spPr bwMode="auto">
                <a:xfrm>
                  <a:off x="1111" y="1207"/>
                  <a:ext cx="190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17440" name="Text Box 12"/>
                <p:cNvSpPr txBox="1">
                  <a:spLocks noChangeArrowheads="1"/>
                </p:cNvSpPr>
                <p:nvPr/>
              </p:nvSpPr>
              <p:spPr bwMode="auto">
                <a:xfrm>
                  <a:off x="612" y="1298"/>
                  <a:ext cx="131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GB" altLang="en-US" sz="1400" b="1" i="1">
                      <a:latin typeface="Arial Narrow" panose="020B0606020202030204" pitchFamily="34" charset="0"/>
                      <a:cs typeface="Arial" panose="020B0604020202020204" pitchFamily="34" charset="0"/>
                    </a:rPr>
                    <a:t>Subject Recruited Week 4</a:t>
                  </a:r>
                </a:p>
              </p:txBody>
            </p:sp>
            <p:sp>
              <p:nvSpPr>
                <p:cNvPr id="17441" name="Text Box 13"/>
                <p:cNvSpPr txBox="1">
                  <a:spLocks noChangeArrowheads="1"/>
                </p:cNvSpPr>
                <p:nvPr/>
              </p:nvSpPr>
              <p:spPr bwMode="auto">
                <a:xfrm>
                  <a:off x="2472" y="1298"/>
                  <a:ext cx="131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GB" altLang="en-US" sz="1400" b="1" i="1">
                      <a:latin typeface="Arial Narrow" panose="020B0606020202030204" pitchFamily="34" charset="0"/>
                      <a:cs typeface="Arial" panose="020B0604020202020204" pitchFamily="34" charset="0"/>
                    </a:rPr>
                    <a:t>End of Remission Week 28</a:t>
                  </a:r>
                </a:p>
              </p:txBody>
            </p:sp>
          </p:grpSp>
        </p:grpSp>
        <p:grpSp>
          <p:nvGrpSpPr>
            <p:cNvPr id="17417" name="Group 30"/>
            <p:cNvGrpSpPr>
              <a:grpSpLocks/>
            </p:cNvGrpSpPr>
            <p:nvPr/>
          </p:nvGrpSpPr>
          <p:grpSpPr bwMode="auto">
            <a:xfrm>
              <a:off x="3059113" y="3141663"/>
              <a:ext cx="4176712" cy="520700"/>
              <a:chOff x="1927" y="1979"/>
              <a:chExt cx="2631" cy="328"/>
            </a:xfrm>
          </p:grpSpPr>
          <p:sp>
            <p:nvSpPr>
              <p:cNvPr id="17434" name="AutoShape 21"/>
              <p:cNvSpPr>
                <a:spLocks noChangeArrowheads="1"/>
              </p:cNvSpPr>
              <p:nvPr/>
            </p:nvSpPr>
            <p:spPr bwMode="auto">
              <a:xfrm>
                <a:off x="2381" y="1979"/>
                <a:ext cx="107" cy="90"/>
              </a:xfrm>
              <a:prstGeom prst="flowChartOr">
                <a:avLst/>
              </a:prstGeom>
              <a:solidFill>
                <a:schemeClr val="accent1"/>
              </a:solidFill>
              <a:ln w="9525">
                <a:solidFill>
                  <a:schemeClr val="tx1"/>
                </a:solidFill>
                <a:round/>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latin typeface="Garamond" panose="02020404030301010803" pitchFamily="18" charset="0"/>
                  <a:cs typeface="Arial" panose="020B0604020202020204" pitchFamily="34" charset="0"/>
                </a:endParaRPr>
              </a:p>
            </p:txBody>
          </p:sp>
          <p:sp>
            <p:nvSpPr>
              <p:cNvPr id="17435" name="Line 23"/>
              <p:cNvSpPr>
                <a:spLocks noChangeShapeType="1"/>
              </p:cNvSpPr>
              <p:nvPr/>
            </p:nvSpPr>
            <p:spPr bwMode="auto">
              <a:xfrm>
                <a:off x="2488" y="2024"/>
                <a:ext cx="207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7436" name="Text Box 24"/>
              <p:cNvSpPr txBox="1">
                <a:spLocks noChangeArrowheads="1"/>
              </p:cNvSpPr>
              <p:nvPr/>
            </p:nvSpPr>
            <p:spPr bwMode="auto">
              <a:xfrm>
                <a:off x="1927" y="2115"/>
                <a:ext cx="131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GB" altLang="en-US" sz="1400" b="1" i="1">
                    <a:latin typeface="Arial Narrow" panose="020B0606020202030204" pitchFamily="34" charset="0"/>
                    <a:cs typeface="Arial" panose="020B0604020202020204" pitchFamily="34" charset="0"/>
                  </a:rPr>
                  <a:t>Subject Recruited Week 25</a:t>
                </a:r>
              </a:p>
            </p:txBody>
          </p:sp>
        </p:grpSp>
        <p:grpSp>
          <p:nvGrpSpPr>
            <p:cNvPr id="17418" name="Group 29"/>
            <p:cNvGrpSpPr>
              <a:grpSpLocks/>
            </p:cNvGrpSpPr>
            <p:nvPr/>
          </p:nvGrpSpPr>
          <p:grpSpPr bwMode="auto">
            <a:xfrm>
              <a:off x="7235825" y="2924175"/>
              <a:ext cx="2124075" cy="738188"/>
              <a:chOff x="4558" y="1842"/>
              <a:chExt cx="1338" cy="465"/>
            </a:xfrm>
          </p:grpSpPr>
          <p:sp>
            <p:nvSpPr>
              <p:cNvPr id="17431" name="Text Box 25"/>
              <p:cNvSpPr txBox="1">
                <a:spLocks noChangeArrowheads="1"/>
              </p:cNvSpPr>
              <p:nvPr/>
            </p:nvSpPr>
            <p:spPr bwMode="auto">
              <a:xfrm>
                <a:off x="4694" y="2115"/>
                <a:ext cx="120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GB" altLang="en-US" sz="1400" b="1" i="1">
                    <a:latin typeface="Arial Narrow" panose="020B0606020202030204" pitchFamily="34" charset="0"/>
                    <a:cs typeface="Arial" panose="020B0604020202020204" pitchFamily="34" charset="0"/>
                  </a:rPr>
                  <a:t>End of Remission ???</a:t>
                </a:r>
              </a:p>
            </p:txBody>
          </p:sp>
          <p:sp>
            <p:nvSpPr>
              <p:cNvPr id="17432" name="Line 27"/>
              <p:cNvSpPr>
                <a:spLocks noChangeShapeType="1"/>
              </p:cNvSpPr>
              <p:nvPr/>
            </p:nvSpPr>
            <p:spPr bwMode="auto">
              <a:xfrm>
                <a:off x="4558" y="2024"/>
                <a:ext cx="635" cy="0"/>
              </a:xfrm>
              <a:prstGeom prst="line">
                <a:avLst/>
              </a:prstGeom>
              <a:noFill/>
              <a:ln w="9525">
                <a:solidFill>
                  <a:schemeClr val="tx1"/>
                </a:solidFill>
                <a:prstDash val="lgDash"/>
                <a:round/>
                <a:headEnd/>
                <a:tailEnd type="arrow" w="med" len="med"/>
              </a:ln>
              <a:extLst>
                <a:ext uri="{909E8E84-426E-40DD-AFC4-6F175D3DCCD1}">
                  <a14:hiddenFill xmlns:a14="http://schemas.microsoft.com/office/drawing/2010/main">
                    <a:noFill/>
                  </a14:hiddenFill>
                </a:ext>
              </a:extLst>
            </p:spPr>
            <p:txBody>
              <a:bodyPr/>
              <a:lstStyle/>
              <a:p>
                <a:endParaRPr lang="en-GB"/>
              </a:p>
            </p:txBody>
          </p:sp>
          <p:sp>
            <p:nvSpPr>
              <p:cNvPr id="17433" name="Text Box 28"/>
              <p:cNvSpPr txBox="1">
                <a:spLocks noChangeArrowheads="1"/>
              </p:cNvSpPr>
              <p:nvPr/>
            </p:nvSpPr>
            <p:spPr bwMode="auto">
              <a:xfrm>
                <a:off x="5239" y="1842"/>
                <a:ext cx="31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GB" altLang="en-US" sz="2400">
                    <a:latin typeface="Times New Roman" panose="02020603050405020304" pitchFamily="18" charset="0"/>
                    <a:cs typeface="Arial" panose="020B0604020202020204" pitchFamily="34" charset="0"/>
                  </a:rPr>
                  <a:t>?</a:t>
                </a:r>
              </a:p>
            </p:txBody>
          </p:sp>
        </p:grpSp>
        <p:grpSp>
          <p:nvGrpSpPr>
            <p:cNvPr id="17419" name="Group 42"/>
            <p:cNvGrpSpPr>
              <a:grpSpLocks/>
            </p:cNvGrpSpPr>
            <p:nvPr/>
          </p:nvGrpSpPr>
          <p:grpSpPr bwMode="auto">
            <a:xfrm>
              <a:off x="1116013" y="4581525"/>
              <a:ext cx="5688012" cy="520700"/>
              <a:chOff x="703" y="2886"/>
              <a:chExt cx="3583" cy="328"/>
            </a:xfrm>
          </p:grpSpPr>
          <p:grpSp>
            <p:nvGrpSpPr>
              <p:cNvPr id="17426" name="Group 31"/>
              <p:cNvGrpSpPr>
                <a:grpSpLocks/>
              </p:cNvGrpSpPr>
              <p:nvPr/>
            </p:nvGrpSpPr>
            <p:grpSpPr bwMode="auto">
              <a:xfrm>
                <a:off x="703" y="2886"/>
                <a:ext cx="2631" cy="328"/>
                <a:chOff x="1927" y="1979"/>
                <a:chExt cx="2631" cy="328"/>
              </a:xfrm>
            </p:grpSpPr>
            <p:sp>
              <p:nvSpPr>
                <p:cNvPr id="17428" name="AutoShape 32"/>
                <p:cNvSpPr>
                  <a:spLocks noChangeArrowheads="1"/>
                </p:cNvSpPr>
                <p:nvPr/>
              </p:nvSpPr>
              <p:spPr bwMode="auto">
                <a:xfrm>
                  <a:off x="2381" y="1979"/>
                  <a:ext cx="107" cy="90"/>
                </a:xfrm>
                <a:prstGeom prst="flowChartOr">
                  <a:avLst/>
                </a:prstGeom>
                <a:solidFill>
                  <a:schemeClr val="accent1"/>
                </a:solidFill>
                <a:ln w="9525">
                  <a:solidFill>
                    <a:schemeClr val="tx1"/>
                  </a:solidFill>
                  <a:round/>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latin typeface="Garamond" panose="02020404030301010803" pitchFamily="18" charset="0"/>
                    <a:cs typeface="Arial" panose="020B0604020202020204" pitchFamily="34" charset="0"/>
                  </a:endParaRPr>
                </a:p>
              </p:txBody>
            </p:sp>
            <p:sp>
              <p:nvSpPr>
                <p:cNvPr id="17429" name="Line 33"/>
                <p:cNvSpPr>
                  <a:spLocks noChangeShapeType="1"/>
                </p:cNvSpPr>
                <p:nvPr/>
              </p:nvSpPr>
              <p:spPr bwMode="auto">
                <a:xfrm>
                  <a:off x="2488" y="2024"/>
                  <a:ext cx="207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7430" name="Text Box 34"/>
                <p:cNvSpPr txBox="1">
                  <a:spLocks noChangeArrowheads="1"/>
                </p:cNvSpPr>
                <p:nvPr/>
              </p:nvSpPr>
              <p:spPr bwMode="auto">
                <a:xfrm>
                  <a:off x="1927" y="2115"/>
                  <a:ext cx="131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GB" altLang="en-US" sz="1400" b="1" i="1">
                      <a:latin typeface="Arial Narrow" panose="020B0606020202030204" pitchFamily="34" charset="0"/>
                      <a:cs typeface="Arial" panose="020B0604020202020204" pitchFamily="34" charset="0"/>
                    </a:rPr>
                    <a:t>Subject Recruited Week 7</a:t>
                  </a:r>
                </a:p>
              </p:txBody>
            </p:sp>
          </p:grpSp>
          <p:sp>
            <p:nvSpPr>
              <p:cNvPr id="17427" name="Text Box 35"/>
              <p:cNvSpPr txBox="1">
                <a:spLocks noChangeArrowheads="1"/>
              </p:cNvSpPr>
              <p:nvPr/>
            </p:nvSpPr>
            <p:spPr bwMode="auto">
              <a:xfrm>
                <a:off x="2699" y="3022"/>
                <a:ext cx="158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GB" altLang="en-US" sz="1400" b="1" i="1">
                    <a:latin typeface="Arial Narrow" panose="020B0606020202030204" pitchFamily="34" charset="0"/>
                    <a:cs typeface="Arial" panose="020B0604020202020204" pitchFamily="34" charset="0"/>
                  </a:rPr>
                  <a:t>Drops out of Study Week 34</a:t>
                </a:r>
              </a:p>
            </p:txBody>
          </p:sp>
        </p:grpSp>
        <p:grpSp>
          <p:nvGrpSpPr>
            <p:cNvPr id="17420" name="Group 41"/>
            <p:cNvGrpSpPr>
              <a:grpSpLocks/>
            </p:cNvGrpSpPr>
            <p:nvPr/>
          </p:nvGrpSpPr>
          <p:grpSpPr bwMode="auto">
            <a:xfrm>
              <a:off x="5292725" y="4365625"/>
              <a:ext cx="4067175" cy="738188"/>
              <a:chOff x="3334" y="2750"/>
              <a:chExt cx="2562" cy="465"/>
            </a:xfrm>
          </p:grpSpPr>
          <p:sp>
            <p:nvSpPr>
              <p:cNvPr id="17423" name="Line 36"/>
              <p:cNvSpPr>
                <a:spLocks noChangeShapeType="1"/>
              </p:cNvSpPr>
              <p:nvPr/>
            </p:nvSpPr>
            <p:spPr bwMode="auto">
              <a:xfrm>
                <a:off x="3334" y="2931"/>
                <a:ext cx="1859" cy="0"/>
              </a:xfrm>
              <a:prstGeom prst="line">
                <a:avLst/>
              </a:prstGeom>
              <a:noFill/>
              <a:ln w="9525">
                <a:solidFill>
                  <a:schemeClr val="tx1"/>
                </a:solidFill>
                <a:prstDash val="lgDash"/>
                <a:round/>
                <a:headEnd/>
                <a:tailEnd type="arrow" w="med" len="med"/>
              </a:ln>
              <a:extLst>
                <a:ext uri="{909E8E84-426E-40DD-AFC4-6F175D3DCCD1}">
                  <a14:hiddenFill xmlns:a14="http://schemas.microsoft.com/office/drawing/2010/main">
                    <a:noFill/>
                  </a14:hiddenFill>
                </a:ext>
              </a:extLst>
            </p:spPr>
            <p:txBody>
              <a:bodyPr/>
              <a:lstStyle/>
              <a:p>
                <a:endParaRPr lang="en-GB"/>
              </a:p>
            </p:txBody>
          </p:sp>
          <p:sp>
            <p:nvSpPr>
              <p:cNvPr id="17424" name="Text Box 38"/>
              <p:cNvSpPr txBox="1">
                <a:spLocks noChangeArrowheads="1"/>
              </p:cNvSpPr>
              <p:nvPr/>
            </p:nvSpPr>
            <p:spPr bwMode="auto">
              <a:xfrm>
                <a:off x="4694" y="3023"/>
                <a:ext cx="120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GB" altLang="en-US" sz="1400" b="1" i="1">
                    <a:latin typeface="Arial Narrow" panose="020B0606020202030204" pitchFamily="34" charset="0"/>
                    <a:cs typeface="Arial" panose="020B0604020202020204" pitchFamily="34" charset="0"/>
                  </a:rPr>
                  <a:t>End of Remission ???</a:t>
                </a:r>
              </a:p>
            </p:txBody>
          </p:sp>
          <p:sp>
            <p:nvSpPr>
              <p:cNvPr id="17425" name="Text Box 40"/>
              <p:cNvSpPr txBox="1">
                <a:spLocks noChangeArrowheads="1"/>
              </p:cNvSpPr>
              <p:nvPr/>
            </p:nvSpPr>
            <p:spPr bwMode="auto">
              <a:xfrm>
                <a:off x="5239" y="2750"/>
                <a:ext cx="31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GB" altLang="en-US" sz="2400">
                    <a:latin typeface="Times New Roman" panose="02020603050405020304" pitchFamily="18" charset="0"/>
                    <a:cs typeface="Arial" panose="020B0604020202020204" pitchFamily="34" charset="0"/>
                  </a:rPr>
                  <a:t>?</a:t>
                </a:r>
              </a:p>
            </p:txBody>
          </p:sp>
        </p:grpSp>
        <p:sp>
          <p:nvSpPr>
            <p:cNvPr id="17421" name="Text Box 43"/>
            <p:cNvSpPr txBox="1">
              <a:spLocks noChangeArrowheads="1"/>
            </p:cNvSpPr>
            <p:nvPr/>
          </p:nvSpPr>
          <p:spPr bwMode="auto">
            <a:xfrm>
              <a:off x="7451725" y="2420938"/>
              <a:ext cx="13684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GB" altLang="en-US">
                  <a:latin typeface="Garamond" panose="02020404030301010803" pitchFamily="18" charset="0"/>
                  <a:cs typeface="Arial" panose="020B0604020202020204" pitchFamily="34" charset="0"/>
                </a:rPr>
                <a:t>Right Censoring</a:t>
              </a:r>
            </a:p>
          </p:txBody>
        </p:sp>
        <p:sp>
          <p:nvSpPr>
            <p:cNvPr id="17422" name="Text Box 44"/>
            <p:cNvSpPr txBox="1">
              <a:spLocks noChangeArrowheads="1"/>
            </p:cNvSpPr>
            <p:nvPr/>
          </p:nvSpPr>
          <p:spPr bwMode="auto">
            <a:xfrm>
              <a:off x="5003800" y="4149725"/>
              <a:ext cx="16557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GB" altLang="en-US">
                  <a:latin typeface="Garamond" panose="02020404030301010803" pitchFamily="18" charset="0"/>
                  <a:cs typeface="Arial" panose="020B0604020202020204" pitchFamily="34" charset="0"/>
                </a:rPr>
                <a:t>Right Censoring</a:t>
              </a:r>
            </a:p>
          </p:txBody>
        </p:sp>
      </p:grpSp>
      <p:sp>
        <p:nvSpPr>
          <p:cNvPr id="17413" name="TextBox 4"/>
          <p:cNvSpPr txBox="1">
            <a:spLocks noChangeArrowheads="1"/>
          </p:cNvSpPr>
          <p:nvPr/>
        </p:nvSpPr>
        <p:spPr bwMode="auto">
          <a:xfrm>
            <a:off x="1919288" y="690564"/>
            <a:ext cx="842486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r>
              <a:rPr lang="en-GB" altLang="en-GB" sz="2000" b="1">
                <a:latin typeface="Verdana" panose="020B0604030504040204" pitchFamily="34" charset="0"/>
                <a:ea typeface="Verdana" panose="020B0604030504040204" pitchFamily="34" charset="0"/>
                <a:cs typeface="Verdana" panose="020B0604030504040204" pitchFamily="34" charset="0"/>
              </a:rPr>
              <a:t>Example: </a:t>
            </a:r>
            <a:r>
              <a:rPr lang="en-GB" altLang="en-GB" sz="2000">
                <a:latin typeface="Verdana" panose="020B0604030504040204" pitchFamily="34" charset="0"/>
                <a:ea typeface="Verdana" panose="020B0604030504040204" pitchFamily="34" charset="0"/>
                <a:cs typeface="Verdana" panose="020B0604030504040204" pitchFamily="34" charset="0"/>
              </a:rPr>
              <a:t>Cancer patients in remission were recruited in a study to observe how long they would remain in remission </a:t>
            </a:r>
          </a:p>
        </p:txBody>
      </p:sp>
    </p:spTree>
    <p:extLst>
      <p:ext uri="{BB962C8B-B14F-4D97-AF65-F5344CB8AC3E}">
        <p14:creationId xmlns:p14="http://schemas.microsoft.com/office/powerpoint/2010/main" val="24740005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noChangeArrowheads="1"/>
          </p:cNvSpPr>
          <p:nvPr>
            <p:ph type="title"/>
          </p:nvPr>
        </p:nvSpPr>
        <p:spPr>
          <a:xfrm>
            <a:off x="1774825" y="136525"/>
            <a:ext cx="8642350" cy="825500"/>
          </a:xfrm>
        </p:spPr>
        <p:txBody>
          <a:bodyPr/>
          <a:lstStyle/>
          <a:p>
            <a:r>
              <a:rPr lang="en-GB" altLang="en-US" sz="2800"/>
              <a:t>Non-informative and Informative Censoring</a:t>
            </a:r>
          </a:p>
        </p:txBody>
      </p:sp>
      <p:sp>
        <p:nvSpPr>
          <p:cNvPr id="3" name="Content Placeholder 2">
            <a:extLst>
              <a:ext uri="{FF2B5EF4-FFF2-40B4-BE49-F238E27FC236}">
                <a16:creationId xmlns:a16="http://schemas.microsoft.com/office/drawing/2014/main" id="{02331997-99FB-4030-ADDD-7CE459F0E86E}"/>
              </a:ext>
            </a:extLst>
          </p:cNvPr>
          <p:cNvSpPr>
            <a:spLocks noGrp="1"/>
          </p:cNvSpPr>
          <p:nvPr>
            <p:ph idx="1"/>
          </p:nvPr>
        </p:nvSpPr>
        <p:spPr>
          <a:xfrm>
            <a:off x="1992314" y="1341438"/>
            <a:ext cx="8207375" cy="5118100"/>
          </a:xfrm>
        </p:spPr>
        <p:txBody>
          <a:bodyPr>
            <a:normAutofit fontScale="92500" lnSpcReduction="20000"/>
          </a:bodyPr>
          <a:lstStyle/>
          <a:p>
            <a:pPr algn="just">
              <a:defRPr/>
            </a:pPr>
            <a:r>
              <a:rPr lang="en-GB" sz="2200" dirty="0"/>
              <a:t>Censoring can also be categorized based on the relation between censoring times and survival times</a:t>
            </a:r>
          </a:p>
          <a:p>
            <a:pPr marL="0" indent="0" algn="just">
              <a:buNone/>
              <a:defRPr/>
            </a:pPr>
            <a:r>
              <a:rPr lang="en-GB" sz="2200" dirty="0"/>
              <a:t> </a:t>
            </a:r>
          </a:p>
          <a:p>
            <a:pPr algn="just">
              <a:defRPr/>
            </a:pPr>
            <a:r>
              <a:rPr lang="en-GB" sz="2200" dirty="0"/>
              <a:t>Censoring is considered to be noninformative if the reason an observation is censored (i.e., we don’t observe the event for that subject) is statistically independent of the likelihood or timing of the event itself</a:t>
            </a:r>
          </a:p>
          <a:p>
            <a:pPr algn="just">
              <a:defRPr/>
            </a:pPr>
            <a:r>
              <a:rPr lang="en-GB" sz="2200" dirty="0"/>
              <a:t>If a patient drops out of a study because they moved to another city, and this move is unrelated to their health status, the censoring is non-informative</a:t>
            </a:r>
          </a:p>
          <a:p>
            <a:pPr algn="just">
              <a:defRPr/>
            </a:pPr>
            <a:endParaRPr lang="en-GB" sz="2200" dirty="0"/>
          </a:p>
          <a:p>
            <a:pPr algn="just">
              <a:defRPr/>
            </a:pPr>
            <a:r>
              <a:rPr lang="en-GB" sz="2200" dirty="0"/>
              <a:t>In a cancer trial, if patients receiving a toxic treatment drop out early due to side effects, and those side effects are linked to disease progression, their dropout is informatively censored</a:t>
            </a:r>
          </a:p>
          <a:p>
            <a:pPr algn="just">
              <a:defRPr/>
            </a:pPr>
            <a:endParaRPr lang="en-GB" sz="2200" dirty="0"/>
          </a:p>
          <a:p>
            <a:pPr algn="just">
              <a:defRPr/>
            </a:pPr>
            <a:r>
              <a:rPr lang="en-GB" sz="2200" dirty="0"/>
              <a:t>If a patient drops out because their condition worsened, and that affects their risk of the event (e.g., death), the censoring is informative, which violates the assumption.</a:t>
            </a:r>
          </a:p>
          <a:p>
            <a:pPr algn="just">
              <a:defRPr/>
            </a:pPr>
            <a:endParaRPr lang="en-GB" sz="2200" dirty="0"/>
          </a:p>
          <a:p>
            <a:pPr algn="just">
              <a:defRPr/>
            </a:pPr>
            <a:endParaRPr lang="en-GB" sz="2200" dirty="0"/>
          </a:p>
        </p:txBody>
      </p:sp>
      <p:sp>
        <p:nvSpPr>
          <p:cNvPr id="4" name="Slide Number Placeholder 3">
            <a:extLst>
              <a:ext uri="{FF2B5EF4-FFF2-40B4-BE49-F238E27FC236}">
                <a16:creationId xmlns:a16="http://schemas.microsoft.com/office/drawing/2014/main" id="{E9D62DBC-4525-4654-BEC4-F189E5B59C3D}"/>
              </a:ext>
            </a:extLst>
          </p:cNvPr>
          <p:cNvSpPr>
            <a:spLocks noGrp="1"/>
          </p:cNvSpPr>
          <p:nvPr>
            <p:ph type="sldNum" sz="quarter" idx="12"/>
          </p:nvPr>
        </p:nvSpPr>
        <p:spPr/>
        <p:txBody>
          <a:bodyPr/>
          <a:lstStyle/>
          <a:p>
            <a:pPr>
              <a:defRPr/>
            </a:pPr>
            <a:fld id="{26EBE9EC-F427-48F9-83BB-FE86DF1F4410}" type="slidenum">
              <a:rPr lang="en-GB" altLang="en-US" smtClean="0"/>
              <a:pPr>
                <a:defRPr/>
              </a:pPr>
              <a:t>13</a:t>
            </a:fld>
            <a:endParaRPr lang="en-GB"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77ECC-F627-4BCC-A972-535D8D5A0B21}"/>
              </a:ext>
            </a:extLst>
          </p:cNvPr>
          <p:cNvSpPr>
            <a:spLocks noGrp="1"/>
          </p:cNvSpPr>
          <p:nvPr>
            <p:ph type="title"/>
          </p:nvPr>
        </p:nvSpPr>
        <p:spPr>
          <a:xfrm>
            <a:off x="1774825" y="300039"/>
            <a:ext cx="8642350" cy="968375"/>
          </a:xfrm>
        </p:spPr>
        <p:txBody>
          <a:bodyPr rtlCol="0">
            <a:normAutofit fontScale="90000"/>
          </a:bodyPr>
          <a:lstStyle/>
          <a:p>
            <a:pPr eaLnBrk="1" fontAlgn="auto" hangingPunct="1">
              <a:spcAft>
                <a:spcPts val="0"/>
              </a:spcAft>
              <a:defRPr/>
            </a:pPr>
            <a:r>
              <a:rPr lang="en-GB" dirty="0"/>
              <a:t>Why standard logistic regression wont work</a:t>
            </a:r>
            <a:endParaRPr lang="en-KE" dirty="0"/>
          </a:p>
        </p:txBody>
      </p:sp>
      <p:sp>
        <p:nvSpPr>
          <p:cNvPr id="24579" name="Content Placeholder 2"/>
          <p:cNvSpPr>
            <a:spLocks noGrp="1" noChangeArrowheads="1"/>
          </p:cNvSpPr>
          <p:nvPr>
            <p:ph idx="1"/>
          </p:nvPr>
        </p:nvSpPr>
        <p:spPr>
          <a:xfrm>
            <a:off x="2152650" y="1557338"/>
            <a:ext cx="7975600" cy="4799012"/>
          </a:xfrm>
        </p:spPr>
        <p:txBody>
          <a:bodyPr/>
          <a:lstStyle/>
          <a:p>
            <a:pPr algn="just" eaLnBrk="1" hangingPunct="1"/>
            <a:r>
              <a:rPr lang="en-GB" altLang="en-GB" dirty="0"/>
              <a:t> If there is no censoring and we dichotomise the data, standard regression procedures could be used.</a:t>
            </a:r>
          </a:p>
          <a:p>
            <a:pPr algn="just" eaLnBrk="1" hangingPunct="1"/>
            <a:r>
              <a:rPr lang="en-GB" altLang="en-GB" sz="2000" dirty="0"/>
              <a:t>E.g. Remission time &lt; 10 weeks versus  &gt; 10 weeks.</a:t>
            </a:r>
          </a:p>
          <a:p>
            <a:pPr algn="just" eaLnBrk="1" hangingPunct="1"/>
            <a:endParaRPr lang="en-GB" altLang="en-GB" dirty="0"/>
          </a:p>
          <a:p>
            <a:pPr algn="just" eaLnBrk="1" hangingPunct="1"/>
            <a:r>
              <a:rPr lang="en-GB" altLang="en-GB" dirty="0"/>
              <a:t>However, these may be inadequate because</a:t>
            </a:r>
          </a:p>
          <a:p>
            <a:pPr marL="857250" lvl="1" indent="-514350" algn="just" eaLnBrk="1" hangingPunct="1">
              <a:buFont typeface="Calibri Light" panose="020F0302020204030204" pitchFamily="34" charset="0"/>
              <a:buAutoNum type="romanUcPeriod"/>
            </a:pPr>
            <a:r>
              <a:rPr lang="en-GB" altLang="en-GB" dirty="0"/>
              <a:t>Time to event is a skewed distribution.</a:t>
            </a:r>
          </a:p>
          <a:p>
            <a:pPr marL="857250" lvl="1" indent="-514350" algn="just" eaLnBrk="1" hangingPunct="1">
              <a:buFont typeface="Calibri Light" panose="020F0302020204030204" pitchFamily="34" charset="0"/>
              <a:buAutoNum type="romanUcPeriod"/>
            </a:pPr>
            <a:endParaRPr lang="en-GB" altLang="en-GB" dirty="0"/>
          </a:p>
          <a:p>
            <a:pPr marL="857250" lvl="1" indent="-514350" eaLnBrk="1" hangingPunct="1">
              <a:buFont typeface="Calibri Light" panose="020F0302020204030204" pitchFamily="34" charset="0"/>
              <a:buAutoNum type="romanUcPeriod"/>
            </a:pPr>
            <a:r>
              <a:rPr lang="en-GB" altLang="en-GB" dirty="0"/>
              <a:t>The probability of surviving past a certain point in time may be of more interest than the expected time of event.</a:t>
            </a:r>
            <a:br>
              <a:rPr lang="en-GB" altLang="en-GB" dirty="0"/>
            </a:br>
            <a:endParaRPr lang="en-GB" altLang="en-GB" dirty="0"/>
          </a:p>
          <a:p>
            <a:pPr algn="just" eaLnBrk="1" hangingPunct="1"/>
            <a:endParaRPr lang="en-GB" altLang="en-GB" dirty="0"/>
          </a:p>
        </p:txBody>
      </p:sp>
      <p:sp>
        <p:nvSpPr>
          <p:cNvPr id="4" name="Slide Number Placeholder 3">
            <a:extLst>
              <a:ext uri="{FF2B5EF4-FFF2-40B4-BE49-F238E27FC236}">
                <a16:creationId xmlns:a16="http://schemas.microsoft.com/office/drawing/2014/main" id="{BCC4363C-4534-4480-91F5-65808AB18B9E}"/>
              </a:ext>
            </a:extLst>
          </p:cNvPr>
          <p:cNvSpPr>
            <a:spLocks noGrp="1"/>
          </p:cNvSpPr>
          <p:nvPr>
            <p:ph type="sldNum" sz="quarter" idx="12"/>
          </p:nvPr>
        </p:nvSpPr>
        <p:spPr/>
        <p:txBody>
          <a:bodyPr/>
          <a:lstStyle/>
          <a:p>
            <a:pPr>
              <a:defRPr/>
            </a:pPr>
            <a:fld id="{9E6277D8-D749-417F-87E7-22D9F54D8C93}" type="slidenum">
              <a:rPr lang="en-GB" altLang="en-US"/>
              <a:pPr>
                <a:defRPr/>
              </a:pPr>
              <a:t>14</a:t>
            </a:fld>
            <a:endParaRPr lang="en-GB"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noChangeArrowheads="1"/>
          </p:cNvSpPr>
          <p:nvPr>
            <p:ph type="title"/>
          </p:nvPr>
        </p:nvSpPr>
        <p:spPr>
          <a:xfrm>
            <a:off x="2152650" y="300038"/>
            <a:ext cx="7886700" cy="1325562"/>
          </a:xfrm>
        </p:spPr>
        <p:txBody>
          <a:bodyPr/>
          <a:lstStyle/>
          <a:p>
            <a:pPr eaLnBrk="1" hangingPunct="1"/>
            <a:r>
              <a:rPr lang="en-GB" altLang="en-GB"/>
              <a:t>Methods for time to event data</a:t>
            </a:r>
          </a:p>
        </p:txBody>
      </p:sp>
      <p:sp>
        <p:nvSpPr>
          <p:cNvPr id="25603" name="Content Placeholder 2"/>
          <p:cNvSpPr>
            <a:spLocks noGrp="1" noChangeArrowheads="1"/>
          </p:cNvSpPr>
          <p:nvPr>
            <p:ph idx="1"/>
          </p:nvPr>
        </p:nvSpPr>
        <p:spPr>
          <a:xfrm>
            <a:off x="2152650" y="1625600"/>
            <a:ext cx="8047038" cy="4584700"/>
          </a:xfrm>
        </p:spPr>
        <p:txBody>
          <a:bodyPr/>
          <a:lstStyle/>
          <a:p>
            <a:pPr eaLnBrk="1" hangingPunct="1"/>
            <a:r>
              <a:rPr lang="en-GB" altLang="en-GB"/>
              <a:t>Some statistical methods do not assume a ‘normal’ distribution and explicitly deal with censoring</a:t>
            </a:r>
          </a:p>
          <a:p>
            <a:pPr eaLnBrk="1" hangingPunct="1"/>
            <a:endParaRPr lang="en-GB" altLang="en-GB"/>
          </a:p>
          <a:p>
            <a:pPr eaLnBrk="1" hangingPunct="1"/>
            <a:r>
              <a:rPr lang="en-GB" altLang="en-GB"/>
              <a:t>These methods are based on; </a:t>
            </a:r>
            <a:br>
              <a:rPr lang="en-GB" altLang="en-GB"/>
            </a:br>
            <a:r>
              <a:rPr lang="en-GB" altLang="en-GB"/>
              <a:t>	1) The Survival function</a:t>
            </a:r>
            <a:br>
              <a:rPr lang="en-GB" altLang="en-GB"/>
            </a:br>
            <a:r>
              <a:rPr lang="en-GB" altLang="en-GB"/>
              <a:t>	2) The Hazard function</a:t>
            </a:r>
          </a:p>
          <a:p>
            <a:pPr eaLnBrk="1" hangingPunct="1"/>
            <a:endParaRPr lang="en-GB" altLang="en-GB"/>
          </a:p>
          <a:p>
            <a:pPr eaLnBrk="1" hangingPunct="1"/>
            <a:endParaRPr lang="en-GB" altLang="en-GB"/>
          </a:p>
        </p:txBody>
      </p:sp>
      <p:sp>
        <p:nvSpPr>
          <p:cNvPr id="4" name="Slide Number Placeholder 3">
            <a:extLst>
              <a:ext uri="{FF2B5EF4-FFF2-40B4-BE49-F238E27FC236}">
                <a16:creationId xmlns:a16="http://schemas.microsoft.com/office/drawing/2014/main" id="{379AEAD7-9989-4F48-B1AE-1AE324D2C09A}"/>
              </a:ext>
            </a:extLst>
          </p:cNvPr>
          <p:cNvSpPr>
            <a:spLocks noGrp="1"/>
          </p:cNvSpPr>
          <p:nvPr>
            <p:ph type="sldNum" sz="quarter" idx="12"/>
          </p:nvPr>
        </p:nvSpPr>
        <p:spPr/>
        <p:txBody>
          <a:bodyPr/>
          <a:lstStyle/>
          <a:p>
            <a:pPr>
              <a:defRPr/>
            </a:pPr>
            <a:fld id="{835DAADE-7CBA-4065-8337-B86CD2941456}" type="slidenum">
              <a:rPr lang="en-GB" altLang="en-US"/>
              <a:pPr>
                <a:defRPr/>
              </a:pPr>
              <a:t>15</a:t>
            </a:fld>
            <a:endParaRPr lang="en-GB"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noChangeArrowheads="1"/>
          </p:cNvSpPr>
          <p:nvPr>
            <p:ph type="title"/>
          </p:nvPr>
        </p:nvSpPr>
        <p:spPr>
          <a:xfrm>
            <a:off x="2135189" y="452438"/>
            <a:ext cx="7850187" cy="671512"/>
          </a:xfrm>
        </p:spPr>
        <p:txBody>
          <a:bodyPr>
            <a:normAutofit fontScale="90000"/>
          </a:bodyPr>
          <a:lstStyle/>
          <a:p>
            <a:pPr eaLnBrk="1" hangingPunct="1"/>
            <a:r>
              <a:rPr lang="en-US" altLang="en-US"/>
              <a:t>Survival function</a:t>
            </a:r>
          </a:p>
        </p:txBody>
      </p:sp>
      <p:sp>
        <p:nvSpPr>
          <p:cNvPr id="3" name="Content Placeholder 2">
            <a:extLst>
              <a:ext uri="{FF2B5EF4-FFF2-40B4-BE49-F238E27FC236}">
                <a16:creationId xmlns:a16="http://schemas.microsoft.com/office/drawing/2014/main" id="{C14F84D5-9B00-4A0E-B25B-EDE9F293753B}"/>
              </a:ext>
            </a:extLst>
          </p:cNvPr>
          <p:cNvSpPr>
            <a:spLocks noGrp="1"/>
          </p:cNvSpPr>
          <p:nvPr>
            <p:ph idx="1"/>
          </p:nvPr>
        </p:nvSpPr>
        <p:spPr>
          <a:xfrm>
            <a:off x="1717675" y="1196976"/>
            <a:ext cx="8699500" cy="4968875"/>
          </a:xfrm>
        </p:spPr>
        <p:txBody>
          <a:bodyPr rtlCol="0">
            <a:normAutofit fontScale="92500" lnSpcReduction="20000"/>
          </a:bodyPr>
          <a:lstStyle/>
          <a:p>
            <a:pPr algn="just" eaLnBrk="1" fontAlgn="auto" hangingPunct="1">
              <a:spcAft>
                <a:spcPts val="0"/>
              </a:spcAft>
              <a:defRPr/>
            </a:pPr>
            <a:r>
              <a:rPr lang="en-GB" dirty="0">
                <a:cs typeface="+mn-cs"/>
              </a:rPr>
              <a:t>In survival analysis, the survival function, denoted as S(t), gives the probability that an individual or item </a:t>
            </a:r>
            <a:r>
              <a:rPr lang="en-GB" b="1" i="1" dirty="0">
                <a:cs typeface="+mn-cs"/>
              </a:rPr>
              <a:t>survives beyond a certain time t</a:t>
            </a:r>
          </a:p>
          <a:p>
            <a:pPr algn="ctr" eaLnBrk="1" fontAlgn="auto" hangingPunct="1">
              <a:spcAft>
                <a:spcPts val="0"/>
              </a:spcAft>
              <a:defRPr/>
            </a:pPr>
            <a:r>
              <a:rPr lang="en-GB" dirty="0">
                <a:cs typeface="+mn-cs"/>
              </a:rPr>
              <a:t>S(t)=P(T&gt;t)</a:t>
            </a:r>
          </a:p>
          <a:p>
            <a:pPr algn="just" eaLnBrk="1" fontAlgn="auto" hangingPunct="1">
              <a:spcAft>
                <a:spcPts val="0"/>
              </a:spcAft>
              <a:defRPr/>
            </a:pPr>
            <a:r>
              <a:rPr lang="en-GB" dirty="0">
                <a:cs typeface="+mn-cs"/>
              </a:rPr>
              <a:t>It’s a foundational concept used to understand how long something lasts before an event occurs.</a:t>
            </a:r>
          </a:p>
          <a:p>
            <a:pPr algn="just" eaLnBrk="1" fontAlgn="auto" hangingPunct="1">
              <a:spcAft>
                <a:spcPts val="0"/>
              </a:spcAft>
              <a:defRPr/>
            </a:pPr>
            <a:endParaRPr lang="en-GB" dirty="0">
              <a:cs typeface="+mn-cs"/>
            </a:endParaRPr>
          </a:p>
          <a:p>
            <a:pPr algn="just" eaLnBrk="1" fontAlgn="auto" hangingPunct="1">
              <a:spcAft>
                <a:spcPts val="0"/>
              </a:spcAft>
              <a:defRPr/>
            </a:pPr>
            <a:r>
              <a:rPr lang="en-US" dirty="0">
                <a:cs typeface="+mn-cs"/>
              </a:rPr>
              <a:t>Example;</a:t>
            </a:r>
          </a:p>
          <a:p>
            <a:pPr algn="just" eaLnBrk="1" fontAlgn="auto" hangingPunct="1">
              <a:spcAft>
                <a:spcPts val="0"/>
              </a:spcAft>
              <a:defRPr/>
            </a:pPr>
            <a:endParaRPr lang="en-US" dirty="0">
              <a:cs typeface="+mn-cs"/>
            </a:endParaRPr>
          </a:p>
          <a:p>
            <a:pPr algn="ctr" eaLnBrk="1" fontAlgn="auto" hangingPunct="1">
              <a:spcAft>
                <a:spcPts val="0"/>
              </a:spcAft>
              <a:defRPr/>
            </a:pPr>
            <a:r>
              <a:rPr lang="en-US" dirty="0">
                <a:cs typeface="+mn-cs"/>
              </a:rPr>
              <a:t>  S(12</a:t>
            </a:r>
            <a:r>
              <a:rPr lang="en-US" baseline="-25000" dirty="0">
                <a:cs typeface="+mn-cs"/>
              </a:rPr>
              <a:t>months</a:t>
            </a:r>
            <a:r>
              <a:rPr lang="en-US" dirty="0">
                <a:cs typeface="+mn-cs"/>
              </a:rPr>
              <a:t>)</a:t>
            </a:r>
            <a:r>
              <a:rPr lang="en-US" baseline="-25000" dirty="0">
                <a:cs typeface="+mn-cs"/>
              </a:rPr>
              <a:t>=</a:t>
            </a:r>
            <a:r>
              <a:rPr lang="en-US" dirty="0">
                <a:cs typeface="+mn-cs"/>
              </a:rPr>
              <a:t>0.80, </a:t>
            </a:r>
          </a:p>
          <a:p>
            <a:pPr algn="just" eaLnBrk="1" fontAlgn="auto" hangingPunct="1">
              <a:spcAft>
                <a:spcPts val="0"/>
              </a:spcAft>
              <a:defRPr/>
            </a:pPr>
            <a:endParaRPr lang="en-US" dirty="0">
              <a:cs typeface="+mn-cs"/>
            </a:endParaRPr>
          </a:p>
          <a:p>
            <a:pPr algn="just" eaLnBrk="1" fontAlgn="auto" hangingPunct="1">
              <a:spcAft>
                <a:spcPts val="0"/>
              </a:spcAft>
              <a:defRPr/>
            </a:pPr>
            <a:r>
              <a:rPr lang="en-US" dirty="0">
                <a:cs typeface="+mn-cs"/>
              </a:rPr>
              <a:t>then 80% of individuals are expected to survive beyond 12 months.</a:t>
            </a:r>
          </a:p>
        </p:txBody>
      </p:sp>
      <p:sp>
        <p:nvSpPr>
          <p:cNvPr id="4" name="Slide Number Placeholder 3">
            <a:extLst>
              <a:ext uri="{FF2B5EF4-FFF2-40B4-BE49-F238E27FC236}">
                <a16:creationId xmlns:a16="http://schemas.microsoft.com/office/drawing/2014/main" id="{710ECAC0-B5B7-488C-99A5-E2A66CD2B39A}"/>
              </a:ext>
            </a:extLst>
          </p:cNvPr>
          <p:cNvSpPr>
            <a:spLocks noGrp="1"/>
          </p:cNvSpPr>
          <p:nvPr>
            <p:ph type="sldNum" sz="quarter" idx="12"/>
          </p:nvPr>
        </p:nvSpPr>
        <p:spPr/>
        <p:txBody>
          <a:bodyPr/>
          <a:lstStyle/>
          <a:p>
            <a:pPr>
              <a:defRPr/>
            </a:pPr>
            <a:fld id="{181B255F-E9BE-44E3-B963-B77A9CD53855}" type="slidenum">
              <a:rPr lang="en-US"/>
              <a:pPr>
                <a:defRPr/>
              </a:pPr>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noChangeArrowheads="1"/>
          </p:cNvSpPr>
          <p:nvPr>
            <p:ph type="title"/>
          </p:nvPr>
        </p:nvSpPr>
        <p:spPr>
          <a:xfrm>
            <a:off x="2152650" y="300038"/>
            <a:ext cx="7831138" cy="825500"/>
          </a:xfrm>
        </p:spPr>
        <p:txBody>
          <a:bodyPr/>
          <a:lstStyle/>
          <a:p>
            <a:pPr eaLnBrk="1" hangingPunct="1"/>
            <a:r>
              <a:rPr lang="en-GB" altLang="en-GB"/>
              <a:t>The survival Function</a:t>
            </a:r>
          </a:p>
        </p:txBody>
      </p:sp>
      <p:sp>
        <p:nvSpPr>
          <p:cNvPr id="27651" name="Content Placeholder 2"/>
          <p:cNvSpPr>
            <a:spLocks noGrp="1" noChangeArrowheads="1"/>
          </p:cNvSpPr>
          <p:nvPr>
            <p:ph idx="1"/>
          </p:nvPr>
        </p:nvSpPr>
        <p:spPr>
          <a:xfrm>
            <a:off x="1992314" y="1341438"/>
            <a:ext cx="8351837" cy="5014912"/>
          </a:xfrm>
        </p:spPr>
        <p:txBody>
          <a:bodyPr>
            <a:normAutofit lnSpcReduction="10000"/>
          </a:bodyPr>
          <a:lstStyle/>
          <a:p>
            <a:pPr eaLnBrk="1" hangingPunct="1"/>
            <a:r>
              <a:rPr lang="en-GB" altLang="en-GB"/>
              <a:t>As </a:t>
            </a:r>
            <a:r>
              <a:rPr lang="en-GB" altLang="en-GB" i="1"/>
              <a:t>t</a:t>
            </a:r>
            <a:r>
              <a:rPr lang="en-GB" altLang="en-GB"/>
              <a:t> ranges from </a:t>
            </a:r>
            <a:r>
              <a:rPr lang="en-GB" altLang="en-GB" i="1"/>
              <a:t>0 to ∞</a:t>
            </a:r>
            <a:r>
              <a:rPr lang="en-GB" altLang="en-GB"/>
              <a:t>, the survival function has the following properties</a:t>
            </a:r>
          </a:p>
          <a:p>
            <a:pPr eaLnBrk="1" hangingPunct="1"/>
            <a:endParaRPr lang="en-GB" altLang="en-GB"/>
          </a:p>
          <a:p>
            <a:pPr eaLnBrk="1" hangingPunct="1"/>
            <a:r>
              <a:rPr lang="en-GB" altLang="en-GB"/>
              <a:t>It is </a:t>
            </a:r>
            <a:r>
              <a:rPr lang="en-GB" altLang="en-GB" b="1"/>
              <a:t>non</a:t>
            </a:r>
            <a:r>
              <a:rPr lang="en-GB" altLang="en-GB"/>
              <a:t>-increasing</a:t>
            </a:r>
          </a:p>
          <a:p>
            <a:pPr eaLnBrk="1" hangingPunct="1"/>
            <a:r>
              <a:rPr lang="en-GB" altLang="en-GB"/>
              <a:t>At time </a:t>
            </a:r>
            <a:r>
              <a:rPr lang="en-GB" altLang="en-GB" i="1"/>
              <a:t>t = 0</a:t>
            </a:r>
            <a:r>
              <a:rPr lang="en-GB" altLang="en-GB"/>
              <a:t>, S(t) = 1. In other words, the probability of surviving past time </a:t>
            </a:r>
            <a:r>
              <a:rPr lang="en-GB" altLang="en-GB" i="1"/>
              <a:t>0</a:t>
            </a:r>
            <a:r>
              <a:rPr lang="en-GB" altLang="en-GB"/>
              <a:t> is 1.</a:t>
            </a:r>
          </a:p>
          <a:p>
            <a:pPr eaLnBrk="1" hangingPunct="1"/>
            <a:r>
              <a:rPr lang="en-GB" altLang="en-GB"/>
              <a:t>At time </a:t>
            </a:r>
            <a:r>
              <a:rPr lang="en-GB" altLang="en-GB" i="1"/>
              <a:t>t = ∞</a:t>
            </a:r>
            <a:r>
              <a:rPr lang="en-GB" altLang="en-GB"/>
              <a:t>, S(t) = S(∞) = 0. As time goes to infinity, the survival curve goes to 0.</a:t>
            </a:r>
          </a:p>
          <a:p>
            <a:pPr eaLnBrk="1" hangingPunct="1"/>
            <a:endParaRPr lang="en-GB" altLang="en-GB"/>
          </a:p>
          <a:p>
            <a:pPr eaLnBrk="1" hangingPunct="1"/>
            <a:r>
              <a:rPr lang="en-GB" altLang="en-GB"/>
              <a:t>In theory, the survival function is smooth. In practice, we observe events on a discrete time scale (days, weeks, etc.).</a:t>
            </a:r>
          </a:p>
        </p:txBody>
      </p:sp>
      <p:sp>
        <p:nvSpPr>
          <p:cNvPr id="4" name="Slide Number Placeholder 3">
            <a:extLst>
              <a:ext uri="{FF2B5EF4-FFF2-40B4-BE49-F238E27FC236}">
                <a16:creationId xmlns:a16="http://schemas.microsoft.com/office/drawing/2014/main" id="{5EC1A4F5-9F95-4132-80DB-9232EFBF02D0}"/>
              </a:ext>
            </a:extLst>
          </p:cNvPr>
          <p:cNvSpPr>
            <a:spLocks noGrp="1"/>
          </p:cNvSpPr>
          <p:nvPr>
            <p:ph type="sldNum" sz="quarter" idx="12"/>
          </p:nvPr>
        </p:nvSpPr>
        <p:spPr/>
        <p:txBody>
          <a:bodyPr/>
          <a:lstStyle/>
          <a:p>
            <a:pPr>
              <a:defRPr/>
            </a:pPr>
            <a:fld id="{531A3F41-FA30-4376-9B7D-A7749605760C}" type="slidenum">
              <a:rPr lang="en-GB" altLang="en-US"/>
              <a:pPr>
                <a:defRPr/>
              </a:pPr>
              <a:t>17</a:t>
            </a:fld>
            <a:endParaRPr lang="en-GB"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4" name="Rectangle 2"/>
          <p:cNvSpPr>
            <a:spLocks noGrp="1" noRot="1" noChangeArrowheads="1"/>
          </p:cNvSpPr>
          <p:nvPr>
            <p:ph type="title"/>
          </p:nvPr>
        </p:nvSpPr>
        <p:spPr>
          <a:xfrm>
            <a:off x="1981200" y="274638"/>
            <a:ext cx="8229600" cy="595312"/>
          </a:xfrm>
        </p:spPr>
        <p:txBody>
          <a:bodyPr/>
          <a:lstStyle/>
          <a:p>
            <a:pPr eaLnBrk="1" hangingPunct="1"/>
            <a:r>
              <a:rPr lang="en-GB" altLang="en-GB" sz="3200"/>
              <a:t>The Survival Function</a:t>
            </a:r>
          </a:p>
        </p:txBody>
      </p:sp>
      <p:sp>
        <p:nvSpPr>
          <p:cNvPr id="28675" name="Rectangle 3"/>
          <p:cNvSpPr>
            <a:spLocks noGrp="1" noChangeArrowheads="1"/>
          </p:cNvSpPr>
          <p:nvPr>
            <p:ph idx="1"/>
          </p:nvPr>
        </p:nvSpPr>
        <p:spPr>
          <a:xfrm>
            <a:off x="1992314" y="1125538"/>
            <a:ext cx="8351837" cy="863600"/>
          </a:xfrm>
        </p:spPr>
        <p:txBody>
          <a:bodyPr/>
          <a:lstStyle/>
          <a:p>
            <a:pPr eaLnBrk="1" hangingPunct="1"/>
            <a:r>
              <a:rPr lang="en-GB" altLang="en-GB">
                <a:latin typeface="Times New Roman" panose="02020603050405020304" pitchFamily="18" charset="0"/>
              </a:rPr>
              <a:t>The survival function provides the probability of ‘survival’ past a certain time point.</a:t>
            </a:r>
          </a:p>
          <a:p>
            <a:pPr eaLnBrk="1" hangingPunct="1"/>
            <a:endParaRPr lang="en-GB" altLang="en-GB" sz="1600">
              <a:latin typeface="Times New Roman" panose="02020603050405020304" pitchFamily="18" charset="0"/>
            </a:endParaRPr>
          </a:p>
        </p:txBody>
      </p:sp>
      <p:sp>
        <p:nvSpPr>
          <p:cNvPr id="2867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522A7D68-3647-4454-A254-4DF86AF122FA}" type="slidenum">
              <a:rPr lang="en-GB" altLang="en-US" sz="1200">
                <a:latin typeface="Arial" panose="020B0604020202020204" pitchFamily="34" charset="0"/>
                <a:cs typeface="Arial" panose="020B0604020202020204" pitchFamily="34" charset="0"/>
              </a:rPr>
              <a:pPr fontAlgn="base">
                <a:spcBef>
                  <a:spcPct val="0"/>
                </a:spcBef>
                <a:spcAft>
                  <a:spcPct val="0"/>
                </a:spcAft>
              </a:pPr>
              <a:t>18</a:t>
            </a:fld>
            <a:endParaRPr lang="en-GB" altLang="en-US" sz="1200">
              <a:latin typeface="Arial" panose="020B0604020202020204" pitchFamily="34" charset="0"/>
              <a:cs typeface="Arial" panose="020B0604020202020204" pitchFamily="34" charset="0"/>
            </a:endParaRPr>
          </a:p>
        </p:txBody>
      </p:sp>
      <p:graphicFrame>
        <p:nvGraphicFramePr>
          <p:cNvPr id="247812" name="Object 4"/>
          <p:cNvGraphicFramePr>
            <a:graphicFrameLocks noChangeAspect="1"/>
          </p:cNvGraphicFramePr>
          <p:nvPr/>
        </p:nvGraphicFramePr>
        <p:xfrm>
          <a:off x="2351089" y="2133601"/>
          <a:ext cx="6696075" cy="4525963"/>
        </p:xfrm>
        <a:graphic>
          <a:graphicData uri="http://schemas.openxmlformats.org/presentationml/2006/ole">
            <mc:AlternateContent xmlns:mc="http://schemas.openxmlformats.org/markup-compatibility/2006">
              <mc:Choice xmlns:v="urn:schemas-microsoft-com:vml" Requires="v">
                <p:oleObj spid="_x0000_s28702" name="Mtb Graph" r:id="rId3" imgW="10546200" imgH="7131240" progId="MinitabGraph.Document">
                  <p:embed/>
                </p:oleObj>
              </mc:Choice>
              <mc:Fallback>
                <p:oleObj name="Mtb Graph" r:id="rId3" imgW="10546200" imgH="7131240" progId="MinitabGraph.Document">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1089" y="2133601"/>
                        <a:ext cx="6696075"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9"/>
          <p:cNvGrpSpPr>
            <a:grpSpLocks/>
          </p:cNvGrpSpPr>
          <p:nvPr/>
        </p:nvGrpSpPr>
        <p:grpSpPr bwMode="auto">
          <a:xfrm>
            <a:off x="3792538" y="4200526"/>
            <a:ext cx="576262" cy="1584325"/>
            <a:chOff x="1474" y="2205"/>
            <a:chExt cx="499" cy="1134"/>
          </a:xfrm>
        </p:grpSpPr>
        <p:sp>
          <p:nvSpPr>
            <p:cNvPr id="28682" name="Line 10"/>
            <p:cNvSpPr>
              <a:spLocks noChangeShapeType="1"/>
            </p:cNvSpPr>
            <p:nvPr/>
          </p:nvSpPr>
          <p:spPr bwMode="auto">
            <a:xfrm>
              <a:off x="1474" y="2205"/>
              <a:ext cx="499" cy="0"/>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28683" name="Line 11"/>
            <p:cNvSpPr>
              <a:spLocks noChangeShapeType="1"/>
            </p:cNvSpPr>
            <p:nvPr/>
          </p:nvSpPr>
          <p:spPr bwMode="auto">
            <a:xfrm>
              <a:off x="1973" y="2205"/>
              <a:ext cx="0" cy="1134"/>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grpSp>
      <p:grpSp>
        <p:nvGrpSpPr>
          <p:cNvPr id="3" name="Group 12"/>
          <p:cNvGrpSpPr>
            <a:grpSpLocks/>
          </p:cNvGrpSpPr>
          <p:nvPr/>
        </p:nvGrpSpPr>
        <p:grpSpPr bwMode="auto">
          <a:xfrm>
            <a:off x="3719514" y="5300663"/>
            <a:ext cx="1582737" cy="431800"/>
            <a:chOff x="1474" y="2976"/>
            <a:chExt cx="1179" cy="363"/>
          </a:xfrm>
        </p:grpSpPr>
        <p:sp>
          <p:nvSpPr>
            <p:cNvPr id="28680" name="Line 13"/>
            <p:cNvSpPr>
              <a:spLocks noChangeShapeType="1"/>
            </p:cNvSpPr>
            <p:nvPr/>
          </p:nvSpPr>
          <p:spPr bwMode="auto">
            <a:xfrm flipV="1">
              <a:off x="2653" y="2976"/>
              <a:ext cx="0" cy="363"/>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28681" name="Line 14"/>
            <p:cNvSpPr>
              <a:spLocks noChangeShapeType="1"/>
            </p:cNvSpPr>
            <p:nvPr/>
          </p:nvSpPr>
          <p:spPr bwMode="auto">
            <a:xfrm flipH="1">
              <a:off x="1474" y="2976"/>
              <a:ext cx="1179" cy="0"/>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4781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2"/>
          <p:cNvSpPr>
            <a:spLocks noGrp="1" noRot="1" noChangeArrowheads="1"/>
          </p:cNvSpPr>
          <p:nvPr>
            <p:ph type="title"/>
          </p:nvPr>
        </p:nvSpPr>
        <p:spPr>
          <a:xfrm>
            <a:off x="1981200" y="274638"/>
            <a:ext cx="8229600" cy="595312"/>
          </a:xfrm>
        </p:spPr>
        <p:txBody>
          <a:bodyPr/>
          <a:lstStyle/>
          <a:p>
            <a:pPr eaLnBrk="1" hangingPunct="1"/>
            <a:r>
              <a:rPr lang="en-GB" altLang="en-GB" sz="3200"/>
              <a:t>The Survival Function</a:t>
            </a:r>
          </a:p>
        </p:txBody>
      </p:sp>
      <p:sp>
        <p:nvSpPr>
          <p:cNvPr id="29699" name="Rectangle 3"/>
          <p:cNvSpPr>
            <a:spLocks noGrp="1" noChangeArrowheads="1"/>
          </p:cNvSpPr>
          <p:nvPr>
            <p:ph idx="1"/>
          </p:nvPr>
        </p:nvSpPr>
        <p:spPr>
          <a:xfrm>
            <a:off x="1992314" y="1412876"/>
            <a:ext cx="8351837" cy="4752975"/>
          </a:xfrm>
        </p:spPr>
        <p:txBody>
          <a:bodyPr/>
          <a:lstStyle/>
          <a:p>
            <a:pPr eaLnBrk="1" hangingPunct="1"/>
            <a:endParaRPr lang="en-GB" altLang="en-GB"/>
          </a:p>
          <a:p>
            <a:pPr eaLnBrk="1" hangingPunct="1"/>
            <a:r>
              <a:rPr lang="en-GB" altLang="en-GB"/>
              <a:t>Survival functions need to be estimated from observed data.</a:t>
            </a:r>
            <a:br>
              <a:rPr lang="en-GB" altLang="en-GB"/>
            </a:br>
            <a:br>
              <a:rPr lang="en-GB" altLang="en-GB"/>
            </a:br>
            <a:r>
              <a:rPr lang="en-GB" altLang="en-GB"/>
              <a:t>Two principal methods of estimation are :</a:t>
            </a:r>
            <a:br>
              <a:rPr lang="en-GB" altLang="en-GB"/>
            </a:br>
            <a:r>
              <a:rPr lang="en-GB" altLang="en-GB"/>
              <a:t>(i) Lifetables;</a:t>
            </a:r>
            <a:br>
              <a:rPr lang="en-GB" altLang="en-GB"/>
            </a:br>
            <a:r>
              <a:rPr lang="en-GB" altLang="en-GB"/>
              <a:t>(ii) Kaplan-Meier Product Limit method.</a:t>
            </a:r>
          </a:p>
          <a:p>
            <a:pPr eaLnBrk="1" hangingPunct="1"/>
            <a:endParaRPr lang="en-GB" altLang="en-GB"/>
          </a:p>
          <a:p>
            <a:pPr eaLnBrk="1" hangingPunct="1"/>
            <a:r>
              <a:rPr lang="en-GB" altLang="en-GB"/>
              <a:t>Survival between groups can be compared by comparing the survival function. </a:t>
            </a:r>
          </a:p>
          <a:p>
            <a:pPr eaLnBrk="1" hangingPunct="1"/>
            <a:endParaRPr lang="en-GB" altLang="en-GB"/>
          </a:p>
        </p:txBody>
      </p:sp>
      <p:sp>
        <p:nvSpPr>
          <p:cNvPr id="29700"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23765BD6-DAAE-46ED-BC31-8E079CC1FB0F}" type="slidenum">
              <a:rPr lang="en-GB" altLang="en-US" sz="1200">
                <a:latin typeface="Arial" panose="020B0604020202020204" pitchFamily="34" charset="0"/>
                <a:cs typeface="Arial" panose="020B0604020202020204" pitchFamily="34" charset="0"/>
              </a:rPr>
              <a:pPr fontAlgn="base">
                <a:spcBef>
                  <a:spcPct val="0"/>
                </a:spcBef>
                <a:spcAft>
                  <a:spcPct val="0"/>
                </a:spcAft>
              </a:pPr>
              <a:t>19</a:t>
            </a:fld>
            <a:endParaRPr lang="en-GB" altLang="en-US" sz="1200">
              <a:latin typeface="Arial" panose="020B0604020202020204" pitchFamily="34" charset="0"/>
              <a:cs typeface="Arial" panose="020B06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Rectangle 2"/>
          <p:cNvSpPr>
            <a:spLocks noGrp="1" noRot="1" noChangeArrowheads="1"/>
          </p:cNvSpPr>
          <p:nvPr>
            <p:ph type="title"/>
          </p:nvPr>
        </p:nvSpPr>
        <p:spPr>
          <a:xfrm>
            <a:off x="1981200" y="274638"/>
            <a:ext cx="8229600" cy="595312"/>
          </a:xfrm>
        </p:spPr>
        <p:txBody>
          <a:bodyPr/>
          <a:lstStyle/>
          <a:p>
            <a:pPr eaLnBrk="1" hangingPunct="1"/>
            <a:r>
              <a:rPr lang="en-GB" altLang="en-GB" sz="3200"/>
              <a:t>The Survival Function – </a:t>
            </a:r>
            <a:r>
              <a:rPr lang="en-GB" altLang="en-GB" sz="3200" i="1"/>
              <a:t>Lifetables</a:t>
            </a:r>
          </a:p>
        </p:txBody>
      </p:sp>
      <p:sp>
        <p:nvSpPr>
          <p:cNvPr id="248835" name="Rectangle 3">
            <a:extLst>
              <a:ext uri="{FF2B5EF4-FFF2-40B4-BE49-F238E27FC236}">
                <a16:creationId xmlns:a16="http://schemas.microsoft.com/office/drawing/2014/main" id="{49CDE87A-E844-4884-A7AB-A0A1DB6B2850}"/>
              </a:ext>
            </a:extLst>
          </p:cNvPr>
          <p:cNvSpPr>
            <a:spLocks noGrp="1" noChangeArrowheads="1"/>
          </p:cNvSpPr>
          <p:nvPr>
            <p:ph idx="1"/>
          </p:nvPr>
        </p:nvSpPr>
        <p:spPr>
          <a:xfrm>
            <a:off x="1847851" y="1341438"/>
            <a:ext cx="8569325" cy="4754562"/>
          </a:xfrm>
        </p:spPr>
        <p:txBody>
          <a:bodyPr rtlCol="0">
            <a:normAutofit fontScale="92500" lnSpcReduction="20000"/>
          </a:bodyPr>
          <a:lstStyle/>
          <a:p>
            <a:pPr eaLnBrk="1" fontAlgn="auto" hangingPunct="1">
              <a:spcAft>
                <a:spcPts val="0"/>
              </a:spcAft>
              <a:defRPr/>
            </a:pPr>
            <a:r>
              <a:rPr lang="en-GB" dirty="0">
                <a:cs typeface="+mn-cs"/>
              </a:rPr>
              <a:t>The construction of a lifetable is as follows:</a:t>
            </a:r>
          </a:p>
          <a:p>
            <a:pPr eaLnBrk="1" fontAlgn="auto" hangingPunct="1">
              <a:spcAft>
                <a:spcPts val="0"/>
              </a:spcAft>
              <a:defRPr/>
            </a:pPr>
            <a:endParaRPr lang="en-GB" sz="800" dirty="0">
              <a:cs typeface="+mn-cs"/>
            </a:endParaRPr>
          </a:p>
          <a:p>
            <a:pPr eaLnBrk="1" fontAlgn="auto" hangingPunct="1">
              <a:spcAft>
                <a:spcPts val="0"/>
              </a:spcAft>
              <a:buNone/>
              <a:defRPr/>
            </a:pPr>
            <a:r>
              <a:rPr lang="en-GB" dirty="0">
                <a:cs typeface="+mn-cs"/>
              </a:rPr>
              <a:t>	Time is split into fixed intervals,</a:t>
            </a:r>
            <a:br>
              <a:rPr lang="en-GB" dirty="0">
                <a:cs typeface="+mn-cs"/>
              </a:rPr>
            </a:br>
            <a:r>
              <a:rPr lang="en-GB" dirty="0">
                <a:cs typeface="+mn-cs"/>
              </a:rPr>
              <a:t>e.g. 0 to 3 months, 3 to 6 months, 6 to 9 months etc.</a:t>
            </a:r>
          </a:p>
          <a:p>
            <a:pPr eaLnBrk="1" fontAlgn="auto" hangingPunct="1">
              <a:spcAft>
                <a:spcPts val="0"/>
              </a:spcAft>
              <a:buNone/>
              <a:defRPr/>
            </a:pPr>
            <a:endParaRPr lang="en-GB" sz="1200" dirty="0">
              <a:cs typeface="+mn-cs"/>
            </a:endParaRPr>
          </a:p>
          <a:p>
            <a:pPr eaLnBrk="1" fontAlgn="auto" hangingPunct="1">
              <a:spcAft>
                <a:spcPts val="0"/>
              </a:spcAft>
              <a:buNone/>
              <a:defRPr/>
            </a:pPr>
            <a:r>
              <a:rPr lang="en-GB" dirty="0">
                <a:cs typeface="+mn-cs"/>
              </a:rPr>
              <a:t>	Number of individuals </a:t>
            </a:r>
            <a:r>
              <a:rPr lang="en-GB" u="sng" dirty="0">
                <a:cs typeface="+mn-cs"/>
              </a:rPr>
              <a:t>at risk</a:t>
            </a:r>
            <a:r>
              <a:rPr lang="en-GB" dirty="0">
                <a:cs typeface="+mn-cs"/>
              </a:rPr>
              <a:t> at the beginning of the </a:t>
            </a:r>
            <a:r>
              <a:rPr lang="en-GB" i="1" dirty="0" err="1">
                <a:cs typeface="+mn-cs"/>
              </a:rPr>
              <a:t>i</a:t>
            </a:r>
            <a:r>
              <a:rPr lang="en-GB" baseline="30000" dirty="0" err="1">
                <a:cs typeface="+mn-cs"/>
              </a:rPr>
              <a:t>th</a:t>
            </a:r>
            <a:r>
              <a:rPr lang="en-GB" dirty="0">
                <a:cs typeface="+mn-cs"/>
              </a:rPr>
              <a:t>  time interval is </a:t>
            </a:r>
            <a:r>
              <a:rPr lang="en-GB" i="1" dirty="0">
                <a:cs typeface="+mn-cs"/>
              </a:rPr>
              <a:t>N</a:t>
            </a:r>
            <a:r>
              <a:rPr lang="en-GB" i="1" baseline="-25000" dirty="0">
                <a:cs typeface="+mn-cs"/>
              </a:rPr>
              <a:t>i</a:t>
            </a:r>
            <a:r>
              <a:rPr lang="en-GB" dirty="0">
                <a:cs typeface="+mn-cs"/>
              </a:rPr>
              <a:t>. </a:t>
            </a:r>
            <a:br>
              <a:rPr lang="en-GB" dirty="0">
                <a:cs typeface="+mn-cs"/>
              </a:rPr>
            </a:br>
            <a:endParaRPr lang="en-GB" sz="1200" dirty="0">
              <a:cs typeface="+mn-cs"/>
            </a:endParaRPr>
          </a:p>
          <a:p>
            <a:pPr eaLnBrk="1" fontAlgn="auto" hangingPunct="1">
              <a:spcAft>
                <a:spcPts val="0"/>
              </a:spcAft>
              <a:buNone/>
              <a:defRPr/>
            </a:pPr>
            <a:r>
              <a:rPr lang="en-GB" dirty="0">
                <a:cs typeface="+mn-cs"/>
              </a:rPr>
              <a:t>	The number of individuals dying i.e., experiencing event of interest (</a:t>
            </a:r>
            <a:r>
              <a:rPr lang="en-GB" u="sng" dirty="0">
                <a:cs typeface="+mn-cs"/>
              </a:rPr>
              <a:t>not</a:t>
            </a:r>
            <a:r>
              <a:rPr lang="en-GB" dirty="0">
                <a:cs typeface="+mn-cs"/>
              </a:rPr>
              <a:t> censored) is </a:t>
            </a:r>
            <a:r>
              <a:rPr lang="en-GB" i="1" dirty="0">
                <a:cs typeface="+mn-cs"/>
              </a:rPr>
              <a:t>D</a:t>
            </a:r>
            <a:r>
              <a:rPr lang="en-GB" i="1" baseline="-25000" dirty="0">
                <a:cs typeface="+mn-cs"/>
              </a:rPr>
              <a:t>i</a:t>
            </a:r>
            <a:r>
              <a:rPr lang="en-GB" dirty="0">
                <a:cs typeface="+mn-cs"/>
              </a:rPr>
              <a:t>.</a:t>
            </a:r>
            <a:br>
              <a:rPr lang="en-GB" dirty="0">
                <a:cs typeface="+mn-cs"/>
              </a:rPr>
            </a:br>
            <a:br>
              <a:rPr lang="en-GB" sz="1200" dirty="0">
                <a:cs typeface="+mn-cs"/>
              </a:rPr>
            </a:br>
            <a:r>
              <a:rPr lang="en-GB" dirty="0">
                <a:cs typeface="+mn-cs"/>
              </a:rPr>
              <a:t>The probability of surviving </a:t>
            </a:r>
            <a:r>
              <a:rPr lang="en-GB" i="1" dirty="0" err="1">
                <a:cs typeface="+mn-cs"/>
              </a:rPr>
              <a:t>i</a:t>
            </a:r>
            <a:r>
              <a:rPr lang="en-GB" baseline="30000" dirty="0" err="1">
                <a:cs typeface="+mn-cs"/>
              </a:rPr>
              <a:t>th</a:t>
            </a:r>
            <a:r>
              <a:rPr lang="en-GB" baseline="30000" dirty="0">
                <a:cs typeface="+mn-cs"/>
              </a:rPr>
              <a:t> </a:t>
            </a:r>
            <a:r>
              <a:rPr lang="en-GB" dirty="0">
                <a:cs typeface="+mn-cs"/>
              </a:rPr>
              <a:t>time interval is </a:t>
            </a:r>
            <a:r>
              <a:rPr lang="en-GB" i="1" dirty="0">
                <a:cs typeface="+mn-cs"/>
              </a:rPr>
              <a:t>p</a:t>
            </a:r>
            <a:r>
              <a:rPr lang="en-GB" i="1" baseline="-25000" dirty="0">
                <a:cs typeface="+mn-cs"/>
              </a:rPr>
              <a:t>i</a:t>
            </a:r>
            <a:r>
              <a:rPr lang="en-GB" dirty="0">
                <a:cs typeface="+mn-cs"/>
              </a:rPr>
              <a:t> = 1 - </a:t>
            </a:r>
            <a:r>
              <a:rPr lang="en-GB" i="1" dirty="0">
                <a:cs typeface="+mn-cs"/>
              </a:rPr>
              <a:t>D</a:t>
            </a:r>
            <a:r>
              <a:rPr lang="en-GB" i="1" baseline="-25000" dirty="0">
                <a:cs typeface="+mn-cs"/>
              </a:rPr>
              <a:t>i</a:t>
            </a:r>
            <a:r>
              <a:rPr lang="en-GB" dirty="0">
                <a:cs typeface="+mn-cs"/>
              </a:rPr>
              <a:t>/</a:t>
            </a:r>
            <a:r>
              <a:rPr lang="en-GB" i="1" dirty="0">
                <a:cs typeface="+mn-cs"/>
              </a:rPr>
              <a:t>N</a:t>
            </a:r>
            <a:r>
              <a:rPr lang="en-GB" i="1" baseline="-25000" dirty="0">
                <a:cs typeface="+mn-cs"/>
              </a:rPr>
              <a:t>i</a:t>
            </a:r>
            <a:br>
              <a:rPr lang="en-GB" dirty="0">
                <a:cs typeface="+mn-cs"/>
              </a:rPr>
            </a:br>
            <a:r>
              <a:rPr lang="en-GB" dirty="0">
                <a:cs typeface="+mn-cs"/>
              </a:rPr>
              <a:t>[</a:t>
            </a:r>
            <a:r>
              <a:rPr lang="en-GB" i="1" dirty="0">
                <a:cs typeface="+mn-cs"/>
              </a:rPr>
              <a:t>However – this calculation is adjusted for censoring</a:t>
            </a:r>
            <a:r>
              <a:rPr lang="en-GB" dirty="0">
                <a:cs typeface="+mn-cs"/>
              </a:rPr>
              <a:t>]</a:t>
            </a:r>
            <a:br>
              <a:rPr lang="en-GB" dirty="0">
                <a:cs typeface="+mn-cs"/>
              </a:rPr>
            </a:br>
            <a:endParaRPr lang="en-GB" sz="1200" dirty="0">
              <a:cs typeface="+mn-cs"/>
            </a:endParaRPr>
          </a:p>
          <a:p>
            <a:pPr eaLnBrk="1" fontAlgn="auto" hangingPunct="1">
              <a:spcAft>
                <a:spcPts val="0"/>
              </a:spcAft>
              <a:buNone/>
              <a:defRPr/>
            </a:pPr>
            <a:r>
              <a:rPr lang="en-GB" dirty="0">
                <a:cs typeface="+mn-cs"/>
              </a:rPr>
              <a:t>	The probability of surviving past the </a:t>
            </a:r>
            <a:r>
              <a:rPr lang="en-GB" i="1" dirty="0">
                <a:cs typeface="+mn-cs"/>
              </a:rPr>
              <a:t>n</a:t>
            </a:r>
            <a:r>
              <a:rPr lang="en-GB" i="1" baseline="30000" dirty="0">
                <a:cs typeface="+mn-cs"/>
              </a:rPr>
              <a:t>th</a:t>
            </a:r>
            <a:r>
              <a:rPr lang="en-GB" dirty="0">
                <a:cs typeface="+mn-cs"/>
              </a:rPr>
              <a:t> time interval is  </a:t>
            </a:r>
            <a:br>
              <a:rPr lang="en-GB" dirty="0">
                <a:cs typeface="+mn-cs"/>
              </a:rPr>
            </a:br>
            <a:r>
              <a:rPr lang="en-GB" i="1" dirty="0">
                <a:cs typeface="+mn-cs"/>
              </a:rPr>
              <a:t>p</a:t>
            </a:r>
            <a:r>
              <a:rPr lang="en-GB" i="1" baseline="-25000" dirty="0">
                <a:cs typeface="+mn-cs"/>
              </a:rPr>
              <a:t>1</a:t>
            </a:r>
            <a:r>
              <a:rPr lang="en-GB" i="1" dirty="0">
                <a:cs typeface="+mn-cs"/>
              </a:rPr>
              <a:t> </a:t>
            </a:r>
            <a:r>
              <a:rPr lang="en-GB" dirty="0">
                <a:cs typeface="+mn-cs"/>
              </a:rPr>
              <a:t>x</a:t>
            </a:r>
            <a:r>
              <a:rPr lang="en-GB" i="1" dirty="0">
                <a:cs typeface="+mn-cs"/>
              </a:rPr>
              <a:t> p</a:t>
            </a:r>
            <a:r>
              <a:rPr lang="en-GB" i="1" baseline="-25000" dirty="0">
                <a:cs typeface="+mn-cs"/>
              </a:rPr>
              <a:t>2</a:t>
            </a:r>
            <a:r>
              <a:rPr lang="en-GB" i="1" dirty="0">
                <a:cs typeface="+mn-cs"/>
              </a:rPr>
              <a:t> </a:t>
            </a:r>
            <a:r>
              <a:rPr lang="en-GB" dirty="0">
                <a:cs typeface="+mn-cs"/>
              </a:rPr>
              <a:t>x</a:t>
            </a:r>
            <a:r>
              <a:rPr lang="en-GB" i="1" dirty="0">
                <a:cs typeface="+mn-cs"/>
              </a:rPr>
              <a:t> p</a:t>
            </a:r>
            <a:r>
              <a:rPr lang="en-GB" i="1" baseline="-25000" dirty="0">
                <a:cs typeface="+mn-cs"/>
              </a:rPr>
              <a:t>3</a:t>
            </a:r>
            <a:r>
              <a:rPr lang="en-GB" i="1" dirty="0">
                <a:cs typeface="+mn-cs"/>
              </a:rPr>
              <a:t> </a:t>
            </a:r>
            <a:r>
              <a:rPr lang="en-GB" dirty="0">
                <a:cs typeface="+mn-cs"/>
              </a:rPr>
              <a:t>x</a:t>
            </a:r>
            <a:r>
              <a:rPr lang="en-GB" i="1" dirty="0">
                <a:cs typeface="+mn-cs"/>
              </a:rPr>
              <a:t> ... </a:t>
            </a:r>
            <a:r>
              <a:rPr lang="en-GB" i="1" dirty="0" err="1">
                <a:cs typeface="+mn-cs"/>
              </a:rPr>
              <a:t>P</a:t>
            </a:r>
            <a:r>
              <a:rPr lang="en-GB" i="1" baseline="-25000" dirty="0" err="1">
                <a:cs typeface="+mn-cs"/>
              </a:rPr>
              <a:t>n</a:t>
            </a:r>
            <a:r>
              <a:rPr lang="en-GB" i="1" baseline="-25000" dirty="0">
                <a:cs typeface="+mn-cs"/>
              </a:rPr>
              <a:t> </a:t>
            </a:r>
            <a:r>
              <a:rPr lang="en-GB" i="1" dirty="0">
                <a:cs typeface="+mn-cs"/>
              </a:rPr>
              <a:t>(cumulative probability)</a:t>
            </a:r>
          </a:p>
        </p:txBody>
      </p:sp>
      <p:sp>
        <p:nvSpPr>
          <p:cNvPr id="30724"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ED7C1935-1AFC-4E8A-B6E6-02C6BDB9818D}" type="slidenum">
              <a:rPr lang="en-GB" altLang="en-US" sz="1200">
                <a:solidFill>
                  <a:srgbClr val="000000"/>
                </a:solidFill>
                <a:latin typeface="Arial" panose="020B0604020202020204" pitchFamily="34" charset="0"/>
                <a:cs typeface="Arial" panose="020B0604020202020204" pitchFamily="34" charset="0"/>
              </a:rPr>
              <a:pPr fontAlgn="base">
                <a:spcBef>
                  <a:spcPct val="0"/>
                </a:spcBef>
                <a:spcAft>
                  <a:spcPct val="0"/>
                </a:spcAft>
              </a:pPr>
              <a:t>20</a:t>
            </a:fld>
            <a:endParaRPr lang="en-GB" altLang="en-US" sz="1200">
              <a:solidFill>
                <a:srgbClr val="000000"/>
              </a:solidFill>
              <a:latin typeface="Arial" panose="020B0604020202020204" pitchFamily="34" charset="0"/>
              <a:cs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6" name="Rectangle 2"/>
          <p:cNvSpPr>
            <a:spLocks noGrp="1" noRot="1" noChangeArrowheads="1"/>
          </p:cNvSpPr>
          <p:nvPr>
            <p:ph type="title"/>
          </p:nvPr>
        </p:nvSpPr>
        <p:spPr>
          <a:xfrm>
            <a:off x="1981200" y="274638"/>
            <a:ext cx="8229600" cy="595312"/>
          </a:xfrm>
        </p:spPr>
        <p:txBody>
          <a:bodyPr/>
          <a:lstStyle/>
          <a:p>
            <a:pPr eaLnBrk="1" hangingPunct="1"/>
            <a:r>
              <a:rPr lang="en-GB" altLang="en-GB" sz="3200"/>
              <a:t>The Survival Function – </a:t>
            </a:r>
            <a:r>
              <a:rPr lang="en-GB" altLang="en-GB" sz="3200" i="1"/>
              <a:t>Lifetables</a:t>
            </a:r>
          </a:p>
        </p:txBody>
      </p:sp>
      <p:graphicFrame>
        <p:nvGraphicFramePr>
          <p:cNvPr id="8" name="Content Placeholder 7">
            <a:extLst>
              <a:ext uri="{FF2B5EF4-FFF2-40B4-BE49-F238E27FC236}">
                <a16:creationId xmlns:a16="http://schemas.microsoft.com/office/drawing/2014/main" id="{1468A8B3-F037-4080-99F7-A87102E1ED0C}"/>
              </a:ext>
            </a:extLst>
          </p:cNvPr>
          <p:cNvGraphicFramePr>
            <a:graphicFrameLocks noGrp="1"/>
          </p:cNvGraphicFramePr>
          <p:nvPr>
            <p:ph sz="half" idx="2"/>
            <p:extLst>
              <p:ext uri="{D42A27DB-BD31-4B8C-83A1-F6EECF244321}">
                <p14:modId xmlns:p14="http://schemas.microsoft.com/office/powerpoint/2010/main" val="3047797294"/>
              </p:ext>
            </p:extLst>
          </p:nvPr>
        </p:nvGraphicFramePr>
        <p:xfrm>
          <a:off x="1789113" y="1124744"/>
          <a:ext cx="8699504" cy="3422650"/>
        </p:xfrm>
        <a:graphic>
          <a:graphicData uri="http://schemas.openxmlformats.org/drawingml/2006/table">
            <a:tbl>
              <a:tblPr firstRow="1" firstCol="1" bandRow="1"/>
              <a:tblGrid>
                <a:gridCol w="1087438">
                  <a:extLst>
                    <a:ext uri="{9D8B030D-6E8A-4147-A177-3AD203B41FA5}">
                      <a16:colId xmlns:a16="http://schemas.microsoft.com/office/drawing/2014/main" val="1971885904"/>
                    </a:ext>
                  </a:extLst>
                </a:gridCol>
                <a:gridCol w="1087438">
                  <a:extLst>
                    <a:ext uri="{9D8B030D-6E8A-4147-A177-3AD203B41FA5}">
                      <a16:colId xmlns:a16="http://schemas.microsoft.com/office/drawing/2014/main" val="2955098424"/>
                    </a:ext>
                  </a:extLst>
                </a:gridCol>
                <a:gridCol w="1087438">
                  <a:extLst>
                    <a:ext uri="{9D8B030D-6E8A-4147-A177-3AD203B41FA5}">
                      <a16:colId xmlns:a16="http://schemas.microsoft.com/office/drawing/2014/main" val="2351752565"/>
                    </a:ext>
                  </a:extLst>
                </a:gridCol>
                <a:gridCol w="1087438">
                  <a:extLst>
                    <a:ext uri="{9D8B030D-6E8A-4147-A177-3AD203B41FA5}">
                      <a16:colId xmlns:a16="http://schemas.microsoft.com/office/drawing/2014/main" val="4291587480"/>
                    </a:ext>
                  </a:extLst>
                </a:gridCol>
                <a:gridCol w="1087438">
                  <a:extLst>
                    <a:ext uri="{9D8B030D-6E8A-4147-A177-3AD203B41FA5}">
                      <a16:colId xmlns:a16="http://schemas.microsoft.com/office/drawing/2014/main" val="2541708463"/>
                    </a:ext>
                  </a:extLst>
                </a:gridCol>
                <a:gridCol w="1087438">
                  <a:extLst>
                    <a:ext uri="{9D8B030D-6E8A-4147-A177-3AD203B41FA5}">
                      <a16:colId xmlns:a16="http://schemas.microsoft.com/office/drawing/2014/main" val="129064125"/>
                    </a:ext>
                  </a:extLst>
                </a:gridCol>
                <a:gridCol w="1087438">
                  <a:extLst>
                    <a:ext uri="{9D8B030D-6E8A-4147-A177-3AD203B41FA5}">
                      <a16:colId xmlns:a16="http://schemas.microsoft.com/office/drawing/2014/main" val="337529623"/>
                    </a:ext>
                  </a:extLst>
                </a:gridCol>
                <a:gridCol w="1087438">
                  <a:extLst>
                    <a:ext uri="{9D8B030D-6E8A-4147-A177-3AD203B41FA5}">
                      <a16:colId xmlns:a16="http://schemas.microsoft.com/office/drawing/2014/main" val="708246609"/>
                    </a:ext>
                  </a:extLst>
                </a:gridCol>
              </a:tblGrid>
              <a:tr h="1804821">
                <a:tc>
                  <a:txBody>
                    <a:bodyPr/>
                    <a:lstStyle/>
                    <a:p>
                      <a:pPr algn="ctr">
                        <a:lnSpc>
                          <a:spcPct val="107000"/>
                        </a:lnSpc>
                        <a:spcAft>
                          <a:spcPts val="800"/>
                        </a:spcAft>
                      </a:pPr>
                      <a:r>
                        <a:rPr lang="en-KE" sz="1400" b="1" dirty="0">
                          <a:effectLst/>
                          <a:latin typeface="Calibri" panose="020F0502020204030204" pitchFamily="34" charset="0"/>
                          <a:ea typeface="Calibri" panose="020F0502020204030204" pitchFamily="34" charset="0"/>
                          <a:cs typeface="Times New Roman" panose="02020603050405020304" pitchFamily="18" charset="0"/>
                        </a:rPr>
                        <a:t>Interval in </a:t>
                      </a:r>
                      <a:r>
                        <a:rPr lang="en-GB" sz="1400" b="1" dirty="0">
                          <a:effectLst/>
                          <a:latin typeface="Calibri" panose="020F0502020204030204" pitchFamily="34" charset="0"/>
                          <a:ea typeface="Calibri" panose="020F0502020204030204" pitchFamily="34" charset="0"/>
                          <a:cs typeface="Times New Roman" panose="02020603050405020304" pitchFamily="18" charset="0"/>
                        </a:rPr>
                        <a:t>y</a:t>
                      </a:r>
                      <a:r>
                        <a:rPr lang="en-KE" sz="1400" b="1" dirty="0">
                          <a:effectLst/>
                          <a:latin typeface="Calibri" panose="020F0502020204030204" pitchFamily="34" charset="0"/>
                          <a:ea typeface="Calibri" panose="020F0502020204030204" pitchFamily="34" charset="0"/>
                          <a:cs typeface="Times New Roman" panose="02020603050405020304" pitchFamily="18" charset="0"/>
                        </a:rPr>
                        <a:t>ears</a:t>
                      </a:r>
                      <a:endParaRPr lang="en-K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14950" marR="14950"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Aft>
                          <a:spcPts val="800"/>
                        </a:spcAft>
                      </a:pPr>
                      <a:r>
                        <a:rPr lang="en-KE" sz="1400" b="1" dirty="0">
                          <a:effectLst/>
                          <a:latin typeface="Calibri" panose="020F0502020204030204" pitchFamily="34" charset="0"/>
                          <a:ea typeface="Calibri" panose="020F0502020204030204" pitchFamily="34" charset="0"/>
                          <a:cs typeface="Times New Roman" panose="02020603050405020304" pitchFamily="18" charset="0"/>
                        </a:rPr>
                        <a:t>Number At Risk During Interval,</a:t>
                      </a:r>
                      <a:endParaRPr lang="en-KE"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KE" sz="1400" b="1" dirty="0">
                          <a:effectLst/>
                          <a:latin typeface="Calibri" panose="020F0502020204030204" pitchFamily="34" charset="0"/>
                          <a:ea typeface="Calibri" panose="020F0502020204030204" pitchFamily="34" charset="0"/>
                          <a:cs typeface="Times New Roman" panose="02020603050405020304" pitchFamily="18" charset="0"/>
                        </a:rPr>
                        <a:t>N</a:t>
                      </a:r>
                      <a:r>
                        <a:rPr lang="en-KE" sz="1400" b="1" baseline="-25000" dirty="0">
                          <a:effectLst/>
                          <a:latin typeface="Calibri" panose="020F0502020204030204" pitchFamily="34" charset="0"/>
                          <a:ea typeface="Calibri" panose="020F0502020204030204" pitchFamily="34" charset="0"/>
                          <a:cs typeface="Times New Roman" panose="02020603050405020304" pitchFamily="18" charset="0"/>
                        </a:rPr>
                        <a:t>t</a:t>
                      </a:r>
                      <a:endParaRPr lang="en-GB" sz="1400" b="1" baseline="-25000" dirty="0">
                        <a:effectLst/>
                        <a:latin typeface="Calibri" panose="020F0502020204030204" pitchFamily="34" charset="0"/>
                        <a:ea typeface="Calibri" panose="020F0502020204030204" pitchFamily="34" charset="0"/>
                        <a:cs typeface="Times New Roman" panose="02020603050405020304" pitchFamily="18" charset="0"/>
                      </a:endParaRPr>
                    </a:p>
                  </a:txBody>
                  <a:tcPr marL="14950" marR="14950"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Aft>
                          <a:spcPts val="800"/>
                        </a:spcAft>
                      </a:pPr>
                      <a:r>
                        <a:rPr lang="en-KE" sz="1400" b="1" dirty="0">
                          <a:effectLst/>
                          <a:latin typeface="Calibri" panose="020F0502020204030204" pitchFamily="34" charset="0"/>
                          <a:ea typeface="Calibri" panose="020F0502020204030204" pitchFamily="34" charset="0"/>
                          <a:cs typeface="Times New Roman" panose="02020603050405020304" pitchFamily="18" charset="0"/>
                        </a:rPr>
                        <a:t>Number of Deaths During Interval, D</a:t>
                      </a:r>
                      <a:r>
                        <a:rPr lang="en-KE" sz="1400" b="1" baseline="-25000" dirty="0">
                          <a:effectLst/>
                          <a:latin typeface="Calibri" panose="020F0502020204030204" pitchFamily="34" charset="0"/>
                          <a:ea typeface="Calibri" panose="020F0502020204030204" pitchFamily="34" charset="0"/>
                          <a:cs typeface="Times New Roman" panose="02020603050405020304" pitchFamily="18" charset="0"/>
                        </a:rPr>
                        <a:t>t</a:t>
                      </a:r>
                      <a:endParaRPr lang="en-K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14950" marR="14950"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Aft>
                          <a:spcPts val="800"/>
                        </a:spcAft>
                      </a:pPr>
                      <a:r>
                        <a:rPr lang="en-KE" sz="1400" b="1" dirty="0">
                          <a:effectLst/>
                          <a:latin typeface="Calibri" panose="020F0502020204030204" pitchFamily="34" charset="0"/>
                          <a:ea typeface="Calibri" panose="020F0502020204030204" pitchFamily="34" charset="0"/>
                          <a:cs typeface="Times New Roman" panose="02020603050405020304" pitchFamily="18" charset="0"/>
                        </a:rPr>
                        <a:t>Lost to Follow-Up,</a:t>
                      </a:r>
                      <a:endParaRPr lang="en-KE"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KE" sz="1400" b="1" dirty="0">
                          <a:effectLst/>
                          <a:latin typeface="Calibri" panose="020F0502020204030204" pitchFamily="34" charset="0"/>
                          <a:ea typeface="Calibri" panose="020F0502020204030204" pitchFamily="34" charset="0"/>
                          <a:cs typeface="Times New Roman" panose="02020603050405020304" pitchFamily="18" charset="0"/>
                        </a:rPr>
                        <a:t>C</a:t>
                      </a:r>
                      <a:r>
                        <a:rPr lang="en-KE" sz="1400" b="1" baseline="-25000" dirty="0">
                          <a:effectLst/>
                          <a:latin typeface="Calibri" panose="020F0502020204030204" pitchFamily="34" charset="0"/>
                          <a:ea typeface="Calibri" panose="020F0502020204030204" pitchFamily="34" charset="0"/>
                          <a:cs typeface="Times New Roman" panose="02020603050405020304" pitchFamily="18" charset="0"/>
                        </a:rPr>
                        <a:t>t</a:t>
                      </a:r>
                      <a:endParaRPr lang="en-K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14950" marR="14950"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Aft>
                          <a:spcPts val="800"/>
                        </a:spcAft>
                      </a:pPr>
                      <a:r>
                        <a:rPr lang="en-KE" sz="1400" b="1" dirty="0">
                          <a:effectLst/>
                          <a:latin typeface="Calibri" panose="020F0502020204030204" pitchFamily="34" charset="0"/>
                          <a:ea typeface="Calibri" panose="020F0502020204030204" pitchFamily="34" charset="0"/>
                          <a:cs typeface="Times New Roman" panose="02020603050405020304" pitchFamily="18" charset="0"/>
                        </a:rPr>
                        <a:t>Average Number At Risk During Interval, N</a:t>
                      </a:r>
                      <a:r>
                        <a:rPr lang="en-KE" sz="1400" b="1" baseline="-25000" dirty="0">
                          <a:effectLst/>
                          <a:latin typeface="Calibri" panose="020F0502020204030204" pitchFamily="34" charset="0"/>
                          <a:ea typeface="Calibri" panose="020F0502020204030204" pitchFamily="34" charset="0"/>
                          <a:cs typeface="Times New Roman" panose="02020603050405020304" pitchFamily="18" charset="0"/>
                        </a:rPr>
                        <a:t>t*</a:t>
                      </a:r>
                      <a:endParaRPr lang="en-K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14950" marR="14950"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Aft>
                          <a:spcPts val="800"/>
                        </a:spcAft>
                      </a:pPr>
                      <a:r>
                        <a:rPr lang="en-KE" sz="1400" b="1" dirty="0">
                          <a:effectLst/>
                          <a:latin typeface="Calibri" panose="020F0502020204030204" pitchFamily="34" charset="0"/>
                          <a:ea typeface="Calibri" panose="020F0502020204030204" pitchFamily="34" charset="0"/>
                          <a:cs typeface="Times New Roman" panose="02020603050405020304" pitchFamily="18" charset="0"/>
                        </a:rPr>
                        <a:t>Proportion Dying</a:t>
                      </a:r>
                      <a:endParaRPr lang="en-KE"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KE" sz="1400" b="1" dirty="0">
                          <a:effectLst/>
                          <a:latin typeface="Calibri" panose="020F0502020204030204" pitchFamily="34" charset="0"/>
                          <a:ea typeface="Calibri" panose="020F0502020204030204" pitchFamily="34" charset="0"/>
                          <a:cs typeface="Times New Roman" panose="02020603050405020304" pitchFamily="18" charset="0"/>
                        </a:rPr>
                        <a:t>During Interval,</a:t>
                      </a:r>
                      <a:endParaRPr lang="en-KE"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KE" sz="1400" b="1" dirty="0">
                          <a:effectLst/>
                          <a:latin typeface="Calibri" panose="020F0502020204030204" pitchFamily="34" charset="0"/>
                          <a:ea typeface="Calibri" panose="020F0502020204030204" pitchFamily="34" charset="0"/>
                          <a:cs typeface="Times New Roman" panose="02020603050405020304" pitchFamily="18" charset="0"/>
                        </a:rPr>
                        <a:t>q</a:t>
                      </a:r>
                      <a:r>
                        <a:rPr lang="en-KE" sz="1400" b="1" baseline="-25000" dirty="0">
                          <a:effectLst/>
                          <a:latin typeface="Calibri" panose="020F0502020204030204" pitchFamily="34" charset="0"/>
                          <a:ea typeface="Calibri" panose="020F0502020204030204" pitchFamily="34" charset="0"/>
                          <a:cs typeface="Times New Roman" panose="02020603050405020304" pitchFamily="18" charset="0"/>
                        </a:rPr>
                        <a:t>t</a:t>
                      </a:r>
                      <a:endParaRPr lang="en-K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14950" marR="14950"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Aft>
                          <a:spcPts val="800"/>
                        </a:spcAft>
                      </a:pPr>
                      <a:r>
                        <a:rPr lang="en-KE" sz="1400" b="1" dirty="0">
                          <a:effectLst/>
                          <a:latin typeface="Calibri" panose="020F0502020204030204" pitchFamily="34" charset="0"/>
                          <a:ea typeface="Calibri" panose="020F0502020204030204" pitchFamily="34" charset="0"/>
                          <a:cs typeface="Times New Roman" panose="02020603050405020304" pitchFamily="18" charset="0"/>
                        </a:rPr>
                        <a:t>Among Those at Risk, Proportion Surviving</a:t>
                      </a:r>
                      <a:endParaRPr lang="en-KE"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KE" sz="1400" b="1" dirty="0">
                          <a:effectLst/>
                          <a:latin typeface="Calibri" panose="020F0502020204030204" pitchFamily="34" charset="0"/>
                          <a:ea typeface="Calibri" panose="020F0502020204030204" pitchFamily="34" charset="0"/>
                          <a:cs typeface="Times New Roman" panose="02020603050405020304" pitchFamily="18" charset="0"/>
                        </a:rPr>
                        <a:t>Interval, p</a:t>
                      </a:r>
                      <a:r>
                        <a:rPr lang="en-KE" sz="1400" b="1" baseline="-25000" dirty="0">
                          <a:effectLst/>
                          <a:latin typeface="Calibri" panose="020F0502020204030204" pitchFamily="34" charset="0"/>
                          <a:ea typeface="Calibri" panose="020F0502020204030204" pitchFamily="34" charset="0"/>
                          <a:cs typeface="Times New Roman" panose="02020603050405020304" pitchFamily="18" charset="0"/>
                        </a:rPr>
                        <a:t>t</a:t>
                      </a:r>
                      <a:endParaRPr lang="en-K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14950" marR="14950"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Aft>
                          <a:spcPts val="800"/>
                        </a:spcAft>
                      </a:pPr>
                      <a:r>
                        <a:rPr lang="en-KE" sz="1400" b="1" dirty="0">
                          <a:effectLst/>
                          <a:latin typeface="Calibri" panose="020F0502020204030204" pitchFamily="34" charset="0"/>
                          <a:ea typeface="Calibri" panose="020F0502020204030204" pitchFamily="34" charset="0"/>
                          <a:cs typeface="Times New Roman" panose="02020603050405020304" pitchFamily="18" charset="0"/>
                        </a:rPr>
                        <a:t>Survival Probability S</a:t>
                      </a:r>
                      <a:r>
                        <a:rPr lang="en-KE" sz="1400" b="1" baseline="-25000" dirty="0">
                          <a:effectLst/>
                          <a:latin typeface="Calibri" panose="020F0502020204030204" pitchFamily="34" charset="0"/>
                          <a:ea typeface="Calibri" panose="020F0502020204030204" pitchFamily="34" charset="0"/>
                          <a:cs typeface="Times New Roman" panose="02020603050405020304" pitchFamily="18" charset="0"/>
                        </a:rPr>
                        <a:t>t</a:t>
                      </a:r>
                      <a:endParaRPr lang="en-K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14950" marR="14950"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3439681478"/>
                  </a:ext>
                </a:extLst>
              </a:tr>
              <a:tr h="647511">
                <a:tc>
                  <a:txBody>
                    <a:bodyPr/>
                    <a:lstStyle/>
                    <a:p>
                      <a:pPr>
                        <a:lnSpc>
                          <a:spcPct val="107000"/>
                        </a:lnSpc>
                        <a:spcAft>
                          <a:spcPts val="800"/>
                        </a:spcAft>
                      </a:pPr>
                      <a:r>
                        <a:rPr lang="en-KE" sz="1800" dirty="0">
                          <a:effectLst/>
                          <a:latin typeface="Calibri" panose="020F0502020204030204" pitchFamily="34" charset="0"/>
                          <a:ea typeface="Calibri" panose="020F0502020204030204" pitchFamily="34" charset="0"/>
                          <a:cs typeface="Times New Roman" panose="02020603050405020304" pitchFamily="18" charset="0"/>
                        </a:rPr>
                        <a:t>0-4</a:t>
                      </a:r>
                    </a:p>
                  </a:txBody>
                  <a:tcPr marL="14950" marR="14950"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nSpc>
                          <a:spcPct val="107000"/>
                        </a:lnSpc>
                        <a:spcAft>
                          <a:spcPts val="800"/>
                        </a:spcAft>
                      </a:pPr>
                      <a:r>
                        <a:rPr lang="en-KE" sz="1800" dirty="0">
                          <a:effectLst/>
                          <a:latin typeface="Calibri" panose="020F0502020204030204" pitchFamily="34" charset="0"/>
                          <a:ea typeface="Calibri" panose="020F0502020204030204" pitchFamily="34" charset="0"/>
                          <a:cs typeface="Times New Roman" panose="02020603050405020304" pitchFamily="18" charset="0"/>
                        </a:rPr>
                        <a:t>20</a:t>
                      </a:r>
                    </a:p>
                  </a:txBody>
                  <a:tcPr marL="14950" marR="14950"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nSpc>
                          <a:spcPct val="107000"/>
                        </a:lnSpc>
                        <a:spcAft>
                          <a:spcPts val="800"/>
                        </a:spcAft>
                      </a:pPr>
                      <a:r>
                        <a:rPr lang="en-KE" sz="1800" dirty="0">
                          <a:effectLst/>
                          <a:latin typeface="Calibri" panose="020F0502020204030204" pitchFamily="34" charset="0"/>
                          <a:ea typeface="Calibri" panose="020F0502020204030204" pitchFamily="34" charset="0"/>
                          <a:cs typeface="Times New Roman" panose="02020603050405020304" pitchFamily="18" charset="0"/>
                        </a:rPr>
                        <a:t>2</a:t>
                      </a:r>
                    </a:p>
                  </a:txBody>
                  <a:tcPr marL="14950" marR="14950"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nSpc>
                          <a:spcPct val="107000"/>
                        </a:lnSpc>
                        <a:spcAft>
                          <a:spcPts val="800"/>
                        </a:spcAft>
                      </a:pPr>
                      <a:r>
                        <a:rPr lang="en-KE" sz="1800" dirty="0">
                          <a:effectLst/>
                          <a:latin typeface="Calibri" panose="020F0502020204030204" pitchFamily="34" charset="0"/>
                          <a:ea typeface="Calibri" panose="020F0502020204030204" pitchFamily="34" charset="0"/>
                          <a:cs typeface="Times New Roman" panose="02020603050405020304" pitchFamily="18" charset="0"/>
                        </a:rPr>
                        <a:t>1</a:t>
                      </a:r>
                    </a:p>
                  </a:txBody>
                  <a:tcPr marL="14950" marR="14950"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nSpc>
                          <a:spcPct val="107000"/>
                        </a:lnSpc>
                        <a:spcAft>
                          <a:spcPts val="800"/>
                        </a:spcAft>
                      </a:pPr>
                      <a:r>
                        <a:rPr lang="en-KE" sz="1800" dirty="0">
                          <a:effectLst/>
                          <a:latin typeface="Calibri" panose="020F0502020204030204" pitchFamily="34" charset="0"/>
                          <a:ea typeface="Calibri" panose="020F0502020204030204" pitchFamily="34" charset="0"/>
                          <a:cs typeface="Times New Roman" panose="02020603050405020304" pitchFamily="18" charset="0"/>
                        </a:rPr>
                        <a:t>20-(1/2) = 19.5</a:t>
                      </a:r>
                    </a:p>
                  </a:txBody>
                  <a:tcPr marL="14950" marR="14950"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nSpc>
                          <a:spcPct val="107000"/>
                        </a:lnSpc>
                        <a:spcAft>
                          <a:spcPts val="800"/>
                        </a:spcAft>
                      </a:pPr>
                      <a:r>
                        <a:rPr lang="en-KE" sz="1800">
                          <a:effectLst/>
                          <a:latin typeface="Calibri" panose="020F0502020204030204" pitchFamily="34" charset="0"/>
                          <a:ea typeface="Calibri" panose="020F0502020204030204" pitchFamily="34" charset="0"/>
                          <a:cs typeface="Times New Roman" panose="02020603050405020304" pitchFamily="18" charset="0"/>
                        </a:rPr>
                        <a:t>2/19.5 = 0.103</a:t>
                      </a:r>
                    </a:p>
                  </a:txBody>
                  <a:tcPr marL="14950" marR="14950"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nSpc>
                          <a:spcPct val="107000"/>
                        </a:lnSpc>
                        <a:spcAft>
                          <a:spcPts val="800"/>
                        </a:spcAft>
                      </a:pPr>
                      <a:r>
                        <a:rPr lang="en-KE" sz="1800">
                          <a:effectLst/>
                          <a:latin typeface="Calibri" panose="020F0502020204030204" pitchFamily="34" charset="0"/>
                          <a:ea typeface="Calibri" panose="020F0502020204030204" pitchFamily="34" charset="0"/>
                          <a:cs typeface="Times New Roman" panose="02020603050405020304" pitchFamily="18" charset="0"/>
                        </a:rPr>
                        <a:t>1-0.103 = 0.897</a:t>
                      </a:r>
                    </a:p>
                  </a:txBody>
                  <a:tcPr marL="14950" marR="14950"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nSpc>
                          <a:spcPct val="107000"/>
                        </a:lnSpc>
                        <a:spcAft>
                          <a:spcPts val="800"/>
                        </a:spcAft>
                      </a:pPr>
                      <a:r>
                        <a:rPr lang="en-KE" sz="1800">
                          <a:effectLst/>
                          <a:latin typeface="Calibri" panose="020F0502020204030204" pitchFamily="34" charset="0"/>
                          <a:ea typeface="Calibri" panose="020F0502020204030204" pitchFamily="34" charset="0"/>
                          <a:cs typeface="Times New Roman" panose="02020603050405020304" pitchFamily="18" charset="0"/>
                        </a:rPr>
                        <a:t>1(0.897) = 0.897</a:t>
                      </a:r>
                    </a:p>
                  </a:txBody>
                  <a:tcPr marL="14950" marR="14950"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3633575318"/>
                  </a:ext>
                </a:extLst>
              </a:tr>
              <a:tr h="970318">
                <a:tc>
                  <a:txBody>
                    <a:bodyPr/>
                    <a:lstStyle/>
                    <a:p>
                      <a:pPr>
                        <a:lnSpc>
                          <a:spcPct val="107000"/>
                        </a:lnSpc>
                        <a:spcAft>
                          <a:spcPts val="800"/>
                        </a:spcAft>
                      </a:pPr>
                      <a:r>
                        <a:rPr lang="en-KE" sz="1800">
                          <a:effectLst/>
                          <a:latin typeface="Calibri" panose="020F0502020204030204" pitchFamily="34" charset="0"/>
                          <a:ea typeface="Calibri" panose="020F0502020204030204" pitchFamily="34" charset="0"/>
                          <a:cs typeface="Times New Roman" panose="02020603050405020304" pitchFamily="18" charset="0"/>
                        </a:rPr>
                        <a:t>5-9</a:t>
                      </a:r>
                    </a:p>
                  </a:txBody>
                  <a:tcPr marL="14950" marR="14950"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nSpc>
                          <a:spcPct val="107000"/>
                        </a:lnSpc>
                        <a:spcAft>
                          <a:spcPts val="800"/>
                        </a:spcAft>
                      </a:pPr>
                      <a:r>
                        <a:rPr lang="en-KE" sz="1800">
                          <a:effectLst/>
                          <a:latin typeface="Calibri" panose="020F0502020204030204" pitchFamily="34" charset="0"/>
                          <a:ea typeface="Calibri" panose="020F0502020204030204" pitchFamily="34" charset="0"/>
                          <a:cs typeface="Times New Roman" panose="02020603050405020304" pitchFamily="18" charset="0"/>
                        </a:rPr>
                        <a:t>17</a:t>
                      </a:r>
                    </a:p>
                  </a:txBody>
                  <a:tcPr marL="14950" marR="14950"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nSpc>
                          <a:spcPct val="107000"/>
                        </a:lnSpc>
                        <a:spcAft>
                          <a:spcPts val="800"/>
                        </a:spcAft>
                      </a:pPr>
                      <a:r>
                        <a:rPr lang="en-KE" sz="1800">
                          <a:effectLst/>
                          <a:latin typeface="Calibri" panose="020F0502020204030204" pitchFamily="34" charset="0"/>
                          <a:ea typeface="Calibri" panose="020F0502020204030204" pitchFamily="34" charset="0"/>
                          <a:cs typeface="Times New Roman" panose="02020603050405020304" pitchFamily="18" charset="0"/>
                        </a:rPr>
                        <a:t>1</a:t>
                      </a:r>
                    </a:p>
                  </a:txBody>
                  <a:tcPr marL="14950" marR="14950"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nSpc>
                          <a:spcPct val="107000"/>
                        </a:lnSpc>
                        <a:spcAft>
                          <a:spcPts val="800"/>
                        </a:spcAft>
                      </a:pPr>
                      <a:r>
                        <a:rPr lang="en-KE" sz="1800">
                          <a:effectLst/>
                          <a:latin typeface="Calibri" panose="020F0502020204030204" pitchFamily="34" charset="0"/>
                          <a:ea typeface="Calibri" panose="020F0502020204030204" pitchFamily="34" charset="0"/>
                          <a:cs typeface="Times New Roman" panose="02020603050405020304" pitchFamily="18" charset="0"/>
                        </a:rPr>
                        <a:t>2</a:t>
                      </a:r>
                    </a:p>
                  </a:txBody>
                  <a:tcPr marL="14950" marR="14950"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nSpc>
                          <a:spcPct val="107000"/>
                        </a:lnSpc>
                        <a:spcAft>
                          <a:spcPts val="800"/>
                        </a:spcAft>
                      </a:pPr>
                      <a:r>
                        <a:rPr lang="en-KE" sz="1800" dirty="0">
                          <a:effectLst/>
                          <a:latin typeface="Calibri" panose="020F0502020204030204" pitchFamily="34" charset="0"/>
                          <a:ea typeface="Calibri" panose="020F0502020204030204" pitchFamily="34" charset="0"/>
                          <a:cs typeface="Times New Roman" panose="02020603050405020304" pitchFamily="18" charset="0"/>
                        </a:rPr>
                        <a:t>17-(2/2) = 16.0</a:t>
                      </a:r>
                    </a:p>
                  </a:txBody>
                  <a:tcPr marL="14950" marR="14950"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nSpc>
                          <a:spcPct val="107000"/>
                        </a:lnSpc>
                        <a:spcAft>
                          <a:spcPts val="800"/>
                        </a:spcAft>
                      </a:pPr>
                      <a:r>
                        <a:rPr lang="en-KE" sz="1800" dirty="0">
                          <a:effectLst/>
                          <a:latin typeface="Calibri" panose="020F0502020204030204" pitchFamily="34" charset="0"/>
                          <a:ea typeface="Calibri" panose="020F0502020204030204" pitchFamily="34" charset="0"/>
                          <a:cs typeface="Times New Roman" panose="02020603050405020304" pitchFamily="18" charset="0"/>
                        </a:rPr>
                        <a:t>1/16 = 0.063</a:t>
                      </a:r>
                    </a:p>
                  </a:txBody>
                  <a:tcPr marL="14950" marR="14950"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nSpc>
                          <a:spcPct val="107000"/>
                        </a:lnSpc>
                        <a:spcAft>
                          <a:spcPts val="800"/>
                        </a:spcAft>
                      </a:pPr>
                      <a:r>
                        <a:rPr lang="en-KE" sz="1800" dirty="0">
                          <a:effectLst/>
                          <a:latin typeface="Calibri" panose="020F0502020204030204" pitchFamily="34" charset="0"/>
                          <a:ea typeface="Calibri" panose="020F0502020204030204" pitchFamily="34" charset="0"/>
                          <a:cs typeface="Times New Roman" panose="02020603050405020304" pitchFamily="18" charset="0"/>
                        </a:rPr>
                        <a:t>1-0.063 = 0.937</a:t>
                      </a:r>
                    </a:p>
                  </a:txBody>
                  <a:tcPr marL="14950" marR="14950"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nSpc>
                          <a:spcPct val="107000"/>
                        </a:lnSpc>
                        <a:spcAft>
                          <a:spcPts val="800"/>
                        </a:spcAft>
                      </a:pPr>
                      <a:r>
                        <a:rPr lang="en-KE" sz="1800" dirty="0">
                          <a:effectLst/>
                          <a:latin typeface="Calibri" panose="020F0502020204030204" pitchFamily="34" charset="0"/>
                          <a:ea typeface="Calibri" panose="020F0502020204030204" pitchFamily="34" charset="0"/>
                          <a:cs typeface="Times New Roman" panose="02020603050405020304" pitchFamily="18" charset="0"/>
                        </a:rPr>
                        <a:t>(0.897)(0.937)=0.840</a:t>
                      </a:r>
                    </a:p>
                  </a:txBody>
                  <a:tcPr marL="14950" marR="14950"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3177973101"/>
                  </a:ext>
                </a:extLst>
              </a:tr>
            </a:tbl>
          </a:graphicData>
        </a:graphic>
      </p:graphicFrame>
      <p:sp>
        <p:nvSpPr>
          <p:cNvPr id="31747"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22E4C3F5-6E3A-44A3-BC72-865F3961B7BB}" type="slidenum">
              <a:rPr lang="en-GB" altLang="en-US" sz="1200">
                <a:solidFill>
                  <a:srgbClr val="000000"/>
                </a:solidFill>
                <a:latin typeface="Arial" panose="020B0604020202020204" pitchFamily="34" charset="0"/>
                <a:cs typeface="Arial" panose="020B0604020202020204" pitchFamily="34" charset="0"/>
              </a:rPr>
              <a:pPr fontAlgn="base">
                <a:spcBef>
                  <a:spcPct val="0"/>
                </a:spcBef>
                <a:spcAft>
                  <a:spcPct val="0"/>
                </a:spcAft>
              </a:pPr>
              <a:t>21</a:t>
            </a:fld>
            <a:endParaRPr lang="en-GB" altLang="en-US" sz="1200">
              <a:solidFill>
                <a:srgbClr val="000000"/>
              </a:solidFill>
              <a:latin typeface="Arial" panose="020B0604020202020204" pitchFamily="34" charset="0"/>
              <a:cs typeface="Arial" panose="020B0604020202020204" pitchFamily="34" charset="0"/>
            </a:endParaRPr>
          </a:p>
        </p:txBody>
      </p:sp>
      <p:sp>
        <p:nvSpPr>
          <p:cNvPr id="31748" name="TextBox 1"/>
          <p:cNvSpPr txBox="1">
            <a:spLocks noChangeArrowheads="1"/>
          </p:cNvSpPr>
          <p:nvPr/>
        </p:nvSpPr>
        <p:spPr bwMode="auto">
          <a:xfrm>
            <a:off x="1789114" y="4652964"/>
            <a:ext cx="8555037"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GB" altLang="en-GB">
                <a:solidFill>
                  <a:srgbClr val="000000"/>
                </a:solidFill>
              </a:rPr>
              <a:t>the average number of participants at risk during interval t [In constructing actuarial life tables, the following assumptions are often made: First, the events of interest (e.g., deaths) are assumed to occur at the end of the interval and censored events are assumed to occur uniformly (or evenly) throughout the interval. Therefore, an adjustment is often made to N</a:t>
            </a:r>
            <a:r>
              <a:rPr lang="en-GB" altLang="en-GB" baseline="-25000">
                <a:solidFill>
                  <a:srgbClr val="000000"/>
                </a:solidFill>
              </a:rPr>
              <a:t>t</a:t>
            </a:r>
            <a:r>
              <a:rPr lang="en-GB" altLang="en-GB">
                <a:solidFill>
                  <a:srgbClr val="000000"/>
                </a:solidFill>
              </a:rPr>
              <a:t> to reflect the average number of participants at risk during the interval, N</a:t>
            </a:r>
            <a:r>
              <a:rPr lang="en-GB" altLang="en-GB" baseline="-25000">
                <a:solidFill>
                  <a:srgbClr val="000000"/>
                </a:solidFill>
              </a:rPr>
              <a:t>t*</a:t>
            </a:r>
            <a:r>
              <a:rPr lang="en-GB" altLang="en-GB">
                <a:solidFill>
                  <a:srgbClr val="000000"/>
                </a:solidFill>
              </a:rPr>
              <a:t>, which is computed as follows: Nt* =Nt-Ct/2 (i.e., we subtract half of the censored events).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2"/>
          <p:cNvSpPr>
            <a:spLocks noGrp="1" noRot="1" noChangeArrowheads="1"/>
          </p:cNvSpPr>
          <p:nvPr>
            <p:ph type="title"/>
          </p:nvPr>
        </p:nvSpPr>
        <p:spPr>
          <a:xfrm>
            <a:off x="1981200" y="274638"/>
            <a:ext cx="8229600" cy="595312"/>
          </a:xfrm>
        </p:spPr>
        <p:txBody>
          <a:bodyPr/>
          <a:lstStyle/>
          <a:p>
            <a:pPr eaLnBrk="1" hangingPunct="1"/>
            <a:r>
              <a:rPr lang="en-GB" altLang="en-GB" sz="3200"/>
              <a:t>The Survival Function – </a:t>
            </a:r>
            <a:r>
              <a:rPr lang="en-GB" altLang="en-GB" sz="3200" i="1"/>
              <a:t>Lifetables</a:t>
            </a:r>
          </a:p>
        </p:txBody>
      </p:sp>
      <p:sp>
        <p:nvSpPr>
          <p:cNvPr id="32771"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9B984F65-82AC-48A9-95C0-D5D74E5D1F99}" type="slidenum">
              <a:rPr lang="en-GB" altLang="en-US" sz="1200">
                <a:solidFill>
                  <a:srgbClr val="000000"/>
                </a:solidFill>
                <a:latin typeface="Arial" panose="020B0604020202020204" pitchFamily="34" charset="0"/>
                <a:cs typeface="Arial" panose="020B0604020202020204" pitchFamily="34" charset="0"/>
              </a:rPr>
              <a:pPr fontAlgn="base">
                <a:spcBef>
                  <a:spcPct val="0"/>
                </a:spcBef>
                <a:spcAft>
                  <a:spcPct val="0"/>
                </a:spcAft>
              </a:pPr>
              <a:t>22</a:t>
            </a:fld>
            <a:endParaRPr lang="en-GB" altLang="en-US" sz="1200">
              <a:solidFill>
                <a:srgbClr val="000000"/>
              </a:solidFill>
              <a:latin typeface="Arial" panose="020B0604020202020204" pitchFamily="34" charset="0"/>
              <a:cs typeface="Arial" panose="020B0604020202020204" pitchFamily="34" charset="0"/>
            </a:endParaRPr>
          </a:p>
        </p:txBody>
      </p:sp>
      <p:graphicFrame>
        <p:nvGraphicFramePr>
          <p:cNvPr id="4" name="Table 3">
            <a:extLst>
              <a:ext uri="{FF2B5EF4-FFF2-40B4-BE49-F238E27FC236}">
                <a16:creationId xmlns:a16="http://schemas.microsoft.com/office/drawing/2014/main" id="{5F58454B-33D6-4420-9EC0-6C446EEF2D71}"/>
              </a:ext>
            </a:extLst>
          </p:cNvPr>
          <p:cNvGraphicFramePr>
            <a:graphicFrameLocks noGrp="1"/>
          </p:cNvGraphicFramePr>
          <p:nvPr/>
        </p:nvGraphicFramePr>
        <p:xfrm>
          <a:off x="1981200" y="1052513"/>
          <a:ext cx="8291512" cy="5184774"/>
        </p:xfrm>
        <a:graphic>
          <a:graphicData uri="http://schemas.openxmlformats.org/drawingml/2006/table">
            <a:tbl>
              <a:tblPr firstRow="1" firstCol="1" bandRow="1"/>
              <a:tblGrid>
                <a:gridCol w="1036439">
                  <a:extLst>
                    <a:ext uri="{9D8B030D-6E8A-4147-A177-3AD203B41FA5}">
                      <a16:colId xmlns:a16="http://schemas.microsoft.com/office/drawing/2014/main" val="649164931"/>
                    </a:ext>
                  </a:extLst>
                </a:gridCol>
                <a:gridCol w="1036439">
                  <a:extLst>
                    <a:ext uri="{9D8B030D-6E8A-4147-A177-3AD203B41FA5}">
                      <a16:colId xmlns:a16="http://schemas.microsoft.com/office/drawing/2014/main" val="3766646711"/>
                    </a:ext>
                  </a:extLst>
                </a:gridCol>
                <a:gridCol w="1036439">
                  <a:extLst>
                    <a:ext uri="{9D8B030D-6E8A-4147-A177-3AD203B41FA5}">
                      <a16:colId xmlns:a16="http://schemas.microsoft.com/office/drawing/2014/main" val="3895354769"/>
                    </a:ext>
                  </a:extLst>
                </a:gridCol>
                <a:gridCol w="1036439">
                  <a:extLst>
                    <a:ext uri="{9D8B030D-6E8A-4147-A177-3AD203B41FA5}">
                      <a16:colId xmlns:a16="http://schemas.microsoft.com/office/drawing/2014/main" val="3368399647"/>
                    </a:ext>
                  </a:extLst>
                </a:gridCol>
                <a:gridCol w="1036439">
                  <a:extLst>
                    <a:ext uri="{9D8B030D-6E8A-4147-A177-3AD203B41FA5}">
                      <a16:colId xmlns:a16="http://schemas.microsoft.com/office/drawing/2014/main" val="3952931801"/>
                    </a:ext>
                  </a:extLst>
                </a:gridCol>
                <a:gridCol w="1036439">
                  <a:extLst>
                    <a:ext uri="{9D8B030D-6E8A-4147-A177-3AD203B41FA5}">
                      <a16:colId xmlns:a16="http://schemas.microsoft.com/office/drawing/2014/main" val="2018509564"/>
                    </a:ext>
                  </a:extLst>
                </a:gridCol>
                <a:gridCol w="1036439">
                  <a:extLst>
                    <a:ext uri="{9D8B030D-6E8A-4147-A177-3AD203B41FA5}">
                      <a16:colId xmlns:a16="http://schemas.microsoft.com/office/drawing/2014/main" val="3939402659"/>
                    </a:ext>
                  </a:extLst>
                </a:gridCol>
                <a:gridCol w="1036439">
                  <a:extLst>
                    <a:ext uri="{9D8B030D-6E8A-4147-A177-3AD203B41FA5}">
                      <a16:colId xmlns:a16="http://schemas.microsoft.com/office/drawing/2014/main" val="355404037"/>
                    </a:ext>
                  </a:extLst>
                </a:gridCol>
              </a:tblGrid>
              <a:tr h="2552454">
                <a:tc>
                  <a:txBody>
                    <a:bodyPr/>
                    <a:lstStyle/>
                    <a:p>
                      <a:pPr algn="ctr">
                        <a:lnSpc>
                          <a:spcPct val="107000"/>
                        </a:lnSpc>
                        <a:spcBef>
                          <a:spcPts val="480"/>
                        </a:spcBef>
                        <a:spcAft>
                          <a:spcPts val="480"/>
                        </a:spcAft>
                      </a:pPr>
                      <a:r>
                        <a:rPr lang="en-KE" sz="14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Interval in Years</a:t>
                      </a:r>
                      <a:endParaRPr lang="en-K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4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Number At Risk During Interval,</a:t>
                      </a:r>
                      <a:endParaRPr lang="en-KE"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Bef>
                          <a:spcPts val="480"/>
                        </a:spcBef>
                        <a:spcAft>
                          <a:spcPts val="480"/>
                        </a:spcAft>
                      </a:pPr>
                      <a:r>
                        <a:rPr lang="en-KE" sz="1400" b="1" dirty="0" err="1">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N</a:t>
                      </a:r>
                      <a:r>
                        <a:rPr lang="en-KE" sz="1400" b="1" baseline="-25000" dirty="0" err="1">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a:t>
                      </a:r>
                      <a:endParaRPr lang="en-K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4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Average Number At Risk During Interval, </a:t>
                      </a:r>
                      <a:r>
                        <a:rPr lang="en-KE" sz="1400" b="1" dirty="0" err="1">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N</a:t>
                      </a:r>
                      <a:r>
                        <a:rPr lang="en-KE" sz="1400" b="1" baseline="-25000" dirty="0" err="1">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a:t>
                      </a:r>
                      <a:r>
                        <a:rPr lang="en-KE" sz="1400" b="1" baseline="-250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t>
                      </a:r>
                      <a:endParaRPr lang="en-K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4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Number of Deaths During Interval, D</a:t>
                      </a:r>
                      <a:r>
                        <a:rPr lang="en-KE" sz="1400" b="1" baseline="-250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a:t>
                      </a:r>
                      <a:endParaRPr lang="en-K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4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Lost to Follow-Up,</a:t>
                      </a:r>
                      <a:endParaRPr lang="en-KE"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Bef>
                          <a:spcPts val="480"/>
                        </a:spcBef>
                        <a:spcAft>
                          <a:spcPts val="480"/>
                        </a:spcAft>
                      </a:pPr>
                      <a:r>
                        <a:rPr lang="en-KE" sz="14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C</a:t>
                      </a:r>
                      <a:r>
                        <a:rPr lang="en-KE" sz="1400" b="1" baseline="-250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a:t>
                      </a:r>
                      <a:endParaRPr lang="en-K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4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Proportion Dying</a:t>
                      </a:r>
                      <a:endParaRPr lang="en-KE"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Bef>
                          <a:spcPts val="480"/>
                        </a:spcBef>
                        <a:spcAft>
                          <a:spcPts val="480"/>
                        </a:spcAft>
                      </a:pPr>
                      <a:r>
                        <a:rPr lang="en-KE" sz="14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During Interval,</a:t>
                      </a:r>
                      <a:endParaRPr lang="en-KE"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Bef>
                          <a:spcPts val="480"/>
                        </a:spcBef>
                        <a:spcAft>
                          <a:spcPts val="480"/>
                        </a:spcAft>
                      </a:pPr>
                      <a:r>
                        <a:rPr lang="en-KE" sz="14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q</a:t>
                      </a:r>
                      <a:r>
                        <a:rPr lang="en-KE" sz="1400" b="1" baseline="-250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a:t>
                      </a:r>
                      <a:endParaRPr lang="en-K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4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Among Those at Risk, Proportion Surviving</a:t>
                      </a:r>
                      <a:endParaRPr lang="en-KE"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Bef>
                          <a:spcPts val="480"/>
                        </a:spcBef>
                        <a:spcAft>
                          <a:spcPts val="480"/>
                        </a:spcAft>
                      </a:pPr>
                      <a:r>
                        <a:rPr lang="en-KE" sz="14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Interval, </a:t>
                      </a:r>
                      <a:r>
                        <a:rPr lang="en-KE" sz="1400" b="1" dirty="0" err="1">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p</a:t>
                      </a:r>
                      <a:r>
                        <a:rPr lang="en-KE" sz="1400" b="1" baseline="-25000" dirty="0" err="1">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a:t>
                      </a:r>
                      <a:endParaRPr lang="en-K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4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Survival Probability S</a:t>
                      </a:r>
                      <a:r>
                        <a:rPr lang="en-KE" sz="1400" b="1" baseline="-250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a:t>
                      </a:r>
                      <a:endParaRPr lang="en-K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1304929508"/>
                  </a:ext>
                </a:extLst>
              </a:tr>
              <a:tr h="526464">
                <a:tc>
                  <a:txBody>
                    <a:bodyPr/>
                    <a:lstStyle/>
                    <a:p>
                      <a:pPr algn="ctr">
                        <a:lnSpc>
                          <a:spcPct val="107000"/>
                        </a:lnSpc>
                        <a:spcBef>
                          <a:spcPts val="480"/>
                        </a:spcBef>
                        <a:spcAft>
                          <a:spcPts val="480"/>
                        </a:spcAft>
                      </a:pPr>
                      <a:r>
                        <a:rPr lang="en-KE"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0-4</a:t>
                      </a:r>
                      <a:endParaRPr lang="en-KE"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8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20</a:t>
                      </a:r>
                      <a:endParaRPr lang="en-KE" sz="180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8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19.5</a:t>
                      </a:r>
                      <a:endParaRPr lang="en-KE" sz="180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8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2</a:t>
                      </a:r>
                      <a:endParaRPr lang="en-KE" sz="180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8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a:t>
                      </a:r>
                      <a:endParaRPr lang="en-KE" sz="180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8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0.103</a:t>
                      </a:r>
                      <a:endParaRPr lang="en-KE" sz="180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8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0.897</a:t>
                      </a:r>
                      <a:endParaRPr lang="en-KE" sz="180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0.897</a:t>
                      </a:r>
                      <a:endParaRPr lang="en-KE"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2815845173"/>
                  </a:ext>
                </a:extLst>
              </a:tr>
              <a:tr h="526464">
                <a:tc>
                  <a:txBody>
                    <a:bodyPr/>
                    <a:lstStyle/>
                    <a:p>
                      <a:pPr algn="ctr">
                        <a:lnSpc>
                          <a:spcPct val="107000"/>
                        </a:lnSpc>
                        <a:spcBef>
                          <a:spcPts val="480"/>
                        </a:spcBef>
                        <a:spcAft>
                          <a:spcPts val="480"/>
                        </a:spcAft>
                      </a:pPr>
                      <a:r>
                        <a:rPr lang="en-KE" sz="18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5-9</a:t>
                      </a:r>
                      <a:endParaRPr lang="en-KE" sz="180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8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17</a:t>
                      </a:r>
                      <a:endParaRPr lang="en-KE" sz="180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8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16.0</a:t>
                      </a:r>
                      <a:endParaRPr lang="en-KE" sz="180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8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a:t>
                      </a:r>
                      <a:endParaRPr lang="en-KE" sz="180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8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2</a:t>
                      </a:r>
                      <a:endParaRPr lang="en-KE" sz="180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8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0.063</a:t>
                      </a:r>
                      <a:endParaRPr lang="en-KE" sz="180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8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0.937</a:t>
                      </a:r>
                      <a:endParaRPr lang="en-KE" sz="180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8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0.840</a:t>
                      </a:r>
                      <a:endParaRPr lang="en-KE" sz="180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726668017"/>
                  </a:ext>
                </a:extLst>
              </a:tr>
              <a:tr h="526464">
                <a:tc>
                  <a:txBody>
                    <a:bodyPr/>
                    <a:lstStyle/>
                    <a:p>
                      <a:pPr algn="ctr">
                        <a:lnSpc>
                          <a:spcPct val="107000"/>
                        </a:lnSpc>
                        <a:spcBef>
                          <a:spcPts val="480"/>
                        </a:spcBef>
                        <a:spcAft>
                          <a:spcPts val="480"/>
                        </a:spcAft>
                      </a:pPr>
                      <a:r>
                        <a:rPr lang="en-KE" sz="18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10-14</a:t>
                      </a:r>
                      <a:endParaRPr lang="en-KE" sz="180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8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14</a:t>
                      </a:r>
                      <a:endParaRPr lang="en-KE" sz="180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8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12.0</a:t>
                      </a:r>
                      <a:endParaRPr lang="en-KE" sz="180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8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a:t>
                      </a:r>
                      <a:endParaRPr lang="en-KE" sz="180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8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4</a:t>
                      </a:r>
                      <a:endParaRPr lang="en-KE" sz="180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8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0.083</a:t>
                      </a:r>
                      <a:endParaRPr lang="en-KE" sz="180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8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0.917</a:t>
                      </a:r>
                      <a:endParaRPr lang="en-KE" sz="180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8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0.770</a:t>
                      </a:r>
                      <a:endParaRPr lang="en-KE" sz="180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3827345763"/>
                  </a:ext>
                </a:extLst>
              </a:tr>
              <a:tr h="526464">
                <a:tc>
                  <a:txBody>
                    <a:bodyPr/>
                    <a:lstStyle/>
                    <a:p>
                      <a:pPr algn="ctr">
                        <a:lnSpc>
                          <a:spcPct val="107000"/>
                        </a:lnSpc>
                        <a:spcBef>
                          <a:spcPts val="480"/>
                        </a:spcBef>
                        <a:spcAft>
                          <a:spcPts val="480"/>
                        </a:spcAft>
                      </a:pPr>
                      <a:r>
                        <a:rPr lang="en-KE" sz="18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15-19</a:t>
                      </a:r>
                      <a:endParaRPr lang="en-KE" sz="180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8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9</a:t>
                      </a:r>
                      <a:endParaRPr lang="en-KE" sz="180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8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7.5</a:t>
                      </a:r>
                      <a:endParaRPr lang="en-KE" sz="180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8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a:t>
                      </a:r>
                      <a:endParaRPr lang="en-KE" sz="180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8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3</a:t>
                      </a:r>
                      <a:endParaRPr lang="en-KE" sz="180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8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0.133</a:t>
                      </a:r>
                      <a:endParaRPr lang="en-KE" sz="180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8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0.867</a:t>
                      </a:r>
                      <a:endParaRPr lang="en-KE" sz="180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8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0.668</a:t>
                      </a:r>
                      <a:endParaRPr lang="en-KE" sz="180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645043551"/>
                  </a:ext>
                </a:extLst>
              </a:tr>
              <a:tr h="526464">
                <a:tc>
                  <a:txBody>
                    <a:bodyPr/>
                    <a:lstStyle/>
                    <a:p>
                      <a:pPr algn="ctr">
                        <a:lnSpc>
                          <a:spcPct val="107000"/>
                        </a:lnSpc>
                        <a:spcBef>
                          <a:spcPts val="480"/>
                        </a:spcBef>
                        <a:spcAft>
                          <a:spcPts val="480"/>
                        </a:spcAft>
                      </a:pPr>
                      <a:r>
                        <a:rPr lang="en-KE" sz="18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20-24</a:t>
                      </a:r>
                      <a:endParaRPr lang="en-KE" sz="180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8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5</a:t>
                      </a:r>
                      <a:endParaRPr lang="en-KE" sz="180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8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3.0</a:t>
                      </a:r>
                      <a:endParaRPr lang="en-KE" sz="180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8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a:t>
                      </a:r>
                      <a:endParaRPr lang="en-KE" sz="180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8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4</a:t>
                      </a:r>
                      <a:endParaRPr lang="en-KE" sz="180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8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0.333</a:t>
                      </a:r>
                      <a:endParaRPr lang="en-KE" sz="180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8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0.667</a:t>
                      </a:r>
                      <a:endParaRPr lang="en-KE" sz="180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800" b="1" dirty="0">
                          <a:solidFill>
                            <a:srgbClr val="FF0000"/>
                          </a:solidFill>
                          <a:effectLst/>
                          <a:latin typeface="Arial" panose="020B0604020202020204" pitchFamily="34" charset="0"/>
                          <a:ea typeface="Times New Roman" panose="02020603050405020304" pitchFamily="18" charset="0"/>
                          <a:cs typeface="Times New Roman" panose="02020603050405020304" pitchFamily="18" charset="0"/>
                        </a:rPr>
                        <a:t>0.446</a:t>
                      </a:r>
                      <a:endParaRPr lang="en-KE" sz="18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3297260034"/>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2"/>
          <p:cNvSpPr>
            <a:spLocks noGrp="1" noRot="1" noChangeArrowheads="1"/>
          </p:cNvSpPr>
          <p:nvPr>
            <p:ph type="title"/>
          </p:nvPr>
        </p:nvSpPr>
        <p:spPr>
          <a:xfrm>
            <a:off x="1981200" y="274638"/>
            <a:ext cx="8229600" cy="595312"/>
          </a:xfrm>
        </p:spPr>
        <p:txBody>
          <a:bodyPr/>
          <a:lstStyle/>
          <a:p>
            <a:pPr eaLnBrk="1" hangingPunct="1"/>
            <a:r>
              <a:rPr lang="en-GB" altLang="en-GB" sz="3200"/>
              <a:t>The Survival Function – </a:t>
            </a:r>
            <a:r>
              <a:rPr lang="en-GB" altLang="en-GB" sz="3200" i="1"/>
              <a:t>Lifetables</a:t>
            </a:r>
          </a:p>
        </p:txBody>
      </p:sp>
      <p:sp>
        <p:nvSpPr>
          <p:cNvPr id="32771"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9B984F65-82AC-48A9-95C0-D5D74E5D1F99}" type="slidenum">
              <a:rPr lang="en-GB" altLang="en-US" sz="1200">
                <a:solidFill>
                  <a:srgbClr val="000000"/>
                </a:solidFill>
                <a:latin typeface="Arial" panose="020B0604020202020204" pitchFamily="34" charset="0"/>
                <a:cs typeface="Arial" panose="020B0604020202020204" pitchFamily="34" charset="0"/>
              </a:rPr>
              <a:pPr fontAlgn="base">
                <a:spcBef>
                  <a:spcPct val="0"/>
                </a:spcBef>
                <a:spcAft>
                  <a:spcPct val="0"/>
                </a:spcAft>
              </a:pPr>
              <a:t>23</a:t>
            </a:fld>
            <a:endParaRPr lang="en-GB" altLang="en-US" sz="1200">
              <a:solidFill>
                <a:srgbClr val="000000"/>
              </a:solidFill>
              <a:latin typeface="Arial" panose="020B0604020202020204" pitchFamily="34" charset="0"/>
              <a:cs typeface="Arial" panose="020B0604020202020204" pitchFamily="34" charset="0"/>
            </a:endParaRPr>
          </a:p>
        </p:txBody>
      </p:sp>
      <p:graphicFrame>
        <p:nvGraphicFramePr>
          <p:cNvPr id="4" name="Table 3">
            <a:extLst>
              <a:ext uri="{FF2B5EF4-FFF2-40B4-BE49-F238E27FC236}">
                <a16:creationId xmlns:a16="http://schemas.microsoft.com/office/drawing/2014/main" id="{5F58454B-33D6-4420-9EC0-6C446EEF2D71}"/>
              </a:ext>
            </a:extLst>
          </p:cNvPr>
          <p:cNvGraphicFramePr>
            <a:graphicFrameLocks noGrp="1"/>
          </p:cNvGraphicFramePr>
          <p:nvPr>
            <p:extLst>
              <p:ext uri="{D42A27DB-BD31-4B8C-83A1-F6EECF244321}">
                <p14:modId xmlns:p14="http://schemas.microsoft.com/office/powerpoint/2010/main" val="4006394054"/>
              </p:ext>
            </p:extLst>
          </p:nvPr>
        </p:nvGraphicFramePr>
        <p:xfrm>
          <a:off x="2072724" y="980729"/>
          <a:ext cx="3951268" cy="1774537"/>
        </p:xfrm>
        <a:graphic>
          <a:graphicData uri="http://schemas.openxmlformats.org/drawingml/2006/table">
            <a:tbl>
              <a:tblPr firstRow="1" firstCol="1" bandRow="1"/>
              <a:tblGrid>
                <a:gridCol w="1975634">
                  <a:extLst>
                    <a:ext uri="{9D8B030D-6E8A-4147-A177-3AD203B41FA5}">
                      <a16:colId xmlns:a16="http://schemas.microsoft.com/office/drawing/2014/main" val="649164931"/>
                    </a:ext>
                  </a:extLst>
                </a:gridCol>
                <a:gridCol w="1975634">
                  <a:extLst>
                    <a:ext uri="{9D8B030D-6E8A-4147-A177-3AD203B41FA5}">
                      <a16:colId xmlns:a16="http://schemas.microsoft.com/office/drawing/2014/main" val="355404037"/>
                    </a:ext>
                  </a:extLst>
                </a:gridCol>
              </a:tblGrid>
              <a:tr h="288032">
                <a:tc>
                  <a:txBody>
                    <a:bodyPr/>
                    <a:lstStyle/>
                    <a:p>
                      <a:pPr algn="ctr">
                        <a:lnSpc>
                          <a:spcPct val="107000"/>
                        </a:lnSpc>
                        <a:spcBef>
                          <a:spcPts val="480"/>
                        </a:spcBef>
                        <a:spcAft>
                          <a:spcPts val="480"/>
                        </a:spcAft>
                      </a:pPr>
                      <a:r>
                        <a:rPr lang="en-KE" sz="14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Interval in Years</a:t>
                      </a:r>
                      <a:endParaRPr lang="en-K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4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Survival Probability S</a:t>
                      </a:r>
                      <a:r>
                        <a:rPr lang="en-KE" sz="1400" b="1" baseline="-250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a:t>
                      </a:r>
                      <a:endParaRPr lang="en-K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1304929508"/>
                  </a:ext>
                </a:extLst>
              </a:tr>
              <a:tr h="297301">
                <a:tc>
                  <a:txBody>
                    <a:bodyPr/>
                    <a:lstStyle/>
                    <a:p>
                      <a:pPr algn="ctr">
                        <a:lnSpc>
                          <a:spcPct val="107000"/>
                        </a:lnSpc>
                        <a:spcBef>
                          <a:spcPts val="480"/>
                        </a:spcBef>
                        <a:spcAft>
                          <a:spcPts val="480"/>
                        </a:spcAft>
                      </a:pPr>
                      <a:r>
                        <a:rPr lang="en-KE"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0-4</a:t>
                      </a:r>
                      <a:endParaRPr lang="en-KE"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0.897</a:t>
                      </a:r>
                      <a:endParaRPr lang="en-KE"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2815845173"/>
                  </a:ext>
                </a:extLst>
              </a:tr>
              <a:tr h="297301">
                <a:tc>
                  <a:txBody>
                    <a:bodyPr/>
                    <a:lstStyle/>
                    <a:p>
                      <a:pPr algn="ctr">
                        <a:lnSpc>
                          <a:spcPct val="107000"/>
                        </a:lnSpc>
                        <a:spcBef>
                          <a:spcPts val="480"/>
                        </a:spcBef>
                        <a:spcAft>
                          <a:spcPts val="480"/>
                        </a:spcAft>
                      </a:pPr>
                      <a:r>
                        <a:rPr lang="en-KE" sz="18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5-9</a:t>
                      </a:r>
                      <a:endParaRPr lang="en-KE" sz="180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0.840</a:t>
                      </a:r>
                      <a:endParaRPr lang="en-KE"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726668017"/>
                  </a:ext>
                </a:extLst>
              </a:tr>
              <a:tr h="297301">
                <a:tc>
                  <a:txBody>
                    <a:bodyPr/>
                    <a:lstStyle/>
                    <a:p>
                      <a:pPr algn="ctr">
                        <a:lnSpc>
                          <a:spcPct val="107000"/>
                        </a:lnSpc>
                        <a:spcBef>
                          <a:spcPts val="480"/>
                        </a:spcBef>
                        <a:spcAft>
                          <a:spcPts val="480"/>
                        </a:spcAft>
                      </a:pPr>
                      <a:r>
                        <a:rPr lang="en-KE" sz="18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10-14</a:t>
                      </a:r>
                      <a:endParaRPr lang="en-KE" sz="180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8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0.770</a:t>
                      </a:r>
                      <a:endParaRPr lang="en-KE" sz="180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3827345763"/>
                  </a:ext>
                </a:extLst>
              </a:tr>
              <a:tr h="297301">
                <a:tc>
                  <a:txBody>
                    <a:bodyPr/>
                    <a:lstStyle/>
                    <a:p>
                      <a:pPr algn="ctr">
                        <a:lnSpc>
                          <a:spcPct val="107000"/>
                        </a:lnSpc>
                        <a:spcBef>
                          <a:spcPts val="480"/>
                        </a:spcBef>
                        <a:spcAft>
                          <a:spcPts val="480"/>
                        </a:spcAft>
                      </a:pPr>
                      <a:r>
                        <a:rPr lang="en-KE" sz="18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15-19</a:t>
                      </a:r>
                      <a:endParaRPr lang="en-KE" sz="180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8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0.668</a:t>
                      </a:r>
                      <a:endParaRPr lang="en-KE" sz="180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645043551"/>
                  </a:ext>
                </a:extLst>
              </a:tr>
              <a:tr h="297301">
                <a:tc>
                  <a:txBody>
                    <a:bodyPr/>
                    <a:lstStyle/>
                    <a:p>
                      <a:pPr algn="ctr">
                        <a:lnSpc>
                          <a:spcPct val="107000"/>
                        </a:lnSpc>
                        <a:spcBef>
                          <a:spcPts val="480"/>
                        </a:spcBef>
                        <a:spcAft>
                          <a:spcPts val="480"/>
                        </a:spcAft>
                      </a:pPr>
                      <a:r>
                        <a:rPr lang="en-KE" sz="18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20-24</a:t>
                      </a:r>
                      <a:endParaRPr lang="en-KE" sz="1800">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a:lnSpc>
                          <a:spcPct val="107000"/>
                        </a:lnSpc>
                        <a:spcBef>
                          <a:spcPts val="480"/>
                        </a:spcBef>
                        <a:spcAft>
                          <a:spcPts val="480"/>
                        </a:spcAft>
                      </a:pPr>
                      <a:r>
                        <a:rPr lang="en-KE" sz="1800" b="1" dirty="0">
                          <a:solidFill>
                            <a:srgbClr val="FF0000"/>
                          </a:solidFill>
                          <a:effectLst/>
                          <a:latin typeface="Arial" panose="020B0604020202020204" pitchFamily="34" charset="0"/>
                          <a:ea typeface="Times New Roman" panose="02020603050405020304" pitchFamily="18" charset="0"/>
                          <a:cs typeface="Times New Roman" panose="02020603050405020304" pitchFamily="18" charset="0"/>
                        </a:rPr>
                        <a:t>0.446</a:t>
                      </a:r>
                      <a:endParaRPr lang="en-KE" sz="18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15315" marR="15315" marT="0" marB="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3297260034"/>
                  </a:ext>
                </a:extLst>
              </a:tr>
            </a:tbl>
          </a:graphicData>
        </a:graphic>
      </p:graphicFrame>
      <p:pic>
        <p:nvPicPr>
          <p:cNvPr id="2" name="Picture 1"/>
          <p:cNvPicPr>
            <a:picLocks noChangeAspect="1"/>
          </p:cNvPicPr>
          <p:nvPr/>
        </p:nvPicPr>
        <p:blipFill>
          <a:blip r:embed="rId2"/>
          <a:stretch>
            <a:fillRect/>
          </a:stretch>
        </p:blipFill>
        <p:spPr>
          <a:xfrm>
            <a:off x="5303913" y="2755265"/>
            <a:ext cx="5116027" cy="3745390"/>
          </a:xfrm>
          <a:prstGeom prst="rect">
            <a:avLst/>
          </a:prstGeom>
        </p:spPr>
      </p:pic>
    </p:spTree>
    <p:extLst>
      <p:ext uri="{BB962C8B-B14F-4D97-AF65-F5344CB8AC3E}">
        <p14:creationId xmlns:p14="http://schemas.microsoft.com/office/powerpoint/2010/main" val="24900854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4" name="Rectangle 2"/>
          <p:cNvSpPr>
            <a:spLocks noGrp="1" noRot="1" noChangeArrowheads="1"/>
          </p:cNvSpPr>
          <p:nvPr>
            <p:ph type="title"/>
          </p:nvPr>
        </p:nvSpPr>
        <p:spPr>
          <a:xfrm>
            <a:off x="1981200" y="274638"/>
            <a:ext cx="8229600" cy="595312"/>
          </a:xfrm>
        </p:spPr>
        <p:txBody>
          <a:bodyPr/>
          <a:lstStyle/>
          <a:p>
            <a:pPr eaLnBrk="1" hangingPunct="1"/>
            <a:r>
              <a:rPr lang="en-GB" altLang="en-GB" sz="3200"/>
              <a:t>The Survival Function – </a:t>
            </a:r>
            <a:r>
              <a:rPr lang="en-GB" altLang="en-GB" sz="3200" i="1"/>
              <a:t>Lifetables</a:t>
            </a:r>
          </a:p>
        </p:txBody>
      </p:sp>
      <p:graphicFrame>
        <p:nvGraphicFramePr>
          <p:cNvPr id="33795" name="Object 4"/>
          <p:cNvGraphicFramePr>
            <a:graphicFrameLocks noGrp="1" noChangeAspect="1"/>
          </p:cNvGraphicFramePr>
          <p:nvPr>
            <p:ph idx="1"/>
          </p:nvPr>
        </p:nvGraphicFramePr>
        <p:xfrm>
          <a:off x="2063750" y="1157288"/>
          <a:ext cx="7993063" cy="5411787"/>
        </p:xfrm>
        <a:graphic>
          <a:graphicData uri="http://schemas.openxmlformats.org/presentationml/2006/ole">
            <mc:AlternateContent xmlns:mc="http://schemas.openxmlformats.org/markup-compatibility/2006">
              <mc:Choice xmlns:v="urn:schemas-microsoft-com:vml" Requires="v">
                <p:oleObj spid="_x0000_s33815" name="Mtb Graph" r:id="rId3" imgW="10546200" imgH="7131240" progId="MinitabGraph.Document">
                  <p:embed/>
                </p:oleObj>
              </mc:Choice>
              <mc:Fallback>
                <p:oleObj name="Mtb Graph" r:id="rId3" imgW="10546200" imgH="7131240" progId="MinitabGraph.Document">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3750" y="1157288"/>
                        <a:ext cx="7993063" cy="541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796"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F47C7D39-E7F1-438F-BA49-87C579AE9DE7}" type="slidenum">
              <a:rPr lang="en-GB" altLang="en-US" sz="1200">
                <a:solidFill>
                  <a:srgbClr val="000000"/>
                </a:solidFill>
                <a:latin typeface="Arial" panose="020B0604020202020204" pitchFamily="34" charset="0"/>
                <a:cs typeface="Arial" panose="020B0604020202020204" pitchFamily="34" charset="0"/>
              </a:rPr>
              <a:pPr fontAlgn="base">
                <a:spcBef>
                  <a:spcPct val="0"/>
                </a:spcBef>
                <a:spcAft>
                  <a:spcPct val="0"/>
                </a:spcAft>
              </a:pPr>
              <a:t>24</a:t>
            </a:fld>
            <a:endParaRPr lang="en-GB" altLang="en-US" sz="1200">
              <a:solidFill>
                <a:srgbClr val="000000"/>
              </a:solidFill>
              <a:latin typeface="Arial" panose="020B0604020202020204" pitchFamily="34" charset="0"/>
              <a:cs typeface="Arial" panose="020B0604020202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Rectangle 2"/>
          <p:cNvSpPr>
            <a:spLocks noGrp="1" noRot="1" noChangeArrowheads="1"/>
          </p:cNvSpPr>
          <p:nvPr>
            <p:ph type="title"/>
          </p:nvPr>
        </p:nvSpPr>
        <p:spPr>
          <a:xfrm>
            <a:off x="1981200" y="274638"/>
            <a:ext cx="8229600" cy="595312"/>
          </a:xfrm>
        </p:spPr>
        <p:txBody>
          <a:bodyPr/>
          <a:lstStyle/>
          <a:p>
            <a:pPr eaLnBrk="1" hangingPunct="1"/>
            <a:r>
              <a:rPr lang="en-GB" altLang="en-GB" sz="3200"/>
              <a:t>The Survival Function – </a:t>
            </a:r>
            <a:r>
              <a:rPr lang="en-GB" altLang="en-GB" sz="3200" i="1"/>
              <a:t>Lifetables</a:t>
            </a:r>
          </a:p>
        </p:txBody>
      </p:sp>
      <p:graphicFrame>
        <p:nvGraphicFramePr>
          <p:cNvPr id="34819" name="Object 4"/>
          <p:cNvGraphicFramePr>
            <a:graphicFrameLocks noGrp="1" noChangeAspect="1"/>
          </p:cNvGraphicFramePr>
          <p:nvPr>
            <p:ph idx="1"/>
          </p:nvPr>
        </p:nvGraphicFramePr>
        <p:xfrm>
          <a:off x="2070100" y="1196975"/>
          <a:ext cx="7980363" cy="5402263"/>
        </p:xfrm>
        <a:graphic>
          <a:graphicData uri="http://schemas.openxmlformats.org/presentationml/2006/ole">
            <mc:AlternateContent xmlns:mc="http://schemas.openxmlformats.org/markup-compatibility/2006">
              <mc:Choice xmlns:v="urn:schemas-microsoft-com:vml" Requires="v">
                <p:oleObj spid="_x0000_s34839" name="Mtb Graph" r:id="rId3" imgW="10546200" imgH="7131240" progId="MinitabGraph.Document">
                  <p:embed/>
                </p:oleObj>
              </mc:Choice>
              <mc:Fallback>
                <p:oleObj name="Mtb Graph" r:id="rId3" imgW="10546200" imgH="7131240" progId="MinitabGraph.Document">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0100" y="1196975"/>
                        <a:ext cx="7980363" cy="5402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4820"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9858D5B6-BA5D-4F0C-BE76-5785479EAAFB}" type="slidenum">
              <a:rPr lang="en-GB" altLang="en-US" sz="1200">
                <a:solidFill>
                  <a:srgbClr val="000000"/>
                </a:solidFill>
                <a:latin typeface="Arial" panose="020B0604020202020204" pitchFamily="34" charset="0"/>
                <a:cs typeface="Arial" panose="020B0604020202020204" pitchFamily="34" charset="0"/>
              </a:rPr>
              <a:pPr fontAlgn="base">
                <a:spcBef>
                  <a:spcPct val="0"/>
                </a:spcBef>
                <a:spcAft>
                  <a:spcPct val="0"/>
                </a:spcAft>
              </a:pPr>
              <a:t>25</a:t>
            </a:fld>
            <a:endParaRPr lang="en-GB" altLang="en-US" sz="1200">
              <a:solidFill>
                <a:srgbClr val="000000"/>
              </a:solidFill>
              <a:latin typeface="Arial" panose="020B0604020202020204" pitchFamily="34" charset="0"/>
              <a:cs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Rectangle 2"/>
          <p:cNvSpPr>
            <a:spLocks noGrp="1" noRot="1" noChangeArrowheads="1"/>
          </p:cNvSpPr>
          <p:nvPr>
            <p:ph type="title"/>
          </p:nvPr>
        </p:nvSpPr>
        <p:spPr>
          <a:xfrm>
            <a:off x="2209801" y="457201"/>
            <a:ext cx="8207375" cy="595313"/>
          </a:xfrm>
        </p:spPr>
        <p:txBody>
          <a:bodyPr/>
          <a:lstStyle/>
          <a:p>
            <a:pPr eaLnBrk="1" hangingPunct="1"/>
            <a:r>
              <a:rPr lang="en-GB" altLang="en-GB" sz="3200"/>
              <a:t>The Survival Function – </a:t>
            </a:r>
            <a:r>
              <a:rPr lang="en-GB" altLang="en-GB" sz="3200" i="1"/>
              <a:t>Lifetables</a:t>
            </a:r>
            <a:endParaRPr lang="en-GB" altLang="en-US" sz="3200" i="1"/>
          </a:p>
        </p:txBody>
      </p:sp>
      <p:sp>
        <p:nvSpPr>
          <p:cNvPr id="259075" name="Rectangle 3">
            <a:extLst>
              <a:ext uri="{FF2B5EF4-FFF2-40B4-BE49-F238E27FC236}">
                <a16:creationId xmlns:a16="http://schemas.microsoft.com/office/drawing/2014/main" id="{61720721-09D9-4CC4-A5D4-8E0E681B4DE1}"/>
              </a:ext>
            </a:extLst>
          </p:cNvPr>
          <p:cNvSpPr>
            <a:spLocks noGrp="1" noChangeArrowheads="1"/>
          </p:cNvSpPr>
          <p:nvPr>
            <p:ph type="body" sz="half" idx="1"/>
          </p:nvPr>
        </p:nvSpPr>
        <p:spPr>
          <a:xfrm>
            <a:off x="2208213" y="1412875"/>
            <a:ext cx="8062912" cy="863600"/>
          </a:xfrm>
        </p:spPr>
        <p:txBody>
          <a:bodyPr rtlCol="0">
            <a:normAutofit fontScale="85000" lnSpcReduction="10000"/>
          </a:bodyPr>
          <a:lstStyle/>
          <a:p>
            <a:pPr eaLnBrk="1" fontAlgn="auto" hangingPunct="1">
              <a:spcAft>
                <a:spcPts val="0"/>
              </a:spcAft>
              <a:defRPr/>
            </a:pPr>
            <a:r>
              <a:rPr lang="en-GB" dirty="0">
                <a:cs typeface="+mn-cs"/>
              </a:rPr>
              <a:t>The lifetable approach relies on </a:t>
            </a:r>
            <a:r>
              <a:rPr lang="en-GB" b="1" dirty="0">
                <a:cs typeface="+mn-cs"/>
              </a:rPr>
              <a:t>pre-specified time intervals </a:t>
            </a:r>
            <a:r>
              <a:rPr lang="en-GB" dirty="0">
                <a:cs typeface="+mn-cs"/>
              </a:rPr>
              <a:t>– different intervals will produce different estimates. </a:t>
            </a:r>
            <a:endParaRPr lang="en-GB" sz="14000" dirty="0">
              <a:cs typeface="+mn-cs"/>
            </a:endParaRPr>
          </a:p>
        </p:txBody>
      </p:sp>
      <p:graphicFrame>
        <p:nvGraphicFramePr>
          <p:cNvPr id="259076" name="Object 4"/>
          <p:cNvGraphicFramePr>
            <a:graphicFrameLocks noGrp="1" noChangeAspect="1"/>
          </p:cNvGraphicFramePr>
          <p:nvPr>
            <p:ph sz="quarter" idx="2"/>
          </p:nvPr>
        </p:nvGraphicFramePr>
        <p:xfrm>
          <a:off x="6342063" y="2335213"/>
          <a:ext cx="3232150" cy="2187575"/>
        </p:xfrm>
        <a:graphic>
          <a:graphicData uri="http://schemas.openxmlformats.org/presentationml/2006/ole">
            <mc:AlternateContent xmlns:mc="http://schemas.openxmlformats.org/markup-compatibility/2006">
              <mc:Choice xmlns:v="urn:schemas-microsoft-com:vml" Requires="v">
                <p:oleObj spid="_x0000_s35884" name="Mtb Graph" r:id="rId3" imgW="10546200" imgH="7131240" progId="MinitabGraph.Document">
                  <p:embed/>
                </p:oleObj>
              </mc:Choice>
              <mc:Fallback>
                <p:oleObj name="Mtb Graph" r:id="rId3" imgW="10546200" imgH="7131240" progId="MinitabGraph.Document">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42063" y="2335213"/>
                        <a:ext cx="3232150" cy="2187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9078" name="Object 6"/>
          <p:cNvGraphicFramePr>
            <a:graphicFrameLocks noGrp="1" noChangeAspect="1"/>
          </p:cNvGraphicFramePr>
          <p:nvPr>
            <p:ph sz="quarter" idx="3"/>
          </p:nvPr>
        </p:nvGraphicFramePr>
        <p:xfrm>
          <a:off x="2136775" y="2392363"/>
          <a:ext cx="3351213" cy="2268537"/>
        </p:xfrm>
        <a:graphic>
          <a:graphicData uri="http://schemas.openxmlformats.org/presentationml/2006/ole">
            <mc:AlternateContent xmlns:mc="http://schemas.openxmlformats.org/markup-compatibility/2006">
              <mc:Choice xmlns:v="urn:schemas-microsoft-com:vml" Requires="v">
                <p:oleObj spid="_x0000_s35885" name="Mtb Graph" r:id="rId5" imgW="10546200" imgH="7131240" progId="MinitabGraph.Document">
                  <p:embed/>
                </p:oleObj>
              </mc:Choice>
              <mc:Fallback>
                <p:oleObj name="Mtb Graph" r:id="rId5" imgW="10546200" imgH="7131240" progId="MinitabGraph.Document">
                  <p:embed/>
                  <p:pic>
                    <p:nvPicPr>
                      <p:cNvPr id="0" name="Object 6"/>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36775" y="2392363"/>
                        <a:ext cx="3351213" cy="2268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5846"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B66A22B0-CAC4-4FD7-B71A-233366459384}" type="slidenum">
              <a:rPr lang="en-GB" altLang="en-US" sz="1200">
                <a:solidFill>
                  <a:srgbClr val="000000"/>
                </a:solidFill>
                <a:latin typeface="Arial" panose="020B0604020202020204" pitchFamily="34" charset="0"/>
                <a:cs typeface="Arial" panose="020B0604020202020204" pitchFamily="34" charset="0"/>
              </a:rPr>
              <a:pPr fontAlgn="base">
                <a:spcBef>
                  <a:spcPct val="0"/>
                </a:spcBef>
                <a:spcAft>
                  <a:spcPct val="0"/>
                </a:spcAft>
              </a:pPr>
              <a:t>26</a:t>
            </a:fld>
            <a:endParaRPr lang="en-GB" altLang="en-US" sz="1200">
              <a:solidFill>
                <a:srgbClr val="000000"/>
              </a:solidFill>
              <a:latin typeface="Arial" panose="020B0604020202020204" pitchFamily="34" charset="0"/>
              <a:cs typeface="Arial" panose="020B0604020202020204" pitchFamily="34" charset="0"/>
            </a:endParaRPr>
          </a:p>
        </p:txBody>
      </p:sp>
      <p:sp>
        <p:nvSpPr>
          <p:cNvPr id="259080" name="Rectangle 8"/>
          <p:cNvSpPr>
            <a:spLocks noChangeArrowheads="1"/>
          </p:cNvSpPr>
          <p:nvPr/>
        </p:nvSpPr>
        <p:spPr bwMode="auto">
          <a:xfrm>
            <a:off x="1774825" y="4797425"/>
            <a:ext cx="8567738" cy="192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20000"/>
              </a:spcBef>
              <a:buSzPct val="70000"/>
              <a:buFont typeface="Arial" panose="020B0604020202020204" pitchFamily="34" charset="0"/>
              <a:buChar char="•"/>
            </a:pPr>
            <a:r>
              <a:rPr lang="en-GB" altLang="en-GB" sz="2400">
                <a:solidFill>
                  <a:srgbClr val="000000"/>
                </a:solidFill>
                <a:latin typeface="Verdana" panose="020B0604030504040204" pitchFamily="34" charset="0"/>
                <a:ea typeface="Verdana" panose="020B0604030504040204" pitchFamily="34" charset="0"/>
                <a:cs typeface="Arial" panose="020B0604020202020204" pitchFamily="34" charset="0"/>
              </a:rPr>
              <a:t>The larger the time intervals considered the more crude the estimates.</a:t>
            </a:r>
            <a:endParaRPr lang="en-GB" altLang="en-GB" sz="1200">
              <a:solidFill>
                <a:srgbClr val="000000"/>
              </a:solidFill>
              <a:latin typeface="Verdana" panose="020B0604030504040204" pitchFamily="34" charset="0"/>
              <a:ea typeface="Verdana" panose="020B0604030504040204" pitchFamily="34" charset="0"/>
              <a:cs typeface="Arial" panose="020B0604020202020204" pitchFamily="34" charset="0"/>
            </a:endParaRPr>
          </a:p>
          <a:p>
            <a:pPr eaLnBrk="1" hangingPunct="1">
              <a:spcBef>
                <a:spcPct val="20000"/>
              </a:spcBef>
              <a:buSzPct val="70000"/>
              <a:buFont typeface="Arial" panose="020B0604020202020204" pitchFamily="34" charset="0"/>
              <a:buChar char="•"/>
            </a:pPr>
            <a:r>
              <a:rPr lang="en-GB" altLang="en-GB" sz="2400">
                <a:solidFill>
                  <a:srgbClr val="000000"/>
                </a:solidFill>
                <a:latin typeface="Verdana" panose="020B0604030504040204" pitchFamily="34" charset="0"/>
                <a:ea typeface="Verdana" panose="020B0604030504040204" pitchFamily="34" charset="0"/>
                <a:cs typeface="Arial" panose="020B0604020202020204" pitchFamily="34" charset="0"/>
              </a:rPr>
              <a:t>However, if the intervals are too fine then few will contain any information.</a:t>
            </a:r>
          </a:p>
          <a:p>
            <a:pPr eaLnBrk="1" hangingPunct="1">
              <a:spcBef>
                <a:spcPct val="20000"/>
              </a:spcBef>
              <a:buSzPct val="70000"/>
              <a:buFont typeface="Arial" panose="020B0604020202020204" pitchFamily="34" charset="0"/>
              <a:buChar char="•"/>
            </a:pPr>
            <a:endParaRPr lang="en-GB" altLang="en-GB" sz="2400">
              <a:solidFill>
                <a:srgbClr val="000000"/>
              </a:solidFill>
              <a:latin typeface="Verdana" panose="020B0604030504040204" pitchFamily="34" charset="0"/>
              <a:ea typeface="Verdana" panose="020B060403050404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5907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5907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90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9080" grpId="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9074" name="Rectangle 2">
            <a:extLst>
              <a:ext uri="{FF2B5EF4-FFF2-40B4-BE49-F238E27FC236}">
                <a16:creationId xmlns:a16="http://schemas.microsoft.com/office/drawing/2014/main" id="{88F3F3F4-0C80-4B82-AADC-004CBE81FFBB}"/>
              </a:ext>
            </a:extLst>
          </p:cNvPr>
          <p:cNvSpPr>
            <a:spLocks noGrp="1" noRot="1" noChangeArrowheads="1"/>
          </p:cNvSpPr>
          <p:nvPr>
            <p:ph type="title"/>
          </p:nvPr>
        </p:nvSpPr>
        <p:spPr>
          <a:xfrm>
            <a:off x="2209801" y="457201"/>
            <a:ext cx="8207375" cy="595313"/>
          </a:xfrm>
        </p:spPr>
        <p:txBody>
          <a:bodyPr rtlCol="0">
            <a:normAutofit/>
          </a:bodyPr>
          <a:lstStyle/>
          <a:p>
            <a:pPr eaLnBrk="1" fontAlgn="auto" hangingPunct="1">
              <a:spcAft>
                <a:spcPts val="0"/>
              </a:spcAft>
              <a:defRPr/>
            </a:pPr>
            <a:r>
              <a:rPr lang="en-GB" sz="3200"/>
              <a:t>The Survival Function – </a:t>
            </a:r>
            <a:r>
              <a:rPr lang="en-GB" sz="3200" i="1"/>
              <a:t>Kaplan-Meier Method</a:t>
            </a:r>
          </a:p>
        </p:txBody>
      </p:sp>
      <p:sp>
        <p:nvSpPr>
          <p:cNvPr id="36867" name="Rectangle 3"/>
          <p:cNvSpPr>
            <a:spLocks noGrp="1" noChangeArrowheads="1"/>
          </p:cNvSpPr>
          <p:nvPr>
            <p:ph type="body" sz="half" idx="1"/>
          </p:nvPr>
        </p:nvSpPr>
        <p:spPr>
          <a:xfrm>
            <a:off x="2208214" y="1628776"/>
            <a:ext cx="7991475" cy="4392613"/>
          </a:xfrm>
        </p:spPr>
        <p:txBody>
          <a:bodyPr/>
          <a:lstStyle/>
          <a:p>
            <a:pPr algn="just" eaLnBrk="1" hangingPunct="1"/>
            <a:r>
              <a:rPr lang="en-GB" altLang="en-GB"/>
              <a:t>An issue with the life table approach shown above is that the survival probabilities can change depending on how the intervals are organized, particularly with small samples. </a:t>
            </a:r>
          </a:p>
          <a:p>
            <a:pPr algn="just" eaLnBrk="1" hangingPunct="1"/>
            <a:endParaRPr lang="en-GB" altLang="en-GB"/>
          </a:p>
          <a:p>
            <a:pPr algn="just" eaLnBrk="1" hangingPunct="1"/>
            <a:r>
              <a:rPr lang="en-GB" altLang="en-GB"/>
              <a:t>The Kaplan-Meier approach, also called the product-limit approach, is a popular approach which addresses this issue by re-estimating the survival probability each time an event occurs.</a:t>
            </a:r>
            <a:endParaRPr lang="en-GB" altLang="en-GB" sz="14000"/>
          </a:p>
        </p:txBody>
      </p:sp>
      <p:sp>
        <p:nvSpPr>
          <p:cNvPr id="36868"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7A0CB3B6-D6E0-48D3-91EA-1CBC28CF7569}" type="slidenum">
              <a:rPr lang="en-GB" altLang="en-US" sz="1200">
                <a:solidFill>
                  <a:srgbClr val="000000"/>
                </a:solidFill>
                <a:latin typeface="Arial" panose="020B0604020202020204" pitchFamily="34" charset="0"/>
                <a:cs typeface="Arial" panose="020B0604020202020204" pitchFamily="34" charset="0"/>
              </a:rPr>
              <a:pPr fontAlgn="base">
                <a:spcBef>
                  <a:spcPct val="0"/>
                </a:spcBef>
                <a:spcAft>
                  <a:spcPct val="0"/>
                </a:spcAft>
              </a:pPr>
              <a:t>27</a:t>
            </a:fld>
            <a:endParaRPr lang="en-GB" altLang="en-US" sz="1200">
              <a:solidFill>
                <a:srgbClr val="000000"/>
              </a:solidFill>
              <a:latin typeface="Arial" panose="020B0604020202020204" pitchFamily="34" charset="0"/>
              <a:cs typeface="Arial" panose="020B0604020202020204" pitchFamily="34" charset="0"/>
            </a:endParaRPr>
          </a:p>
        </p:txBody>
      </p:sp>
      <p:sp>
        <p:nvSpPr>
          <p:cNvPr id="259080" name="Rectangle 8"/>
          <p:cNvSpPr>
            <a:spLocks noChangeArrowheads="1"/>
          </p:cNvSpPr>
          <p:nvPr/>
        </p:nvSpPr>
        <p:spPr bwMode="auto">
          <a:xfrm>
            <a:off x="2279651" y="4797426"/>
            <a:ext cx="8062913" cy="187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20000"/>
              </a:spcBef>
              <a:buClr>
                <a:srgbClr val="0563C1"/>
              </a:buClr>
              <a:buSzPct val="70000"/>
              <a:buFont typeface="Wingdings" panose="05000000000000000000" pitchFamily="2" charset="2"/>
              <a:buNone/>
            </a:pPr>
            <a:endParaRPr lang="en-GB" altLang="en-GB" sz="2400">
              <a:solidFill>
                <a:srgbClr val="000000"/>
              </a:solidFill>
              <a:latin typeface="Times New Roman" panose="02020603050405020304" pitchFamily="18"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2590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9080" grpId="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9314" name="Rectangle 2">
            <a:extLst>
              <a:ext uri="{FF2B5EF4-FFF2-40B4-BE49-F238E27FC236}">
                <a16:creationId xmlns:a16="http://schemas.microsoft.com/office/drawing/2014/main" id="{33775E77-E04C-43DA-B1C1-4C24E4DF0822}"/>
              </a:ext>
            </a:extLst>
          </p:cNvPr>
          <p:cNvSpPr>
            <a:spLocks noGrp="1" noRot="1" noChangeArrowheads="1"/>
          </p:cNvSpPr>
          <p:nvPr>
            <p:ph type="title"/>
          </p:nvPr>
        </p:nvSpPr>
        <p:spPr>
          <a:xfrm>
            <a:off x="2209800" y="136525"/>
            <a:ext cx="7989888" cy="915988"/>
          </a:xfrm>
        </p:spPr>
        <p:txBody>
          <a:bodyPr rtlCol="0">
            <a:normAutofit/>
          </a:bodyPr>
          <a:lstStyle/>
          <a:p>
            <a:pPr eaLnBrk="1" fontAlgn="auto" hangingPunct="1">
              <a:spcAft>
                <a:spcPts val="0"/>
              </a:spcAft>
              <a:defRPr/>
            </a:pPr>
            <a:r>
              <a:rPr lang="en-GB" sz="3200" dirty="0"/>
              <a:t>The Survival Function – </a:t>
            </a:r>
            <a:r>
              <a:rPr lang="en-GB" sz="3200" i="1" dirty="0"/>
              <a:t>Kaplan-Meier Method</a:t>
            </a:r>
          </a:p>
        </p:txBody>
      </p:sp>
      <p:sp>
        <p:nvSpPr>
          <p:cNvPr id="37891" name="Rectangle 3"/>
          <p:cNvSpPr>
            <a:spLocks noGrp="1" noChangeArrowheads="1"/>
          </p:cNvSpPr>
          <p:nvPr>
            <p:ph idx="1"/>
          </p:nvPr>
        </p:nvSpPr>
        <p:spPr>
          <a:xfrm>
            <a:off x="2208214" y="1196976"/>
            <a:ext cx="8047037" cy="5159375"/>
          </a:xfrm>
        </p:spPr>
        <p:txBody>
          <a:bodyPr>
            <a:normAutofit lnSpcReduction="10000"/>
          </a:bodyPr>
          <a:lstStyle/>
          <a:p>
            <a:pPr eaLnBrk="1" hangingPunct="1"/>
            <a:r>
              <a:rPr lang="en-GB" altLang="en-GB"/>
              <a:t>The Kaplan-Meier Product Limit Method (1958) uses the same approach as the lifetable method. </a:t>
            </a:r>
            <a:br>
              <a:rPr lang="en-GB" altLang="en-GB"/>
            </a:br>
            <a:br>
              <a:rPr lang="en-GB" altLang="en-GB" sz="1600"/>
            </a:br>
            <a:r>
              <a:rPr lang="en-GB" altLang="en-GB"/>
              <a:t>However, the time intervals are defined to include just one event (more when ties are present). </a:t>
            </a:r>
          </a:p>
          <a:p>
            <a:pPr eaLnBrk="1" hangingPunct="1"/>
            <a:endParaRPr lang="en-GB" altLang="en-GB"/>
          </a:p>
          <a:p>
            <a:pPr eaLnBrk="1" hangingPunct="1"/>
            <a:r>
              <a:rPr lang="en-GB" altLang="en-GB"/>
              <a:t>With the actuarial life table approach we consider equally spaced intervals,</a:t>
            </a:r>
          </a:p>
          <a:p>
            <a:pPr eaLnBrk="1" hangingPunct="1"/>
            <a:endParaRPr lang="en-GB" altLang="en-GB"/>
          </a:p>
          <a:p>
            <a:pPr eaLnBrk="1" hangingPunct="1"/>
            <a:r>
              <a:rPr lang="en-GB" altLang="en-GB"/>
              <a:t>While with the Kaplan-Meier approach, we use observed event times and censoring times. </a:t>
            </a:r>
          </a:p>
          <a:p>
            <a:pPr eaLnBrk="1" hangingPunct="1"/>
            <a:r>
              <a:rPr lang="en-GB" altLang="en-US"/>
              <a:t>It’s a non-parametric method, meaning it doesn’t assume any specific distribution for survival times.</a:t>
            </a:r>
          </a:p>
          <a:p>
            <a:pPr eaLnBrk="1" hangingPunct="1"/>
            <a:endParaRPr lang="en-GB" altLang="en-GB"/>
          </a:p>
        </p:txBody>
      </p:sp>
      <p:sp>
        <p:nvSpPr>
          <p:cNvPr id="37892"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1E219E3C-A07D-46FF-9C6B-AB1C2E6B4E10}" type="slidenum">
              <a:rPr lang="en-GB" altLang="en-US" sz="1200">
                <a:solidFill>
                  <a:srgbClr val="000000"/>
                </a:solidFill>
                <a:latin typeface="Arial" panose="020B0604020202020204" pitchFamily="34" charset="0"/>
                <a:cs typeface="Arial" panose="020B0604020202020204" pitchFamily="34" charset="0"/>
              </a:rPr>
              <a:pPr fontAlgn="base">
                <a:spcBef>
                  <a:spcPct val="0"/>
                </a:spcBef>
                <a:spcAft>
                  <a:spcPct val="0"/>
                </a:spcAft>
              </a:pPr>
              <a:t>28</a:t>
            </a:fld>
            <a:endParaRPr lang="en-GB" altLang="en-US" sz="1200">
              <a:solidFill>
                <a:srgbClr val="000000"/>
              </a:solidFill>
              <a:latin typeface="Arial" panose="020B0604020202020204" pitchFamily="34" charset="0"/>
              <a:cs typeface="Arial" panose="020B0604020202020204" pitchFamily="34" charset="0"/>
            </a:endParaRPr>
          </a:p>
        </p:txBody>
      </p:sp>
      <p:sp>
        <p:nvSpPr>
          <p:cNvPr id="37893" name="Text Box 5"/>
          <p:cNvSpPr txBox="1">
            <a:spLocks noChangeArrowheads="1"/>
          </p:cNvSpPr>
          <p:nvPr/>
        </p:nvSpPr>
        <p:spPr bwMode="auto">
          <a:xfrm>
            <a:off x="8256588" y="2708276"/>
            <a:ext cx="19986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endParaRPr lang="en-US" altLang="en-US">
              <a:solidFill>
                <a:srgbClr val="000000"/>
              </a:solidFill>
              <a:latin typeface="Garamond" panose="02020404030301010803" pitchFamily="18" charset="0"/>
              <a:cs typeface="Arial" panose="020B0604020202020204" pitchFamily="34" charset="0"/>
            </a:endParaRPr>
          </a:p>
        </p:txBody>
      </p:sp>
      <p:sp>
        <p:nvSpPr>
          <p:cNvPr id="37894" name="Text Box 6"/>
          <p:cNvSpPr txBox="1">
            <a:spLocks noChangeArrowheads="1"/>
          </p:cNvSpPr>
          <p:nvPr/>
        </p:nvSpPr>
        <p:spPr bwMode="auto">
          <a:xfrm>
            <a:off x="7608888" y="2852738"/>
            <a:ext cx="18399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solidFill>
                <a:srgbClr val="000000"/>
              </a:solidFill>
              <a:latin typeface="Garamond" panose="02020404030301010803" pitchFamily="18" charset="0"/>
              <a:cs typeface="Arial" panose="020B06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noChangeArrowheads="1"/>
          </p:cNvSpPr>
          <p:nvPr>
            <p:ph type="title"/>
          </p:nvPr>
        </p:nvSpPr>
        <p:spPr>
          <a:xfrm>
            <a:off x="2152650" y="233364"/>
            <a:ext cx="7886700" cy="993775"/>
          </a:xfrm>
        </p:spPr>
        <p:txBody>
          <a:bodyPr/>
          <a:lstStyle/>
          <a:p>
            <a:r>
              <a:rPr lang="en-GB" altLang="en-US"/>
              <a:t>Kaplan-Meier curve.</a:t>
            </a:r>
          </a:p>
        </p:txBody>
      </p:sp>
      <p:sp>
        <p:nvSpPr>
          <p:cNvPr id="38915" name="Content Placeholder 2"/>
          <p:cNvSpPr>
            <a:spLocks noGrp="1" noChangeArrowheads="1"/>
          </p:cNvSpPr>
          <p:nvPr>
            <p:ph idx="1"/>
          </p:nvPr>
        </p:nvSpPr>
        <p:spPr>
          <a:xfrm>
            <a:off x="2152650" y="1227139"/>
            <a:ext cx="8047038" cy="5253037"/>
          </a:xfrm>
        </p:spPr>
        <p:txBody>
          <a:bodyPr/>
          <a:lstStyle/>
          <a:p>
            <a:r>
              <a:rPr lang="en-GB" altLang="en-US"/>
              <a:t>Time is plotted on the x-axis and the survival rate is plotted on the y-axis.</a:t>
            </a:r>
          </a:p>
          <a:p>
            <a:endParaRPr lang="en-GB" altLang="en-US"/>
          </a:p>
          <a:p>
            <a:r>
              <a:rPr lang="en-GB" altLang="en-US"/>
              <a:t>The curve is stepwise, dropping at each event time and staying flat between events.</a:t>
            </a:r>
          </a:p>
          <a:p>
            <a:endParaRPr lang="en-GB" altLang="en-US"/>
          </a:p>
          <a:p>
            <a:r>
              <a:rPr lang="en-GB" altLang="en-US"/>
              <a:t>It accounts for censored data, which is crucial in real-world studies.</a:t>
            </a:r>
          </a:p>
          <a:p>
            <a:endParaRPr lang="en-GB" altLang="en-US"/>
          </a:p>
        </p:txBody>
      </p:sp>
      <p:sp>
        <p:nvSpPr>
          <p:cNvPr id="4" name="Slide Number Placeholder 3">
            <a:extLst>
              <a:ext uri="{FF2B5EF4-FFF2-40B4-BE49-F238E27FC236}">
                <a16:creationId xmlns:a16="http://schemas.microsoft.com/office/drawing/2014/main" id="{9E44F68A-C47F-42A3-ABE7-79DA6909EB2A}"/>
              </a:ext>
            </a:extLst>
          </p:cNvPr>
          <p:cNvSpPr>
            <a:spLocks noGrp="1"/>
          </p:cNvSpPr>
          <p:nvPr>
            <p:ph type="sldNum" sz="quarter" idx="12"/>
          </p:nvPr>
        </p:nvSpPr>
        <p:spPr/>
        <p:txBody>
          <a:bodyPr/>
          <a:lstStyle/>
          <a:p>
            <a:pPr>
              <a:defRPr/>
            </a:pPr>
            <a:fld id="{3FE37387-9FBD-4892-A3A8-ACB577127862}" type="slidenum">
              <a:rPr lang="en-GB" altLang="en-US" smtClean="0"/>
              <a:pPr>
                <a:defRPr/>
              </a:pPr>
              <a:t>29</a:t>
            </a:fld>
            <a:endParaRPr lang="en-GB"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noChangeArrowheads="1"/>
          </p:cNvSpPr>
          <p:nvPr>
            <p:ph type="title"/>
          </p:nvPr>
        </p:nvSpPr>
        <p:spPr>
          <a:xfrm>
            <a:off x="2135189" y="452438"/>
            <a:ext cx="7850187" cy="671512"/>
          </a:xfrm>
        </p:spPr>
        <p:txBody>
          <a:bodyPr>
            <a:normAutofit fontScale="90000"/>
          </a:bodyPr>
          <a:lstStyle/>
          <a:p>
            <a:pPr eaLnBrk="1" hangingPunct="1"/>
            <a:r>
              <a:rPr lang="en-GB" altLang="en-US"/>
              <a:t>Kaplan-Meier curve.</a:t>
            </a:r>
            <a:endParaRPr lang="en-US" altLang="en-US"/>
          </a:p>
        </p:txBody>
      </p:sp>
      <p:sp>
        <p:nvSpPr>
          <p:cNvPr id="3" name="Content Placeholder 2">
            <a:extLst>
              <a:ext uri="{FF2B5EF4-FFF2-40B4-BE49-F238E27FC236}">
                <a16:creationId xmlns:a16="http://schemas.microsoft.com/office/drawing/2014/main" id="{C14F84D5-9B00-4A0E-B25B-EDE9F293753B}"/>
              </a:ext>
            </a:extLst>
          </p:cNvPr>
          <p:cNvSpPr>
            <a:spLocks noGrp="1"/>
          </p:cNvSpPr>
          <p:nvPr>
            <p:ph idx="1"/>
          </p:nvPr>
        </p:nvSpPr>
        <p:spPr>
          <a:xfrm>
            <a:off x="1717675" y="1196976"/>
            <a:ext cx="8699500" cy="4968875"/>
          </a:xfrm>
        </p:spPr>
        <p:txBody>
          <a:bodyPr rtlCol="0"/>
          <a:lstStyle/>
          <a:p>
            <a:pPr algn="just" eaLnBrk="1" fontAlgn="auto" hangingPunct="1">
              <a:spcAft>
                <a:spcPts val="0"/>
              </a:spcAft>
              <a:defRPr/>
            </a:pPr>
            <a:r>
              <a:rPr lang="en-US" dirty="0">
                <a:cs typeface="+mn-cs"/>
              </a:rPr>
              <a:t>The Kaplan Meier curve shows what the probability of an event (for example, survival) is at a certain time interval.</a:t>
            </a:r>
          </a:p>
          <a:p>
            <a:pPr marL="0" indent="0" algn="just" eaLnBrk="1" fontAlgn="auto" hangingPunct="1">
              <a:spcAft>
                <a:spcPts val="0"/>
              </a:spcAft>
              <a:buNone/>
              <a:defRPr/>
            </a:pPr>
            <a:endParaRPr lang="en-US" dirty="0">
              <a:cs typeface="+mn-cs"/>
            </a:endParaRPr>
          </a:p>
          <a:p>
            <a:pPr algn="just" eaLnBrk="1" fontAlgn="auto" hangingPunct="1">
              <a:spcAft>
                <a:spcPts val="0"/>
              </a:spcAft>
              <a:defRPr/>
            </a:pPr>
            <a:r>
              <a:rPr lang="en-US" dirty="0">
                <a:cs typeface="+mn-cs"/>
              </a:rPr>
              <a:t>Kaplan-Meier analysis allows you to quickly obtain a population survival curve and essential statistics such as the median survival time. </a:t>
            </a:r>
          </a:p>
          <a:p>
            <a:pPr algn="just" eaLnBrk="1" fontAlgn="auto" hangingPunct="1">
              <a:spcAft>
                <a:spcPts val="0"/>
              </a:spcAft>
              <a:defRPr/>
            </a:pPr>
            <a:endParaRPr lang="en-US" dirty="0">
              <a:cs typeface="+mn-cs"/>
            </a:endParaRPr>
          </a:p>
          <a:p>
            <a:pPr algn="just" eaLnBrk="1" fontAlgn="auto" hangingPunct="1">
              <a:spcAft>
                <a:spcPts val="0"/>
              </a:spcAft>
              <a:defRPr/>
            </a:pPr>
            <a:r>
              <a:rPr lang="en-US" dirty="0">
                <a:cs typeface="+mn-cs"/>
              </a:rPr>
              <a:t>Kaplan-Meier analysis is used to analyze how a given population evolves with time. </a:t>
            </a:r>
          </a:p>
        </p:txBody>
      </p:sp>
      <p:sp>
        <p:nvSpPr>
          <p:cNvPr id="4" name="Slide Number Placeholder 3">
            <a:extLst>
              <a:ext uri="{FF2B5EF4-FFF2-40B4-BE49-F238E27FC236}">
                <a16:creationId xmlns:a16="http://schemas.microsoft.com/office/drawing/2014/main" id="{710ECAC0-B5B7-488C-99A5-E2A66CD2B39A}"/>
              </a:ext>
            </a:extLst>
          </p:cNvPr>
          <p:cNvSpPr>
            <a:spLocks noGrp="1"/>
          </p:cNvSpPr>
          <p:nvPr>
            <p:ph type="sldNum" sz="quarter" idx="12"/>
          </p:nvPr>
        </p:nvSpPr>
        <p:spPr/>
        <p:txBody>
          <a:bodyPr/>
          <a:lstStyle/>
          <a:p>
            <a:pPr>
              <a:defRPr/>
            </a:pPr>
            <a:fld id="{49A4EFF3-A96D-46D4-8FEF-3A549C55FB71}" type="slidenum">
              <a:rPr lang="en-US"/>
              <a:pPr>
                <a:defRPr/>
              </a:pPr>
              <a:t>30</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noChangeArrowheads="1"/>
          </p:cNvSpPr>
          <p:nvPr>
            <p:ph type="title"/>
          </p:nvPr>
        </p:nvSpPr>
        <p:spPr>
          <a:xfrm>
            <a:off x="2152650" y="300039"/>
            <a:ext cx="8047038" cy="896937"/>
          </a:xfrm>
        </p:spPr>
        <p:txBody>
          <a:bodyPr/>
          <a:lstStyle/>
          <a:p>
            <a:r>
              <a:rPr lang="en-GB" altLang="en-US"/>
              <a:t>Kaplan-Meier curve</a:t>
            </a:r>
          </a:p>
        </p:txBody>
      </p:sp>
      <p:sp>
        <p:nvSpPr>
          <p:cNvPr id="40963" name="Content Placeholder 2"/>
          <p:cNvSpPr>
            <a:spLocks noGrp="1" noChangeArrowheads="1"/>
          </p:cNvSpPr>
          <p:nvPr>
            <p:ph idx="1"/>
          </p:nvPr>
        </p:nvSpPr>
        <p:spPr>
          <a:xfrm>
            <a:off x="1919288" y="1412875"/>
            <a:ext cx="8280400" cy="4870450"/>
          </a:xfrm>
        </p:spPr>
        <p:txBody>
          <a:bodyPr/>
          <a:lstStyle/>
          <a:p>
            <a:pPr algn="just"/>
            <a:r>
              <a:rPr lang="en-GB" altLang="en-US" dirty="0"/>
              <a:t>In our breast cancer example, our interest is to see the probability of someone being in remission past a certain time point. </a:t>
            </a:r>
          </a:p>
          <a:p>
            <a:pPr algn="just"/>
            <a:r>
              <a:rPr lang="en-GB" altLang="en-US" dirty="0"/>
              <a:t>With time plotted on the x-axis. The Kaplan-Meier can graphically show probability of being in remission at 6, 12, 18, 24 months</a:t>
            </a:r>
          </a:p>
          <a:p>
            <a:pPr algn="just"/>
            <a:endParaRPr lang="en-GB" altLang="en-US" dirty="0"/>
          </a:p>
          <a:p>
            <a:pPr algn="just"/>
            <a:endParaRPr lang="en-GB" altLang="en-US" dirty="0"/>
          </a:p>
        </p:txBody>
      </p:sp>
      <p:sp>
        <p:nvSpPr>
          <p:cNvPr id="4" name="Slide Number Placeholder 3">
            <a:extLst>
              <a:ext uri="{FF2B5EF4-FFF2-40B4-BE49-F238E27FC236}">
                <a16:creationId xmlns:a16="http://schemas.microsoft.com/office/drawing/2014/main" id="{8BF3590B-AE27-4D34-9BB9-C19E26697FA0}"/>
              </a:ext>
            </a:extLst>
          </p:cNvPr>
          <p:cNvSpPr>
            <a:spLocks noGrp="1"/>
          </p:cNvSpPr>
          <p:nvPr>
            <p:ph type="sldNum" sz="quarter" idx="12"/>
          </p:nvPr>
        </p:nvSpPr>
        <p:spPr/>
        <p:txBody>
          <a:bodyPr/>
          <a:lstStyle/>
          <a:p>
            <a:pPr>
              <a:defRPr/>
            </a:pPr>
            <a:fld id="{7516195A-01BA-459C-99A9-52CCDBC3BE30}" type="slidenum">
              <a:rPr lang="en-GB" altLang="en-US" smtClean="0"/>
              <a:pPr>
                <a:defRPr/>
              </a:pPr>
              <a:t>31</a:t>
            </a:fld>
            <a:endParaRPr lang="en-GB" altLang="en-US" dirty="0"/>
          </a:p>
        </p:txBody>
      </p:sp>
      <p:pic>
        <p:nvPicPr>
          <p:cNvPr id="4096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63976" y="3598864"/>
            <a:ext cx="3395663" cy="2757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noChangeArrowheads="1"/>
          </p:cNvSpPr>
          <p:nvPr>
            <p:ph type="title"/>
          </p:nvPr>
        </p:nvSpPr>
        <p:spPr>
          <a:xfrm>
            <a:off x="2152650" y="300039"/>
            <a:ext cx="7886700" cy="896937"/>
          </a:xfrm>
        </p:spPr>
        <p:txBody>
          <a:bodyPr/>
          <a:lstStyle/>
          <a:p>
            <a:r>
              <a:rPr lang="en-GB" altLang="en-US"/>
              <a:t>Kaplan-Meier curve</a:t>
            </a:r>
          </a:p>
        </p:txBody>
      </p:sp>
      <p:sp>
        <p:nvSpPr>
          <p:cNvPr id="41987" name="Content Placeholder 2"/>
          <p:cNvSpPr>
            <a:spLocks noGrp="1" noChangeArrowheads="1"/>
          </p:cNvSpPr>
          <p:nvPr>
            <p:ph idx="1"/>
          </p:nvPr>
        </p:nvSpPr>
        <p:spPr>
          <a:xfrm>
            <a:off x="2152650" y="1196976"/>
            <a:ext cx="8047038" cy="5013325"/>
          </a:xfrm>
        </p:spPr>
        <p:txBody>
          <a:bodyPr/>
          <a:lstStyle/>
          <a:p>
            <a:r>
              <a:rPr lang="en-GB" altLang="en-US"/>
              <a:t>A steeper slope indicates a higher event rate. If the event is death, then it means worse survival</a:t>
            </a:r>
          </a:p>
          <a:p>
            <a:endParaRPr lang="en-GB" altLang="en-US"/>
          </a:p>
          <a:p>
            <a:r>
              <a:rPr lang="en-GB" altLang="en-US"/>
              <a:t>A flatter slope indicates a lower event rate. In other words, a better survival prognosis</a:t>
            </a:r>
          </a:p>
        </p:txBody>
      </p:sp>
      <p:sp>
        <p:nvSpPr>
          <p:cNvPr id="4" name="Slide Number Placeholder 3">
            <a:extLst>
              <a:ext uri="{FF2B5EF4-FFF2-40B4-BE49-F238E27FC236}">
                <a16:creationId xmlns:a16="http://schemas.microsoft.com/office/drawing/2014/main" id="{F269D80B-C39A-407A-82A4-D7DE174424DB}"/>
              </a:ext>
            </a:extLst>
          </p:cNvPr>
          <p:cNvSpPr>
            <a:spLocks noGrp="1"/>
          </p:cNvSpPr>
          <p:nvPr>
            <p:ph type="sldNum" sz="quarter" idx="12"/>
          </p:nvPr>
        </p:nvSpPr>
        <p:spPr/>
        <p:txBody>
          <a:bodyPr/>
          <a:lstStyle/>
          <a:p>
            <a:pPr>
              <a:defRPr/>
            </a:pPr>
            <a:fld id="{61DAE8D3-7287-4480-A48F-0180F62FED98}" type="slidenum">
              <a:rPr lang="en-GB" altLang="en-US" smtClean="0"/>
              <a:pPr>
                <a:defRPr/>
              </a:pPr>
              <a:t>32</a:t>
            </a:fld>
            <a:endParaRPr lang="en-GB" altLang="en-US" dirty="0"/>
          </a:p>
        </p:txBody>
      </p:sp>
      <p:pic>
        <p:nvPicPr>
          <p:cNvPr id="41989"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4113" y="3429000"/>
            <a:ext cx="7054850" cy="203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9314" name="Rectangle 2">
            <a:extLst>
              <a:ext uri="{FF2B5EF4-FFF2-40B4-BE49-F238E27FC236}">
                <a16:creationId xmlns:a16="http://schemas.microsoft.com/office/drawing/2014/main" id="{33775E77-E04C-43DA-B1C1-4C24E4DF0822}"/>
              </a:ext>
            </a:extLst>
          </p:cNvPr>
          <p:cNvSpPr>
            <a:spLocks noGrp="1" noRot="1" noChangeArrowheads="1"/>
          </p:cNvSpPr>
          <p:nvPr>
            <p:ph type="title"/>
          </p:nvPr>
        </p:nvSpPr>
        <p:spPr>
          <a:xfrm>
            <a:off x="2209801" y="136525"/>
            <a:ext cx="8062913" cy="915988"/>
          </a:xfrm>
        </p:spPr>
        <p:txBody>
          <a:bodyPr rtlCol="0">
            <a:normAutofit/>
          </a:bodyPr>
          <a:lstStyle/>
          <a:p>
            <a:pPr eaLnBrk="1" fontAlgn="auto" hangingPunct="1">
              <a:spcAft>
                <a:spcPts val="0"/>
              </a:spcAft>
              <a:defRPr/>
            </a:pPr>
            <a:r>
              <a:rPr lang="en-GB" sz="3200" dirty="0"/>
              <a:t>The Survival Function – </a:t>
            </a:r>
            <a:r>
              <a:rPr lang="en-GB" sz="3200" i="1" dirty="0"/>
              <a:t>Kaplan-Meier Method</a:t>
            </a:r>
          </a:p>
        </p:txBody>
      </p:sp>
      <p:sp>
        <p:nvSpPr>
          <p:cNvPr id="269315" name="Rectangle 3">
            <a:extLst>
              <a:ext uri="{FF2B5EF4-FFF2-40B4-BE49-F238E27FC236}">
                <a16:creationId xmlns:a16="http://schemas.microsoft.com/office/drawing/2014/main" id="{B09C9650-EB3B-4C19-9293-9791F915D1C1}"/>
              </a:ext>
            </a:extLst>
          </p:cNvPr>
          <p:cNvSpPr>
            <a:spLocks noGrp="1" noChangeArrowheads="1"/>
          </p:cNvSpPr>
          <p:nvPr>
            <p:ph idx="1"/>
          </p:nvPr>
        </p:nvSpPr>
        <p:spPr>
          <a:xfrm>
            <a:off x="2152650" y="1196976"/>
            <a:ext cx="7886700" cy="5256213"/>
          </a:xfrm>
        </p:spPr>
        <p:txBody>
          <a:bodyPr rtlCol="0">
            <a:normAutofit fontScale="92500" lnSpcReduction="10000"/>
          </a:bodyPr>
          <a:lstStyle/>
          <a:p>
            <a:pPr eaLnBrk="1" fontAlgn="auto" hangingPunct="1">
              <a:spcAft>
                <a:spcPts val="0"/>
              </a:spcAft>
              <a:defRPr/>
            </a:pPr>
            <a:r>
              <a:rPr lang="en-GB" dirty="0">
                <a:cs typeface="+mn-cs"/>
              </a:rPr>
              <a:t>The table below uses the Kaplan-Meier approach to present the same data that was presented above using the life table approach</a:t>
            </a:r>
          </a:p>
          <a:p>
            <a:pPr eaLnBrk="1" fontAlgn="auto" hangingPunct="1">
              <a:spcAft>
                <a:spcPts val="0"/>
              </a:spcAft>
              <a:defRPr/>
            </a:pPr>
            <a:endParaRPr lang="en-GB" dirty="0">
              <a:cs typeface="+mn-cs"/>
            </a:endParaRPr>
          </a:p>
          <a:p>
            <a:pPr eaLnBrk="1" fontAlgn="auto" hangingPunct="1">
              <a:spcAft>
                <a:spcPts val="0"/>
              </a:spcAft>
              <a:defRPr/>
            </a:pPr>
            <a:r>
              <a:rPr lang="en-GB" dirty="0">
                <a:cs typeface="+mn-cs"/>
              </a:rPr>
              <a:t>Note that we start the table with Time=0 and Survival Probability = 1. </a:t>
            </a:r>
          </a:p>
          <a:p>
            <a:pPr eaLnBrk="1" fontAlgn="auto" hangingPunct="1">
              <a:spcAft>
                <a:spcPts val="0"/>
              </a:spcAft>
              <a:defRPr/>
            </a:pPr>
            <a:endParaRPr lang="en-GB" dirty="0">
              <a:cs typeface="+mn-cs"/>
            </a:endParaRPr>
          </a:p>
          <a:p>
            <a:pPr eaLnBrk="1" fontAlgn="auto" hangingPunct="1">
              <a:spcAft>
                <a:spcPts val="0"/>
              </a:spcAft>
              <a:defRPr/>
            </a:pPr>
            <a:r>
              <a:rPr lang="en-GB" dirty="0">
                <a:cs typeface="+mn-cs"/>
              </a:rPr>
              <a:t>At Time=0 (baseline, or the start of the study), all participants are at risk and the survival probability is 1 (or 100%). </a:t>
            </a:r>
          </a:p>
          <a:p>
            <a:pPr eaLnBrk="1" fontAlgn="auto" hangingPunct="1">
              <a:spcAft>
                <a:spcPts val="0"/>
              </a:spcAft>
              <a:defRPr/>
            </a:pPr>
            <a:endParaRPr lang="en-GB" dirty="0">
              <a:cs typeface="+mn-cs"/>
            </a:endParaRPr>
          </a:p>
          <a:p>
            <a:pPr eaLnBrk="1" fontAlgn="auto" hangingPunct="1">
              <a:spcAft>
                <a:spcPts val="0"/>
              </a:spcAft>
              <a:defRPr/>
            </a:pPr>
            <a:r>
              <a:rPr lang="en-GB" dirty="0">
                <a:cs typeface="+mn-cs"/>
              </a:rPr>
              <a:t>With the Kaplan-Meier approach, the survival probability is computed using S</a:t>
            </a:r>
            <a:r>
              <a:rPr lang="en-GB" baseline="-25000" dirty="0">
                <a:cs typeface="+mn-cs"/>
              </a:rPr>
              <a:t>t+1 </a:t>
            </a:r>
            <a:r>
              <a:rPr lang="en-GB" dirty="0">
                <a:cs typeface="+mn-cs"/>
              </a:rPr>
              <a:t>= S</a:t>
            </a:r>
            <a:r>
              <a:rPr lang="en-GB" baseline="-25000" dirty="0">
                <a:cs typeface="+mn-cs"/>
              </a:rPr>
              <a:t>t</a:t>
            </a:r>
            <a:r>
              <a:rPr lang="en-GB" dirty="0">
                <a:cs typeface="+mn-cs"/>
              </a:rPr>
              <a:t>*((N</a:t>
            </a:r>
            <a:r>
              <a:rPr lang="en-GB" baseline="-25000" dirty="0">
                <a:cs typeface="+mn-cs"/>
              </a:rPr>
              <a:t>t+1</a:t>
            </a:r>
            <a:r>
              <a:rPr lang="en-GB" dirty="0">
                <a:cs typeface="+mn-cs"/>
              </a:rPr>
              <a:t>-D</a:t>
            </a:r>
            <a:r>
              <a:rPr lang="en-GB" baseline="-25000" dirty="0">
                <a:cs typeface="+mn-cs"/>
              </a:rPr>
              <a:t>t+1</a:t>
            </a:r>
            <a:r>
              <a:rPr lang="en-GB" dirty="0">
                <a:cs typeface="+mn-cs"/>
              </a:rPr>
              <a:t>)/N</a:t>
            </a:r>
            <a:r>
              <a:rPr lang="en-GB" baseline="-25000" dirty="0">
                <a:cs typeface="+mn-cs"/>
              </a:rPr>
              <a:t>t+1</a:t>
            </a:r>
            <a:r>
              <a:rPr lang="en-GB" dirty="0">
                <a:cs typeface="+mn-cs"/>
              </a:rPr>
              <a:t>). </a:t>
            </a:r>
          </a:p>
        </p:txBody>
      </p:sp>
      <p:sp>
        <p:nvSpPr>
          <p:cNvPr id="43012"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F781208A-32B6-4111-B6E3-7843973C9C05}" type="slidenum">
              <a:rPr lang="en-GB" altLang="en-US" sz="1200">
                <a:latin typeface="Arial" panose="020B0604020202020204" pitchFamily="34" charset="0"/>
                <a:cs typeface="Arial" panose="020B0604020202020204" pitchFamily="34" charset="0"/>
              </a:rPr>
              <a:pPr fontAlgn="base">
                <a:spcBef>
                  <a:spcPct val="0"/>
                </a:spcBef>
                <a:spcAft>
                  <a:spcPct val="0"/>
                </a:spcAft>
              </a:pPr>
              <a:t>33</a:t>
            </a:fld>
            <a:endParaRPr lang="en-GB" altLang="en-US" sz="1200">
              <a:latin typeface="Arial" panose="020B0604020202020204" pitchFamily="34" charset="0"/>
              <a:cs typeface="Arial" panose="020B0604020202020204" pitchFamily="34" charset="0"/>
            </a:endParaRPr>
          </a:p>
        </p:txBody>
      </p:sp>
      <p:sp>
        <p:nvSpPr>
          <p:cNvPr id="43013" name="Text Box 5"/>
          <p:cNvSpPr txBox="1">
            <a:spLocks noChangeArrowheads="1"/>
          </p:cNvSpPr>
          <p:nvPr/>
        </p:nvSpPr>
        <p:spPr bwMode="auto">
          <a:xfrm>
            <a:off x="8256588" y="2708276"/>
            <a:ext cx="19986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endParaRPr lang="en-US" altLang="en-US">
              <a:latin typeface="Garamond" panose="02020404030301010803" pitchFamily="18" charset="0"/>
              <a:cs typeface="Arial" panose="020B0604020202020204" pitchFamily="34" charset="0"/>
            </a:endParaRPr>
          </a:p>
        </p:txBody>
      </p:sp>
      <p:sp>
        <p:nvSpPr>
          <p:cNvPr id="43014" name="Text Box 6"/>
          <p:cNvSpPr txBox="1">
            <a:spLocks noChangeArrowheads="1"/>
          </p:cNvSpPr>
          <p:nvPr/>
        </p:nvSpPr>
        <p:spPr bwMode="auto">
          <a:xfrm>
            <a:off x="7608888" y="2852738"/>
            <a:ext cx="18399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latin typeface="Garamond" panose="02020404030301010803" pitchFamily="18" charset="0"/>
              <a:cs typeface="Arial" panose="020B060402020202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5C3E1-5169-4EB1-B3CF-DFDB8EDCBA73}"/>
              </a:ext>
            </a:extLst>
          </p:cNvPr>
          <p:cNvSpPr>
            <a:spLocks noGrp="1"/>
          </p:cNvSpPr>
          <p:nvPr>
            <p:ph type="title"/>
          </p:nvPr>
        </p:nvSpPr>
        <p:spPr>
          <a:xfrm>
            <a:off x="1631951" y="300038"/>
            <a:ext cx="8856663" cy="825500"/>
          </a:xfrm>
        </p:spPr>
        <p:txBody>
          <a:bodyPr rtlCol="0">
            <a:normAutofit fontScale="90000"/>
          </a:bodyPr>
          <a:lstStyle/>
          <a:p>
            <a:pPr eaLnBrk="1" fontAlgn="auto" hangingPunct="1">
              <a:spcAft>
                <a:spcPts val="0"/>
              </a:spcAft>
              <a:defRPr/>
            </a:pPr>
            <a:r>
              <a:rPr lang="en-GB" dirty="0"/>
              <a:t>The Survival Function – </a:t>
            </a:r>
            <a:r>
              <a:rPr lang="en-GB" i="1" dirty="0"/>
              <a:t>Kaplan-Meier Method</a:t>
            </a:r>
            <a:endParaRPr lang="en-KE" b="1" dirty="0"/>
          </a:p>
        </p:txBody>
      </p:sp>
      <p:graphicFrame>
        <p:nvGraphicFramePr>
          <p:cNvPr id="24" name="Content Placeholder 23">
            <a:extLst>
              <a:ext uri="{FF2B5EF4-FFF2-40B4-BE49-F238E27FC236}">
                <a16:creationId xmlns:a16="http://schemas.microsoft.com/office/drawing/2014/main" id="{C05E6F07-86FD-4575-815A-9E47C6EBEA6E}"/>
              </a:ext>
            </a:extLst>
          </p:cNvPr>
          <p:cNvGraphicFramePr>
            <a:graphicFrameLocks noGrp="1"/>
          </p:cNvGraphicFramePr>
          <p:nvPr>
            <p:ph idx="1"/>
          </p:nvPr>
        </p:nvGraphicFramePr>
        <p:xfrm>
          <a:off x="2181226" y="1112838"/>
          <a:ext cx="7947025" cy="5195892"/>
        </p:xfrm>
        <a:graphic>
          <a:graphicData uri="http://schemas.openxmlformats.org/drawingml/2006/table">
            <a:tbl>
              <a:tblPr firstRow="1" firstCol="1" bandRow="1"/>
              <a:tblGrid>
                <a:gridCol w="1187104">
                  <a:extLst>
                    <a:ext uri="{9D8B030D-6E8A-4147-A177-3AD203B41FA5}">
                      <a16:colId xmlns:a16="http://schemas.microsoft.com/office/drawing/2014/main" val="2570623977"/>
                    </a:ext>
                  </a:extLst>
                </a:gridCol>
                <a:gridCol w="1523735">
                  <a:extLst>
                    <a:ext uri="{9D8B030D-6E8A-4147-A177-3AD203B41FA5}">
                      <a16:colId xmlns:a16="http://schemas.microsoft.com/office/drawing/2014/main" val="3725990560"/>
                    </a:ext>
                  </a:extLst>
                </a:gridCol>
                <a:gridCol w="1596293">
                  <a:extLst>
                    <a:ext uri="{9D8B030D-6E8A-4147-A177-3AD203B41FA5}">
                      <a16:colId xmlns:a16="http://schemas.microsoft.com/office/drawing/2014/main" val="1256950341"/>
                    </a:ext>
                  </a:extLst>
                </a:gridCol>
                <a:gridCol w="1088382">
                  <a:extLst>
                    <a:ext uri="{9D8B030D-6E8A-4147-A177-3AD203B41FA5}">
                      <a16:colId xmlns:a16="http://schemas.microsoft.com/office/drawing/2014/main" val="3367046232"/>
                    </a:ext>
                  </a:extLst>
                </a:gridCol>
                <a:gridCol w="2551511">
                  <a:extLst>
                    <a:ext uri="{9D8B030D-6E8A-4147-A177-3AD203B41FA5}">
                      <a16:colId xmlns:a16="http://schemas.microsoft.com/office/drawing/2014/main" val="1701761062"/>
                    </a:ext>
                  </a:extLst>
                </a:gridCol>
              </a:tblGrid>
              <a:tr h="884316">
                <a:tc>
                  <a:txBody>
                    <a:bodyPr/>
                    <a:lstStyle/>
                    <a:p>
                      <a:pPr algn="ctr">
                        <a:lnSpc>
                          <a:spcPct val="107000"/>
                        </a:lnSpc>
                        <a:spcBef>
                          <a:spcPts val="480"/>
                        </a:spcBef>
                        <a:spcAft>
                          <a:spcPts val="480"/>
                        </a:spcAft>
                      </a:pPr>
                      <a:r>
                        <a:rPr lang="en-GB" sz="14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a:t>
                      </a:r>
                      <a:r>
                        <a:rPr lang="en-KE" sz="1400" b="1" dirty="0" err="1">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ime</a:t>
                      </a:r>
                      <a:r>
                        <a:rPr lang="en-KE" sz="14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Years</a:t>
                      </a:r>
                      <a:endParaRPr lang="en-K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b="1">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Number at Risk</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Bef>
                          <a:spcPts val="480"/>
                        </a:spcBef>
                        <a:spcAft>
                          <a:spcPts val="480"/>
                        </a:spcAft>
                      </a:pPr>
                      <a:r>
                        <a:rPr lang="en-KE" sz="1400" b="1">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Nt</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b="1">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Number of Deaths</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Bef>
                          <a:spcPts val="480"/>
                        </a:spcBef>
                        <a:spcAft>
                          <a:spcPts val="480"/>
                        </a:spcAft>
                      </a:pPr>
                      <a:r>
                        <a:rPr lang="en-KE" sz="1400" b="1">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Dt</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b="1">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Number Censored</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Bef>
                          <a:spcPts val="480"/>
                        </a:spcBef>
                        <a:spcAft>
                          <a:spcPts val="480"/>
                        </a:spcAft>
                      </a:pPr>
                      <a:r>
                        <a:rPr lang="en-KE" sz="1400" b="1">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Ct</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b="1">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Survival Probability</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Bef>
                          <a:spcPts val="480"/>
                        </a:spcBef>
                        <a:spcAft>
                          <a:spcPts val="480"/>
                        </a:spcAft>
                      </a:pPr>
                      <a:r>
                        <a:rPr lang="en-KE" sz="1400" b="1">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S</a:t>
                      </a:r>
                      <a:r>
                        <a:rPr lang="en-KE" sz="1400" b="1" baseline="-25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t+1</a:t>
                      </a:r>
                      <a:r>
                        <a:rPr lang="en-KE" sz="1400" b="1">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 S</a:t>
                      </a:r>
                      <a:r>
                        <a:rPr lang="en-KE" sz="1400" b="1" baseline="-25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a:t>
                      </a:r>
                      <a:r>
                        <a:rPr lang="en-KE" sz="1400" b="1">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*((N</a:t>
                      </a:r>
                      <a:r>
                        <a:rPr lang="en-KE" sz="1400" b="1" baseline="-25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t+1</a:t>
                      </a:r>
                      <a:r>
                        <a:rPr lang="en-KE" sz="1400" b="1">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-D</a:t>
                      </a:r>
                      <a:r>
                        <a:rPr lang="en-KE" sz="1400" b="1" baseline="-25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t+1</a:t>
                      </a:r>
                      <a:r>
                        <a:rPr lang="en-KE" sz="1400" b="1">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)/N</a:t>
                      </a:r>
                      <a:r>
                        <a:rPr lang="en-KE" sz="1400" b="1" baseline="-25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t+1</a:t>
                      </a:r>
                      <a:r>
                        <a:rPr lang="en-KE" sz="1400" b="1">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79311186"/>
                  </a:ext>
                </a:extLst>
              </a:tr>
              <a:tr h="239532">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20</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K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a:t>
                      </a:r>
                      <a:endParaRPr lang="en-K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76222325"/>
                  </a:ext>
                </a:extLst>
              </a:tr>
              <a:tr h="239532">
                <a:tc>
                  <a:txBody>
                    <a:bodyPr/>
                    <a:lstStyle/>
                    <a:p>
                      <a:pPr algn="ctr">
                        <a:lnSpc>
                          <a:spcPct val="107000"/>
                        </a:lnSpc>
                        <a:spcBef>
                          <a:spcPts val="480"/>
                        </a:spcBef>
                        <a:spcAft>
                          <a:spcPts val="480"/>
                        </a:spcAft>
                      </a:pPr>
                      <a:r>
                        <a:rPr lang="en-KE"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a:t>
                      </a:r>
                      <a:endParaRPr lang="en-K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20</a:t>
                      </a:r>
                      <a:endParaRPr lang="en-K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a:t>
                      </a:r>
                      <a:endParaRPr lang="en-K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K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1*((20-1)/20) = 0.950</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6894505"/>
                  </a:ext>
                </a:extLst>
              </a:tr>
              <a:tr h="239532">
                <a:tc>
                  <a:txBody>
                    <a:bodyPr/>
                    <a:lstStyle/>
                    <a:p>
                      <a:pPr algn="ctr">
                        <a:lnSpc>
                          <a:spcPct val="107000"/>
                        </a:lnSpc>
                        <a:spcBef>
                          <a:spcPts val="480"/>
                        </a:spcBef>
                        <a:spcAft>
                          <a:spcPts val="480"/>
                        </a:spcAft>
                      </a:pPr>
                      <a:r>
                        <a:rPr lang="en-KE"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2</a:t>
                      </a:r>
                      <a:endParaRPr lang="en-K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19</a:t>
                      </a:r>
                      <a:endParaRPr lang="en-K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a:t>
                      </a:r>
                      <a:endParaRPr lang="en-K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0.950*((19-0)/19)=0.950</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1797854"/>
                  </a:ext>
                </a:extLst>
              </a:tr>
              <a:tr h="239532">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3</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18</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0.950*((18-1)/18) = 0.897</a:t>
                      </a:r>
                      <a:endParaRPr lang="en-K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90869189"/>
                  </a:ext>
                </a:extLst>
              </a:tr>
              <a:tr h="239532">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5</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17</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0.897*((17-1)/17) = 0.844</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62868545"/>
                  </a:ext>
                </a:extLst>
              </a:tr>
              <a:tr h="239532">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6</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16</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0.844</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40043797"/>
                  </a:ext>
                </a:extLst>
              </a:tr>
              <a:tr h="239532">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9</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15</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0.844</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90901739"/>
                  </a:ext>
                </a:extLst>
              </a:tr>
              <a:tr h="239532">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10</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14</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0.844</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10536512"/>
                  </a:ext>
                </a:extLst>
              </a:tr>
              <a:tr h="239532">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11</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13</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0.844</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77235121"/>
                  </a:ext>
                </a:extLst>
              </a:tr>
              <a:tr h="239532">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12</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12</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0.844</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5525887"/>
                  </a:ext>
                </a:extLst>
              </a:tr>
              <a:tr h="239532">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13</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11</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0.844</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98941922"/>
                  </a:ext>
                </a:extLst>
              </a:tr>
              <a:tr h="239532">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14</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10</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0.760</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19053868"/>
                  </a:ext>
                </a:extLst>
              </a:tr>
              <a:tr h="239532">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17</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9</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0.676</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90735703"/>
                  </a:ext>
                </a:extLst>
              </a:tr>
              <a:tr h="239532">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18</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7</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0.676</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85238035"/>
                  </a:ext>
                </a:extLst>
              </a:tr>
              <a:tr h="239532">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19</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6</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0.676</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34119935"/>
                  </a:ext>
                </a:extLst>
              </a:tr>
              <a:tr h="239532">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21</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5</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0.676</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65900086"/>
                  </a:ext>
                </a:extLst>
              </a:tr>
              <a:tr h="239532">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23</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4</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0.507</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72599011"/>
                  </a:ext>
                </a:extLst>
              </a:tr>
              <a:tr h="239532">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24</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3</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3</a:t>
                      </a:r>
                      <a:endParaRPr lang="en-KE" sz="140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480"/>
                        </a:spcBef>
                        <a:spcAft>
                          <a:spcPts val="480"/>
                        </a:spcAft>
                      </a:pPr>
                      <a:r>
                        <a:rPr lang="en-KE"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0.507</a:t>
                      </a:r>
                      <a:endParaRPr lang="en-K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36484582"/>
                  </a:ext>
                </a:extLst>
              </a:tr>
            </a:tbl>
          </a:graphicData>
        </a:graphic>
      </p:graphicFrame>
      <p:sp>
        <p:nvSpPr>
          <p:cNvPr id="4" name="Slide Number Placeholder 3">
            <a:extLst>
              <a:ext uri="{FF2B5EF4-FFF2-40B4-BE49-F238E27FC236}">
                <a16:creationId xmlns:a16="http://schemas.microsoft.com/office/drawing/2014/main" id="{0DA9CF94-9DF1-41A1-A61C-9512A07F506E}"/>
              </a:ext>
            </a:extLst>
          </p:cNvPr>
          <p:cNvSpPr>
            <a:spLocks noGrp="1"/>
          </p:cNvSpPr>
          <p:nvPr>
            <p:ph type="sldNum" sz="quarter" idx="12"/>
          </p:nvPr>
        </p:nvSpPr>
        <p:spPr/>
        <p:txBody>
          <a:bodyPr/>
          <a:lstStyle/>
          <a:p>
            <a:pPr>
              <a:defRPr/>
            </a:pPr>
            <a:fld id="{292977E4-8D35-4F65-9611-EB352D62CF66}" type="slidenum">
              <a:rPr lang="en-GB" altLang="en-US"/>
              <a:pPr>
                <a:defRPr/>
              </a:pPr>
              <a:t>34</a:t>
            </a:fld>
            <a:endParaRPr lang="en-GB"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0341" name="Rectangle 5">
            <a:extLst>
              <a:ext uri="{FF2B5EF4-FFF2-40B4-BE49-F238E27FC236}">
                <a16:creationId xmlns:a16="http://schemas.microsoft.com/office/drawing/2014/main" id="{871065B5-88C8-4811-B495-BAD5E7252FF4}"/>
              </a:ext>
            </a:extLst>
          </p:cNvPr>
          <p:cNvSpPr>
            <a:spLocks noGrp="1" noRot="1" noChangeArrowheads="1"/>
          </p:cNvSpPr>
          <p:nvPr>
            <p:ph type="title"/>
          </p:nvPr>
        </p:nvSpPr>
        <p:spPr>
          <a:xfrm>
            <a:off x="2209800" y="457201"/>
            <a:ext cx="8134350" cy="595313"/>
          </a:xfrm>
        </p:spPr>
        <p:txBody>
          <a:bodyPr rtlCol="0">
            <a:normAutofit/>
          </a:bodyPr>
          <a:lstStyle/>
          <a:p>
            <a:pPr eaLnBrk="1" fontAlgn="auto" hangingPunct="1">
              <a:spcAft>
                <a:spcPts val="0"/>
              </a:spcAft>
              <a:defRPr/>
            </a:pPr>
            <a:r>
              <a:rPr lang="en-GB" sz="3200"/>
              <a:t>The Survival Function – </a:t>
            </a:r>
            <a:r>
              <a:rPr lang="en-GB" sz="3200" i="1"/>
              <a:t>Kaplan-Meier Method</a:t>
            </a:r>
          </a:p>
        </p:txBody>
      </p:sp>
      <p:pic>
        <p:nvPicPr>
          <p:cNvPr id="45060" name="Content Placeholder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809751" y="1241425"/>
            <a:ext cx="8251825" cy="5297488"/>
          </a:xfrm>
        </p:spPr>
      </p:pic>
      <p:sp>
        <p:nvSpPr>
          <p:cNvPr id="45059"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D9DEF2A4-1BFE-42EE-A427-5DBEEB6CF234}" type="slidenum">
              <a:rPr lang="en-GB" altLang="en-US" sz="1200">
                <a:latin typeface="Arial" panose="020B0604020202020204" pitchFamily="34" charset="0"/>
                <a:cs typeface="Arial" panose="020B0604020202020204" pitchFamily="34" charset="0"/>
              </a:rPr>
              <a:pPr fontAlgn="base">
                <a:spcBef>
                  <a:spcPct val="0"/>
                </a:spcBef>
                <a:spcAft>
                  <a:spcPct val="0"/>
                </a:spcAft>
              </a:pPr>
              <a:t>35</a:t>
            </a:fld>
            <a:endParaRPr lang="en-GB" altLang="en-US" sz="1200">
              <a:latin typeface="Arial" panose="020B0604020202020204" pitchFamily="34" charset="0"/>
              <a:cs typeface="Arial" panose="020B060402020202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25" name="Rectangle 5">
            <a:extLst>
              <a:ext uri="{FF2B5EF4-FFF2-40B4-BE49-F238E27FC236}">
                <a16:creationId xmlns:a16="http://schemas.microsoft.com/office/drawing/2014/main" id="{65755021-A6FD-4E22-8860-B0F49090D16E}"/>
              </a:ext>
            </a:extLst>
          </p:cNvPr>
          <p:cNvSpPr>
            <a:spLocks noGrp="1" noRot="1" noChangeArrowheads="1"/>
          </p:cNvSpPr>
          <p:nvPr>
            <p:ph type="title"/>
          </p:nvPr>
        </p:nvSpPr>
        <p:spPr>
          <a:xfrm>
            <a:off x="1981200" y="274638"/>
            <a:ext cx="8229600" cy="595312"/>
          </a:xfrm>
        </p:spPr>
        <p:txBody>
          <a:bodyPr rtlCol="0">
            <a:normAutofit/>
          </a:bodyPr>
          <a:lstStyle/>
          <a:p>
            <a:pPr eaLnBrk="1" fontAlgn="auto" hangingPunct="1">
              <a:spcAft>
                <a:spcPts val="0"/>
              </a:spcAft>
              <a:defRPr/>
            </a:pPr>
            <a:r>
              <a:rPr lang="en-GB" sz="3200" dirty="0"/>
              <a:t>Survival Functions – </a:t>
            </a:r>
            <a:r>
              <a:rPr lang="en-GB" sz="3200" i="1" dirty="0"/>
              <a:t>Comparing Functions</a:t>
            </a:r>
          </a:p>
        </p:txBody>
      </p:sp>
      <p:graphicFrame>
        <p:nvGraphicFramePr>
          <p:cNvPr id="46083" name="Object 4"/>
          <p:cNvGraphicFramePr>
            <a:graphicFrameLocks noGrp="1" noChangeAspect="1"/>
          </p:cNvGraphicFramePr>
          <p:nvPr>
            <p:ph idx="1"/>
          </p:nvPr>
        </p:nvGraphicFramePr>
        <p:xfrm>
          <a:off x="2165350" y="1168400"/>
          <a:ext cx="7861300" cy="5313363"/>
        </p:xfrm>
        <a:graphic>
          <a:graphicData uri="http://schemas.openxmlformats.org/presentationml/2006/ole">
            <mc:AlternateContent xmlns:mc="http://schemas.openxmlformats.org/markup-compatibility/2006">
              <mc:Choice xmlns:v="urn:schemas-microsoft-com:vml" Requires="v">
                <p:oleObj spid="_x0000_s46105" name="Mtb Graph" r:id="rId3" imgW="4441680" imgH="3002040" progId="MinitabGraph.Document">
                  <p:embed/>
                </p:oleObj>
              </mc:Choice>
              <mc:Fallback>
                <p:oleObj name="Mtb Graph" r:id="rId3" imgW="4441680" imgH="3002040" progId="MinitabGraph.Document">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65350" y="1168400"/>
                        <a:ext cx="7861300" cy="531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6084"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F66237FE-2B88-45E9-9EBD-A1E98D232EEB}" type="slidenum">
              <a:rPr lang="en-GB" altLang="en-US" sz="1200">
                <a:latin typeface="Arial" panose="020B0604020202020204" pitchFamily="34" charset="0"/>
                <a:cs typeface="Arial" panose="020B0604020202020204" pitchFamily="34" charset="0"/>
              </a:rPr>
              <a:pPr fontAlgn="base">
                <a:spcBef>
                  <a:spcPct val="0"/>
                </a:spcBef>
                <a:spcAft>
                  <a:spcPct val="0"/>
                </a:spcAft>
              </a:pPr>
              <a:t>36</a:t>
            </a:fld>
            <a:endParaRPr lang="en-GB" altLang="en-US" sz="1200">
              <a:latin typeface="Arial" panose="020B0604020202020204" pitchFamily="34" charset="0"/>
              <a:cs typeface="Arial" panose="020B0604020202020204" pitchFamily="34" charset="0"/>
            </a:endParaRPr>
          </a:p>
        </p:txBody>
      </p:sp>
      <p:sp>
        <p:nvSpPr>
          <p:cNvPr id="286731" name="Freeform 11"/>
          <p:cNvSpPr>
            <a:spLocks/>
          </p:cNvSpPr>
          <p:nvPr/>
        </p:nvSpPr>
        <p:spPr bwMode="auto">
          <a:xfrm>
            <a:off x="3575050" y="1892301"/>
            <a:ext cx="5761038" cy="1897063"/>
          </a:xfrm>
          <a:custGeom>
            <a:avLst/>
            <a:gdLst>
              <a:gd name="T0" fmla="*/ 0 w 3040"/>
              <a:gd name="T1" fmla="*/ 0 h 1270"/>
              <a:gd name="T2" fmla="*/ 2147483646 w 3040"/>
              <a:gd name="T3" fmla="*/ 2147483646 h 1270"/>
              <a:gd name="T4" fmla="*/ 2147483646 w 3040"/>
              <a:gd name="T5" fmla="*/ 2147483646 h 1270"/>
              <a:gd name="T6" fmla="*/ 2147483646 w 3040"/>
              <a:gd name="T7" fmla="*/ 2147483646 h 1270"/>
              <a:gd name="T8" fmla="*/ 2147483646 w 3040"/>
              <a:gd name="T9" fmla="*/ 2147483646 h 1270"/>
              <a:gd name="T10" fmla="*/ 2147483646 w 3040"/>
              <a:gd name="T11" fmla="*/ 2147483646 h 1270"/>
              <a:gd name="T12" fmla="*/ 0 60000 65536"/>
              <a:gd name="T13" fmla="*/ 0 60000 65536"/>
              <a:gd name="T14" fmla="*/ 0 60000 65536"/>
              <a:gd name="T15" fmla="*/ 0 60000 65536"/>
              <a:gd name="T16" fmla="*/ 0 60000 65536"/>
              <a:gd name="T17" fmla="*/ 0 60000 65536"/>
              <a:gd name="T18" fmla="*/ 0 w 3040"/>
              <a:gd name="T19" fmla="*/ 0 h 1270"/>
              <a:gd name="T20" fmla="*/ 3040 w 3040"/>
              <a:gd name="T21" fmla="*/ 1270 h 1270"/>
            </a:gdLst>
            <a:ahLst/>
            <a:cxnLst>
              <a:cxn ang="T12">
                <a:pos x="T0" y="T1"/>
              </a:cxn>
              <a:cxn ang="T13">
                <a:pos x="T2" y="T3"/>
              </a:cxn>
              <a:cxn ang="T14">
                <a:pos x="T4" y="T5"/>
              </a:cxn>
              <a:cxn ang="T15">
                <a:pos x="T6" y="T7"/>
              </a:cxn>
              <a:cxn ang="T16">
                <a:pos x="T8" y="T9"/>
              </a:cxn>
              <a:cxn ang="T17">
                <a:pos x="T10" y="T11"/>
              </a:cxn>
            </a:cxnLst>
            <a:rect l="T18" t="T19" r="T20" b="T21"/>
            <a:pathLst>
              <a:path w="3040" h="1270">
                <a:moveTo>
                  <a:pt x="0" y="0"/>
                </a:moveTo>
                <a:cubicBezTo>
                  <a:pt x="170" y="177"/>
                  <a:pt x="340" y="355"/>
                  <a:pt x="499" y="499"/>
                </a:cubicBezTo>
                <a:cubicBezTo>
                  <a:pt x="658" y="643"/>
                  <a:pt x="794" y="764"/>
                  <a:pt x="953" y="862"/>
                </a:cubicBezTo>
                <a:cubicBezTo>
                  <a:pt x="1112" y="960"/>
                  <a:pt x="1248" y="1029"/>
                  <a:pt x="1452" y="1089"/>
                </a:cubicBezTo>
                <a:cubicBezTo>
                  <a:pt x="1656" y="1149"/>
                  <a:pt x="1913" y="1195"/>
                  <a:pt x="2178" y="1225"/>
                </a:cubicBezTo>
                <a:cubicBezTo>
                  <a:pt x="2443" y="1255"/>
                  <a:pt x="2741" y="1262"/>
                  <a:pt x="3040" y="1270"/>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86732" name="Freeform 12"/>
          <p:cNvSpPr>
            <a:spLocks/>
          </p:cNvSpPr>
          <p:nvPr/>
        </p:nvSpPr>
        <p:spPr bwMode="auto">
          <a:xfrm>
            <a:off x="3214688" y="2060575"/>
            <a:ext cx="5618162" cy="3455988"/>
          </a:xfrm>
          <a:custGeom>
            <a:avLst/>
            <a:gdLst>
              <a:gd name="T0" fmla="*/ 0 w 3040"/>
              <a:gd name="T1" fmla="*/ 0 h 1270"/>
              <a:gd name="T2" fmla="*/ 2147483646 w 3040"/>
              <a:gd name="T3" fmla="*/ 2147483646 h 1270"/>
              <a:gd name="T4" fmla="*/ 2147483646 w 3040"/>
              <a:gd name="T5" fmla="*/ 2147483646 h 1270"/>
              <a:gd name="T6" fmla="*/ 2147483646 w 3040"/>
              <a:gd name="T7" fmla="*/ 2147483646 h 1270"/>
              <a:gd name="T8" fmla="*/ 2147483646 w 3040"/>
              <a:gd name="T9" fmla="*/ 2147483646 h 1270"/>
              <a:gd name="T10" fmla="*/ 2147483646 w 3040"/>
              <a:gd name="T11" fmla="*/ 2147483646 h 1270"/>
              <a:gd name="T12" fmla="*/ 0 60000 65536"/>
              <a:gd name="T13" fmla="*/ 0 60000 65536"/>
              <a:gd name="T14" fmla="*/ 0 60000 65536"/>
              <a:gd name="T15" fmla="*/ 0 60000 65536"/>
              <a:gd name="T16" fmla="*/ 0 60000 65536"/>
              <a:gd name="T17" fmla="*/ 0 60000 65536"/>
              <a:gd name="T18" fmla="*/ 0 w 3040"/>
              <a:gd name="T19" fmla="*/ 0 h 1270"/>
              <a:gd name="T20" fmla="*/ 3040 w 3040"/>
              <a:gd name="T21" fmla="*/ 1270 h 1270"/>
            </a:gdLst>
            <a:ahLst/>
            <a:cxnLst>
              <a:cxn ang="T12">
                <a:pos x="T0" y="T1"/>
              </a:cxn>
              <a:cxn ang="T13">
                <a:pos x="T2" y="T3"/>
              </a:cxn>
              <a:cxn ang="T14">
                <a:pos x="T4" y="T5"/>
              </a:cxn>
              <a:cxn ang="T15">
                <a:pos x="T6" y="T7"/>
              </a:cxn>
              <a:cxn ang="T16">
                <a:pos x="T8" y="T9"/>
              </a:cxn>
              <a:cxn ang="T17">
                <a:pos x="T10" y="T11"/>
              </a:cxn>
            </a:cxnLst>
            <a:rect l="T18" t="T19" r="T20" b="T21"/>
            <a:pathLst>
              <a:path w="3040" h="1270">
                <a:moveTo>
                  <a:pt x="0" y="0"/>
                </a:moveTo>
                <a:cubicBezTo>
                  <a:pt x="170" y="177"/>
                  <a:pt x="340" y="355"/>
                  <a:pt x="499" y="499"/>
                </a:cubicBezTo>
                <a:cubicBezTo>
                  <a:pt x="658" y="643"/>
                  <a:pt x="794" y="764"/>
                  <a:pt x="953" y="862"/>
                </a:cubicBezTo>
                <a:cubicBezTo>
                  <a:pt x="1112" y="960"/>
                  <a:pt x="1248" y="1029"/>
                  <a:pt x="1452" y="1089"/>
                </a:cubicBezTo>
                <a:cubicBezTo>
                  <a:pt x="1656" y="1149"/>
                  <a:pt x="1913" y="1195"/>
                  <a:pt x="2178" y="1225"/>
                </a:cubicBezTo>
                <a:cubicBezTo>
                  <a:pt x="2443" y="1255"/>
                  <a:pt x="2741" y="1262"/>
                  <a:pt x="3040" y="1270"/>
                </a:cubicBezTo>
              </a:path>
            </a:pathLst>
          </a:custGeom>
          <a:noFill/>
          <a:ln w="19050">
            <a:solidFill>
              <a:srgbClr val="CC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8673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867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0FE2790-2FC7-4D15-BBC8-0E0597E89617}"/>
              </a:ext>
            </a:extLst>
          </p:cNvPr>
          <p:cNvSpPr txBox="1"/>
          <p:nvPr/>
        </p:nvSpPr>
        <p:spPr>
          <a:xfrm>
            <a:off x="1775521" y="1772817"/>
            <a:ext cx="8353425" cy="3970337"/>
          </a:xfrm>
          <a:prstGeom prst="rect">
            <a:avLst/>
          </a:prstGeom>
          <a:noFill/>
        </p:spPr>
        <p:txBody>
          <a:bodyPr>
            <a:spAutoFit/>
          </a:bodyPr>
          <a:lstStyle/>
          <a:p>
            <a:pPr marL="214313" indent="-214313" eaLnBrk="1" fontAlgn="auto" hangingPunct="1">
              <a:spcBef>
                <a:spcPts val="0"/>
              </a:spcBef>
              <a:spcAft>
                <a:spcPts val="0"/>
              </a:spcAft>
              <a:buFont typeface="Arial" panose="020B0604020202020204" pitchFamily="34" charset="0"/>
              <a:buChar char="•"/>
              <a:defRPr/>
            </a:pPr>
            <a:r>
              <a:rPr lang="en-US" sz="2000" dirty="0">
                <a:latin typeface="Verdana" panose="020B0604030504040204" pitchFamily="34" charset="0"/>
                <a:ea typeface="Verdana" panose="020B0604030504040204" pitchFamily="34" charset="0"/>
              </a:rPr>
              <a:t>Could compare </a:t>
            </a:r>
            <a:r>
              <a:rPr lang="en-US" sz="2000" b="1" dirty="0">
                <a:latin typeface="Verdana" panose="020B0604030504040204" pitchFamily="34" charset="0"/>
                <a:ea typeface="Verdana" panose="020B0604030504040204" pitchFamily="34" charset="0"/>
              </a:rPr>
              <a:t>median survival time</a:t>
            </a:r>
            <a:r>
              <a:rPr lang="en-US" sz="2000" dirty="0">
                <a:latin typeface="Verdana" panose="020B0604030504040204" pitchFamily="34" charset="0"/>
                <a:ea typeface="Verdana" panose="020B0604030504040204" pitchFamily="34" charset="0"/>
              </a:rPr>
              <a:t>, or </a:t>
            </a:r>
            <a:r>
              <a:rPr lang="en-US" sz="2000" b="1" dirty="0">
                <a:latin typeface="Verdana" panose="020B0604030504040204" pitchFamily="34" charset="0"/>
                <a:ea typeface="Verdana" panose="020B0604030504040204" pitchFamily="34" charset="0"/>
              </a:rPr>
              <a:t>probability of surviving </a:t>
            </a:r>
            <a:r>
              <a:rPr lang="en-US" sz="2000" dirty="0">
                <a:latin typeface="Verdana" panose="020B0604030504040204" pitchFamily="34" charset="0"/>
                <a:ea typeface="Verdana" panose="020B0604030504040204" pitchFamily="34" charset="0"/>
              </a:rPr>
              <a:t>up to any particular time. </a:t>
            </a:r>
          </a:p>
          <a:p>
            <a:pPr eaLnBrk="1" fontAlgn="auto" hangingPunct="1">
              <a:spcBef>
                <a:spcPts val="0"/>
              </a:spcBef>
              <a:spcAft>
                <a:spcPts val="0"/>
              </a:spcAft>
              <a:defRPr/>
            </a:pPr>
            <a:endParaRPr lang="en-US" sz="1600" dirty="0">
              <a:latin typeface="Verdana" panose="020B0604030504040204" pitchFamily="34" charset="0"/>
              <a:ea typeface="Verdana" panose="020B0604030504040204" pitchFamily="34" charset="0"/>
            </a:endParaRPr>
          </a:p>
          <a:p>
            <a:pPr marL="214313" indent="-214313" eaLnBrk="1" fontAlgn="auto" hangingPunct="1">
              <a:spcBef>
                <a:spcPts val="0"/>
              </a:spcBef>
              <a:spcAft>
                <a:spcPts val="0"/>
              </a:spcAft>
              <a:buFont typeface="Arial" panose="020B0604020202020204" pitchFamily="34" charset="0"/>
              <a:buChar char="•"/>
              <a:defRPr/>
            </a:pPr>
            <a:r>
              <a:rPr lang="en-US" sz="2000" dirty="0">
                <a:latin typeface="Verdana" panose="020B0604030504040204" pitchFamily="34" charset="0"/>
                <a:ea typeface="Verdana" panose="020B0604030504040204" pitchFamily="34" charset="0"/>
              </a:rPr>
              <a:t>Better to use a test which compares survivor functions over whole follow-up period. </a:t>
            </a:r>
          </a:p>
          <a:p>
            <a:pPr marL="214313" indent="-214313" eaLnBrk="1" fontAlgn="auto" hangingPunct="1">
              <a:spcBef>
                <a:spcPts val="0"/>
              </a:spcBef>
              <a:spcAft>
                <a:spcPts val="0"/>
              </a:spcAft>
              <a:buFont typeface="Arial" panose="020B0604020202020204" pitchFamily="34" charset="0"/>
              <a:buChar char="•"/>
              <a:defRPr/>
            </a:pPr>
            <a:endParaRPr lang="en-US" sz="2000" dirty="0">
              <a:latin typeface="Verdana" panose="020B0604030504040204" pitchFamily="34" charset="0"/>
              <a:ea typeface="Verdana" panose="020B0604030504040204" pitchFamily="34" charset="0"/>
            </a:endParaRPr>
          </a:p>
          <a:p>
            <a:pPr marL="214313" indent="-214313" eaLnBrk="1" fontAlgn="auto" hangingPunct="1">
              <a:spcBef>
                <a:spcPts val="0"/>
              </a:spcBef>
              <a:spcAft>
                <a:spcPts val="0"/>
              </a:spcAft>
              <a:buFont typeface="Arial" panose="020B0604020202020204" pitchFamily="34" charset="0"/>
              <a:buChar char="•"/>
              <a:defRPr/>
            </a:pPr>
            <a:r>
              <a:rPr lang="en-GB" sz="2000" dirty="0">
                <a:latin typeface="Verdana" panose="020B0604030504040204" pitchFamily="34" charset="0"/>
                <a:ea typeface="Verdana" panose="020B0604030504040204" pitchFamily="34" charset="0"/>
              </a:rPr>
              <a:t>Two hypothesis tests used to compare two groups are the </a:t>
            </a:r>
            <a:r>
              <a:rPr lang="en-GB" sz="2000" b="1" dirty="0">
                <a:latin typeface="Verdana" panose="020B0604030504040204" pitchFamily="34" charset="0"/>
                <a:ea typeface="Verdana" panose="020B0604030504040204" pitchFamily="34" charset="0"/>
              </a:rPr>
              <a:t>Log-Rank Test </a:t>
            </a:r>
            <a:r>
              <a:rPr lang="en-GB" sz="2000" dirty="0">
                <a:latin typeface="Verdana" panose="020B0604030504040204" pitchFamily="34" charset="0"/>
                <a:ea typeface="Verdana" panose="020B0604030504040204" pitchFamily="34" charset="0"/>
              </a:rPr>
              <a:t>and the </a:t>
            </a:r>
            <a:r>
              <a:rPr lang="en-GB" sz="2000" b="1" dirty="0">
                <a:latin typeface="Verdana" panose="020B0604030504040204" pitchFamily="34" charset="0"/>
                <a:ea typeface="Verdana" panose="020B0604030504040204" pitchFamily="34" charset="0"/>
              </a:rPr>
              <a:t>Generalised Wilcoxon Test.</a:t>
            </a:r>
          </a:p>
          <a:p>
            <a:pPr marL="214313" indent="-214313" eaLnBrk="1" fontAlgn="auto" hangingPunct="1">
              <a:spcBef>
                <a:spcPts val="0"/>
              </a:spcBef>
              <a:spcAft>
                <a:spcPts val="0"/>
              </a:spcAft>
              <a:buFont typeface="Arial" panose="020B0604020202020204" pitchFamily="34" charset="0"/>
              <a:buChar char="•"/>
              <a:defRPr/>
            </a:pPr>
            <a:endParaRPr lang="en-US" sz="2000" dirty="0">
              <a:latin typeface="Verdana" panose="020B0604030504040204" pitchFamily="34" charset="0"/>
              <a:ea typeface="Verdana" panose="020B0604030504040204" pitchFamily="34" charset="0"/>
            </a:endParaRPr>
          </a:p>
          <a:p>
            <a:pPr eaLnBrk="1" fontAlgn="auto" hangingPunct="1">
              <a:spcBef>
                <a:spcPts val="0"/>
              </a:spcBef>
              <a:spcAft>
                <a:spcPts val="0"/>
              </a:spcAft>
              <a:defRPr/>
            </a:pPr>
            <a:endParaRPr lang="en-US" sz="1600" dirty="0">
              <a:latin typeface="Verdana" panose="020B0604030504040204" pitchFamily="34" charset="0"/>
              <a:ea typeface="Verdana" panose="020B0604030504040204" pitchFamily="34" charset="0"/>
            </a:endParaRPr>
          </a:p>
          <a:p>
            <a:pPr marL="214313" indent="-214313" eaLnBrk="1" fontAlgn="auto" hangingPunct="1">
              <a:spcBef>
                <a:spcPts val="0"/>
              </a:spcBef>
              <a:spcAft>
                <a:spcPts val="0"/>
              </a:spcAft>
              <a:buFont typeface="Arial" panose="020B0604020202020204" pitchFamily="34" charset="0"/>
              <a:buChar char="•"/>
              <a:defRPr/>
            </a:pPr>
            <a:r>
              <a:rPr lang="en-US" sz="2000" b="1" dirty="0">
                <a:latin typeface="Verdana" panose="020B0604030504040204" pitchFamily="34" charset="0"/>
                <a:ea typeface="Verdana" panose="020B0604030504040204" pitchFamily="34" charset="0"/>
              </a:rPr>
              <a:t>Log rank test: </a:t>
            </a:r>
            <a:r>
              <a:rPr lang="en-US" sz="2000" dirty="0">
                <a:latin typeface="Verdana" panose="020B0604030504040204" pitchFamily="34" charset="0"/>
                <a:ea typeface="Verdana" panose="020B0604030504040204" pitchFamily="34" charset="0"/>
              </a:rPr>
              <a:t>tests null hypothesis of no difference between samples in probability of an event (death in this example) at any time point during follow-up. </a:t>
            </a:r>
          </a:p>
        </p:txBody>
      </p:sp>
      <p:sp>
        <p:nvSpPr>
          <p:cNvPr id="5" name="TextBox 4">
            <a:extLst>
              <a:ext uri="{FF2B5EF4-FFF2-40B4-BE49-F238E27FC236}">
                <a16:creationId xmlns:a16="http://schemas.microsoft.com/office/drawing/2014/main" id="{B23BD65C-5E61-4841-87D6-FC0A781EBEC5}"/>
              </a:ext>
            </a:extLst>
          </p:cNvPr>
          <p:cNvSpPr txBox="1"/>
          <p:nvPr/>
        </p:nvSpPr>
        <p:spPr>
          <a:xfrm>
            <a:off x="1919289" y="420688"/>
            <a:ext cx="8353425" cy="984250"/>
          </a:xfrm>
          <a:prstGeom prst="rect">
            <a:avLst/>
          </a:prstGeom>
          <a:noFill/>
        </p:spPr>
        <p:txBody>
          <a:bodyPr>
            <a:spAutoFit/>
          </a:bodyPr>
          <a:lstStyle/>
          <a:p>
            <a:pPr algn="ctr" eaLnBrk="1" fontAlgn="auto" hangingPunct="1">
              <a:spcBef>
                <a:spcPts val="0"/>
              </a:spcBef>
              <a:spcAft>
                <a:spcPts val="0"/>
              </a:spcAft>
              <a:defRPr/>
            </a:pPr>
            <a:r>
              <a:rPr lang="en-GB" sz="2900" dirty="0">
                <a:solidFill>
                  <a:prstClr val="black"/>
                </a:solidFill>
                <a:latin typeface="Arial Black" panose="020B0A04020102020204" pitchFamily="34" charset="0"/>
                <a:ea typeface="+mj-ea"/>
                <a:cs typeface="+mj-cs"/>
              </a:rPr>
              <a:t>Survival Functions – </a:t>
            </a:r>
            <a:r>
              <a:rPr lang="en-GB" sz="2900" i="1" dirty="0">
                <a:solidFill>
                  <a:prstClr val="black"/>
                </a:solidFill>
                <a:latin typeface="Arial Black" panose="020B0A04020102020204" pitchFamily="34" charset="0"/>
                <a:ea typeface="+mj-ea"/>
                <a:cs typeface="+mj-cs"/>
              </a:rPr>
              <a:t>Comparing Functions</a:t>
            </a:r>
            <a:endParaRPr lang="en-US" sz="3000" dirty="0">
              <a:solidFill>
                <a:srgbClr val="CC0099"/>
              </a:solidFill>
              <a:latin typeface="+mn-lt"/>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1906" name="Rectangle 2">
            <a:extLst>
              <a:ext uri="{FF2B5EF4-FFF2-40B4-BE49-F238E27FC236}">
                <a16:creationId xmlns:a16="http://schemas.microsoft.com/office/drawing/2014/main" id="{EF524191-6FE8-4A00-9A67-D73A53123056}"/>
              </a:ext>
            </a:extLst>
          </p:cNvPr>
          <p:cNvSpPr>
            <a:spLocks noGrp="1" noRot="1" noChangeArrowheads="1"/>
          </p:cNvSpPr>
          <p:nvPr>
            <p:ph type="title"/>
          </p:nvPr>
        </p:nvSpPr>
        <p:spPr>
          <a:xfrm>
            <a:off x="1981200" y="274639"/>
            <a:ext cx="8218488" cy="777875"/>
          </a:xfrm>
        </p:spPr>
        <p:txBody>
          <a:bodyPr rtlCol="0">
            <a:normAutofit/>
          </a:bodyPr>
          <a:lstStyle/>
          <a:p>
            <a:pPr eaLnBrk="1" fontAlgn="auto" hangingPunct="1">
              <a:spcAft>
                <a:spcPts val="0"/>
              </a:spcAft>
              <a:defRPr/>
            </a:pPr>
            <a:r>
              <a:rPr lang="en-GB" sz="3200" dirty="0"/>
              <a:t>Survival Functions – </a:t>
            </a:r>
            <a:r>
              <a:rPr lang="en-GB" sz="3200" i="1" dirty="0"/>
              <a:t>Comparing Functions</a:t>
            </a:r>
          </a:p>
        </p:txBody>
      </p:sp>
      <p:sp>
        <p:nvSpPr>
          <p:cNvPr id="251907" name="Rectangle 3">
            <a:extLst>
              <a:ext uri="{FF2B5EF4-FFF2-40B4-BE49-F238E27FC236}">
                <a16:creationId xmlns:a16="http://schemas.microsoft.com/office/drawing/2014/main" id="{C87217CE-3EEA-4855-941B-529626300E50}"/>
              </a:ext>
            </a:extLst>
          </p:cNvPr>
          <p:cNvSpPr>
            <a:spLocks noGrp="1" noChangeArrowheads="1"/>
          </p:cNvSpPr>
          <p:nvPr>
            <p:ph idx="1"/>
          </p:nvPr>
        </p:nvSpPr>
        <p:spPr>
          <a:xfrm>
            <a:off x="1882775" y="1268413"/>
            <a:ext cx="8426450" cy="5314950"/>
          </a:xfrm>
        </p:spPr>
        <p:txBody>
          <a:bodyPr rtlCol="0">
            <a:noAutofit/>
          </a:bodyPr>
          <a:lstStyle/>
          <a:p>
            <a:pPr eaLnBrk="1" fontAlgn="auto" hangingPunct="1">
              <a:spcAft>
                <a:spcPts val="0"/>
              </a:spcAft>
              <a:defRPr/>
            </a:pPr>
            <a:r>
              <a:rPr lang="en-GB" sz="2200" dirty="0">
                <a:solidFill>
                  <a:prstClr val="black"/>
                </a:solidFill>
                <a:cs typeface="+mn-cs"/>
              </a:rPr>
              <a:t>H</a:t>
            </a:r>
            <a:r>
              <a:rPr lang="en-GB" sz="2200" baseline="-25000" dirty="0">
                <a:solidFill>
                  <a:prstClr val="black"/>
                </a:solidFill>
                <a:cs typeface="+mn-cs"/>
              </a:rPr>
              <a:t>0</a:t>
            </a:r>
            <a:r>
              <a:rPr lang="en-GB" sz="2200" dirty="0">
                <a:solidFill>
                  <a:prstClr val="black"/>
                </a:solidFill>
                <a:cs typeface="+mn-cs"/>
              </a:rPr>
              <a:t>: survival distributions are equal at all follow-up times.</a:t>
            </a:r>
          </a:p>
          <a:p>
            <a:pPr eaLnBrk="1" fontAlgn="auto" hangingPunct="1">
              <a:spcAft>
                <a:spcPts val="0"/>
              </a:spcAft>
              <a:defRPr/>
            </a:pPr>
            <a:endParaRPr lang="en-GB" sz="2200" dirty="0">
              <a:solidFill>
                <a:prstClr val="black"/>
              </a:solidFill>
              <a:cs typeface="+mn-cs"/>
            </a:endParaRPr>
          </a:p>
          <a:p>
            <a:pPr eaLnBrk="1" fontAlgn="auto" hangingPunct="1">
              <a:spcAft>
                <a:spcPts val="0"/>
              </a:spcAft>
              <a:defRPr/>
            </a:pPr>
            <a:r>
              <a:rPr lang="en-US" sz="2200" dirty="0">
                <a:solidFill>
                  <a:prstClr val="black"/>
                </a:solidFill>
                <a:cs typeface="+mn-cs"/>
              </a:rPr>
              <a:t>There is no difference in the survival experience of the groups.</a:t>
            </a:r>
          </a:p>
          <a:p>
            <a:pPr algn="ctr" eaLnBrk="1" fontAlgn="auto" hangingPunct="1">
              <a:spcAft>
                <a:spcPts val="0"/>
              </a:spcAft>
              <a:defRPr/>
            </a:pPr>
            <a:r>
              <a:rPr lang="en-US" sz="2200" dirty="0">
                <a:solidFill>
                  <a:prstClr val="black"/>
                </a:solidFill>
                <a:cs typeface="+mn-cs"/>
              </a:rPr>
              <a:t>𝐻0:𝑆</a:t>
            </a:r>
            <a:r>
              <a:rPr lang="en-US" sz="2200" baseline="-25000" dirty="0">
                <a:solidFill>
                  <a:prstClr val="black"/>
                </a:solidFill>
                <a:cs typeface="+mn-cs"/>
              </a:rPr>
              <a:t>1</a:t>
            </a:r>
            <a:r>
              <a:rPr lang="en-US" sz="2200" dirty="0">
                <a:solidFill>
                  <a:prstClr val="black"/>
                </a:solidFill>
                <a:cs typeface="+mn-cs"/>
              </a:rPr>
              <a:t>(𝑡)=𝑆</a:t>
            </a:r>
            <a:r>
              <a:rPr lang="en-US" sz="2200" baseline="-25000" dirty="0">
                <a:solidFill>
                  <a:prstClr val="black"/>
                </a:solidFill>
                <a:cs typeface="+mn-cs"/>
              </a:rPr>
              <a:t>2</a:t>
            </a:r>
            <a:r>
              <a:rPr lang="en-US" sz="2200" dirty="0">
                <a:solidFill>
                  <a:prstClr val="black"/>
                </a:solidFill>
                <a:cs typeface="+mn-cs"/>
              </a:rPr>
              <a:t>(𝑡) for all 𝑡</a:t>
            </a:r>
          </a:p>
          <a:p>
            <a:pPr algn="ctr" eaLnBrk="1" fontAlgn="auto" hangingPunct="1">
              <a:spcAft>
                <a:spcPts val="0"/>
              </a:spcAft>
              <a:defRPr/>
            </a:pPr>
            <a:endParaRPr lang="en-US" sz="2200" dirty="0">
              <a:solidFill>
                <a:prstClr val="black"/>
              </a:solidFill>
              <a:cs typeface="+mn-cs"/>
            </a:endParaRPr>
          </a:p>
          <a:p>
            <a:pPr eaLnBrk="1" fontAlgn="auto" hangingPunct="1">
              <a:spcAft>
                <a:spcPts val="0"/>
              </a:spcAft>
              <a:defRPr/>
            </a:pPr>
            <a:r>
              <a:rPr lang="en-GB" sz="2200" dirty="0">
                <a:cs typeface="+mn-cs"/>
              </a:rPr>
              <a:t>HA: the two survival curves differ at one or more points in time.</a:t>
            </a:r>
          </a:p>
          <a:p>
            <a:pPr eaLnBrk="1" fontAlgn="auto" hangingPunct="1">
              <a:spcAft>
                <a:spcPts val="0"/>
              </a:spcAft>
              <a:defRPr/>
            </a:pPr>
            <a:endParaRPr lang="en-GB" sz="2200" dirty="0">
              <a:cs typeface="+mn-cs"/>
            </a:endParaRPr>
          </a:p>
          <a:p>
            <a:pPr eaLnBrk="1" fontAlgn="auto" hangingPunct="1">
              <a:spcAft>
                <a:spcPts val="0"/>
              </a:spcAft>
              <a:defRPr/>
            </a:pPr>
            <a:r>
              <a:rPr lang="en-US" sz="2200" dirty="0">
                <a:solidFill>
                  <a:prstClr val="black"/>
                </a:solidFill>
              </a:rPr>
              <a:t>There is a difference in survival between the groups.</a:t>
            </a:r>
          </a:p>
          <a:p>
            <a:pPr algn="ctr" eaLnBrk="1" fontAlgn="auto" hangingPunct="1">
              <a:spcAft>
                <a:spcPts val="0"/>
              </a:spcAft>
              <a:defRPr/>
            </a:pPr>
            <a:r>
              <a:rPr lang="en-US" sz="2200" dirty="0">
                <a:solidFill>
                  <a:prstClr val="black"/>
                </a:solidFill>
              </a:rPr>
              <a:t>𝐻𝑎:𝑆</a:t>
            </a:r>
            <a:r>
              <a:rPr lang="en-US" sz="2200" baseline="-25000" dirty="0">
                <a:solidFill>
                  <a:prstClr val="black"/>
                </a:solidFill>
              </a:rPr>
              <a:t>1</a:t>
            </a:r>
            <a:r>
              <a:rPr lang="en-US" sz="2200" dirty="0">
                <a:solidFill>
                  <a:prstClr val="black"/>
                </a:solidFill>
              </a:rPr>
              <a:t>(𝑡)≠𝑆</a:t>
            </a:r>
            <a:r>
              <a:rPr lang="en-US" sz="2200" baseline="-25000" dirty="0">
                <a:solidFill>
                  <a:prstClr val="black"/>
                </a:solidFill>
              </a:rPr>
              <a:t>2</a:t>
            </a:r>
            <a:r>
              <a:rPr lang="en-US" sz="2200" dirty="0">
                <a:solidFill>
                  <a:prstClr val="black"/>
                </a:solidFill>
              </a:rPr>
              <a:t>(𝑡)for at least one 𝑡</a:t>
            </a:r>
            <a:endParaRPr lang="en-GB" sz="2200" dirty="0">
              <a:solidFill>
                <a:prstClr val="black"/>
              </a:solidFill>
            </a:endParaRPr>
          </a:p>
          <a:p>
            <a:pPr eaLnBrk="1" fontAlgn="auto" hangingPunct="1">
              <a:spcAft>
                <a:spcPts val="0"/>
              </a:spcAft>
              <a:defRPr/>
            </a:pPr>
            <a:endParaRPr lang="en-GB" sz="2200" dirty="0">
              <a:cs typeface="+mn-cs"/>
            </a:endParaRPr>
          </a:p>
        </p:txBody>
      </p:sp>
      <p:sp>
        <p:nvSpPr>
          <p:cNvPr id="48132"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949559DF-E0DD-4F97-B7A9-3112F60E096D}" type="slidenum">
              <a:rPr lang="en-GB" altLang="en-US" sz="1200">
                <a:latin typeface="Arial" panose="020B0604020202020204" pitchFamily="34" charset="0"/>
                <a:cs typeface="Arial" panose="020B0604020202020204" pitchFamily="34" charset="0"/>
              </a:rPr>
              <a:pPr fontAlgn="base">
                <a:spcBef>
                  <a:spcPct val="0"/>
                </a:spcBef>
                <a:spcAft>
                  <a:spcPct val="0"/>
                </a:spcAft>
              </a:pPr>
              <a:t>38</a:t>
            </a:fld>
            <a:endParaRPr lang="en-GB" altLang="en-US" sz="1200">
              <a:latin typeface="Arial" panose="020B0604020202020204" pitchFamily="34" charset="0"/>
              <a:cs typeface="Arial" panose="020B060402020202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1906" name="Rectangle 2">
            <a:extLst>
              <a:ext uri="{FF2B5EF4-FFF2-40B4-BE49-F238E27FC236}">
                <a16:creationId xmlns:a16="http://schemas.microsoft.com/office/drawing/2014/main" id="{EF524191-6FE8-4A00-9A67-D73A53123056}"/>
              </a:ext>
            </a:extLst>
          </p:cNvPr>
          <p:cNvSpPr>
            <a:spLocks noGrp="1" noRot="1" noChangeArrowheads="1"/>
          </p:cNvSpPr>
          <p:nvPr>
            <p:ph type="title"/>
          </p:nvPr>
        </p:nvSpPr>
        <p:spPr>
          <a:xfrm>
            <a:off x="1981200" y="274639"/>
            <a:ext cx="8218488" cy="777875"/>
          </a:xfrm>
        </p:spPr>
        <p:txBody>
          <a:bodyPr rtlCol="0">
            <a:normAutofit/>
          </a:bodyPr>
          <a:lstStyle/>
          <a:p>
            <a:pPr eaLnBrk="1" fontAlgn="auto" hangingPunct="1">
              <a:spcAft>
                <a:spcPts val="0"/>
              </a:spcAft>
              <a:defRPr/>
            </a:pPr>
            <a:r>
              <a:rPr lang="en-GB" sz="3200" dirty="0"/>
              <a:t>Survival Functions – </a:t>
            </a:r>
            <a:r>
              <a:rPr lang="en-GB" sz="3200" i="1" dirty="0"/>
              <a:t>Comparing Functions</a:t>
            </a:r>
          </a:p>
        </p:txBody>
      </p:sp>
      <p:sp>
        <p:nvSpPr>
          <p:cNvPr id="251907" name="Rectangle 3">
            <a:extLst>
              <a:ext uri="{FF2B5EF4-FFF2-40B4-BE49-F238E27FC236}">
                <a16:creationId xmlns:a16="http://schemas.microsoft.com/office/drawing/2014/main" id="{C87217CE-3EEA-4855-941B-529626300E50}"/>
              </a:ext>
            </a:extLst>
          </p:cNvPr>
          <p:cNvSpPr>
            <a:spLocks noGrp="1" noChangeArrowheads="1"/>
          </p:cNvSpPr>
          <p:nvPr>
            <p:ph idx="1"/>
          </p:nvPr>
        </p:nvSpPr>
        <p:spPr>
          <a:xfrm>
            <a:off x="1882775" y="1268413"/>
            <a:ext cx="8426450" cy="5314950"/>
          </a:xfrm>
        </p:spPr>
        <p:txBody>
          <a:bodyPr rtlCol="0">
            <a:noAutofit/>
          </a:bodyPr>
          <a:lstStyle/>
          <a:p>
            <a:pPr marL="0" indent="0" eaLnBrk="1" fontAlgn="auto" hangingPunct="1">
              <a:spcAft>
                <a:spcPts val="0"/>
              </a:spcAft>
              <a:buNone/>
              <a:defRPr/>
            </a:pPr>
            <a:r>
              <a:rPr lang="en-GB" sz="2200" b="1" dirty="0">
                <a:cs typeface="+mn-cs"/>
              </a:rPr>
              <a:t>Log rank test statistic</a:t>
            </a:r>
            <a:r>
              <a:rPr lang="en-GB" sz="2200" dirty="0">
                <a:cs typeface="+mn-cs"/>
              </a:rPr>
              <a:t>: </a:t>
            </a:r>
          </a:p>
          <a:p>
            <a:pPr eaLnBrk="1" fontAlgn="auto" hangingPunct="1">
              <a:spcAft>
                <a:spcPts val="0"/>
              </a:spcAft>
              <a:defRPr/>
            </a:pPr>
            <a:r>
              <a:rPr lang="en-US" sz="2200" dirty="0">
                <a:cs typeface="+mn-cs"/>
              </a:rPr>
              <a:t>At each event time, it compares:</a:t>
            </a:r>
          </a:p>
          <a:p>
            <a:pPr eaLnBrk="1" fontAlgn="auto" hangingPunct="1">
              <a:spcAft>
                <a:spcPts val="0"/>
              </a:spcAft>
              <a:defRPr/>
            </a:pPr>
            <a:r>
              <a:rPr lang="en-US" sz="2200" dirty="0">
                <a:cs typeface="+mn-cs"/>
              </a:rPr>
              <a:t>Observed events in each group vs Expected events if survival were the same</a:t>
            </a:r>
          </a:p>
          <a:p>
            <a:pPr eaLnBrk="1" fontAlgn="auto" hangingPunct="1">
              <a:spcAft>
                <a:spcPts val="0"/>
              </a:spcAft>
              <a:defRPr/>
            </a:pPr>
            <a:r>
              <a:rPr lang="en-US" sz="2200" dirty="0">
                <a:cs typeface="+mn-cs"/>
              </a:rPr>
              <a:t>Then it sums these differences across all event times.</a:t>
            </a:r>
          </a:p>
          <a:p>
            <a:pPr eaLnBrk="1" fontAlgn="auto" hangingPunct="1">
              <a:spcAft>
                <a:spcPts val="0"/>
              </a:spcAft>
              <a:defRPr/>
            </a:pPr>
            <a:r>
              <a:rPr lang="en-US" sz="2200" dirty="0">
                <a:cs typeface="+mn-cs"/>
              </a:rPr>
              <a:t>The test statistic follows a chi‑square distribution with:</a:t>
            </a:r>
          </a:p>
          <a:p>
            <a:pPr eaLnBrk="1" fontAlgn="auto" hangingPunct="1">
              <a:spcAft>
                <a:spcPts val="0"/>
              </a:spcAft>
              <a:defRPr/>
            </a:pPr>
            <a:r>
              <a:rPr lang="en-US" sz="2200" dirty="0">
                <a:cs typeface="+mn-cs"/>
              </a:rPr>
              <a:t>Degrees of freedom (</a:t>
            </a:r>
            <a:r>
              <a:rPr lang="en-US" sz="2200" dirty="0" err="1">
                <a:cs typeface="+mn-cs"/>
              </a:rPr>
              <a:t>df</a:t>
            </a:r>
            <a:r>
              <a:rPr lang="en-US" sz="2200" dirty="0">
                <a:cs typeface="+mn-cs"/>
              </a:rPr>
              <a:t>) = number of groups − 1</a:t>
            </a:r>
          </a:p>
          <a:p>
            <a:pPr eaLnBrk="1" fontAlgn="auto" hangingPunct="1">
              <a:spcAft>
                <a:spcPts val="0"/>
              </a:spcAft>
              <a:defRPr/>
            </a:pPr>
            <a:endParaRPr lang="en-US" altLang="en-KE" sz="2200" b="1" dirty="0">
              <a:solidFill>
                <a:prstClr val="black"/>
              </a:solidFill>
              <a:cs typeface="+mn-cs"/>
            </a:endParaRPr>
          </a:p>
          <a:p>
            <a:pPr eaLnBrk="1" fontAlgn="auto" hangingPunct="1">
              <a:spcAft>
                <a:spcPts val="0"/>
              </a:spcAft>
              <a:defRPr/>
            </a:pPr>
            <a:r>
              <a:rPr lang="en-GB" altLang="en-KE" sz="2200" b="1" dirty="0">
                <a:solidFill>
                  <a:prstClr val="black"/>
                </a:solidFill>
              </a:rPr>
              <a:t>Assumptions </a:t>
            </a:r>
          </a:p>
          <a:p>
            <a:pPr lvl="1" algn="just" eaLnBrk="1" hangingPunct="1">
              <a:defRPr/>
            </a:pPr>
            <a:r>
              <a:rPr lang="en-GB" altLang="en-KE" sz="2200" dirty="0">
                <a:solidFill>
                  <a:prstClr val="black"/>
                </a:solidFill>
              </a:rPr>
              <a:t>Two or more independent groups</a:t>
            </a:r>
          </a:p>
          <a:p>
            <a:pPr lvl="1" algn="just" eaLnBrk="1" hangingPunct="1">
              <a:defRPr/>
            </a:pPr>
            <a:r>
              <a:rPr lang="en-GB" altLang="en-KE" sz="2200" dirty="0">
                <a:solidFill>
                  <a:prstClr val="black"/>
                </a:solidFill>
              </a:rPr>
              <a:t>Censoring independent of future risk (non-informative censoring) </a:t>
            </a:r>
            <a:endParaRPr lang="en-KE" altLang="en-KE" sz="2200" dirty="0">
              <a:solidFill>
                <a:prstClr val="black"/>
              </a:solidFill>
            </a:endParaRPr>
          </a:p>
          <a:p>
            <a:pPr eaLnBrk="1" fontAlgn="auto" hangingPunct="1">
              <a:spcAft>
                <a:spcPts val="0"/>
              </a:spcAft>
              <a:defRPr/>
            </a:pPr>
            <a:endParaRPr lang="en-GB" sz="2200" dirty="0">
              <a:cs typeface="+mn-cs"/>
            </a:endParaRPr>
          </a:p>
          <a:p>
            <a:pPr marL="0" indent="0" eaLnBrk="1" fontAlgn="auto" hangingPunct="1">
              <a:spcAft>
                <a:spcPts val="0"/>
              </a:spcAft>
              <a:buNone/>
              <a:defRPr/>
            </a:pPr>
            <a:endParaRPr lang="en-GB" sz="2200" dirty="0">
              <a:cs typeface="+mn-cs"/>
            </a:endParaRPr>
          </a:p>
        </p:txBody>
      </p:sp>
      <p:sp>
        <p:nvSpPr>
          <p:cNvPr id="48132"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949559DF-E0DD-4F97-B7A9-3112F60E096D}" type="slidenum">
              <a:rPr lang="en-GB" altLang="en-US" sz="1200">
                <a:latin typeface="Arial" panose="020B0604020202020204" pitchFamily="34" charset="0"/>
                <a:cs typeface="Arial" panose="020B0604020202020204" pitchFamily="34" charset="0"/>
              </a:rPr>
              <a:pPr fontAlgn="base">
                <a:spcBef>
                  <a:spcPct val="0"/>
                </a:spcBef>
                <a:spcAft>
                  <a:spcPct val="0"/>
                </a:spcAft>
              </a:pPr>
              <a:t>39</a:t>
            </a:fld>
            <a:endParaRPr lang="en-GB" altLang="en-US" sz="12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126567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Box 1"/>
          <p:cNvSpPr txBox="1">
            <a:spLocks noChangeArrowheads="1"/>
          </p:cNvSpPr>
          <p:nvPr/>
        </p:nvSpPr>
        <p:spPr bwMode="auto">
          <a:xfrm>
            <a:off x="2640014" y="115889"/>
            <a:ext cx="6192837"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GB" sz="3000" b="1">
                <a:latin typeface="Verdana" panose="020B0604030504040204" pitchFamily="34" charset="0"/>
                <a:ea typeface="Verdana" panose="020B0604030504040204" pitchFamily="34" charset="0"/>
                <a:cs typeface="Verdana" panose="020B0604030504040204" pitchFamily="34" charset="0"/>
              </a:rPr>
              <a:t>Log rank test </a:t>
            </a:r>
          </a:p>
        </p:txBody>
      </p:sp>
      <p:sp>
        <p:nvSpPr>
          <p:cNvPr id="49155" name="TextBox 2"/>
          <p:cNvSpPr txBox="1">
            <a:spLocks noChangeArrowheads="1"/>
          </p:cNvSpPr>
          <p:nvPr/>
        </p:nvSpPr>
        <p:spPr bwMode="auto">
          <a:xfrm>
            <a:off x="1593851" y="1052513"/>
            <a:ext cx="6505575"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57175" indent="-257175">
              <a:defRPr>
                <a:solidFill>
                  <a:schemeClr val="tx1"/>
                </a:solidFill>
                <a:latin typeface="Calibri" panose="020F0502020204030204" pitchFamily="34" charset="0"/>
              </a:defRPr>
            </a:lvl1pPr>
            <a:lvl2pPr marL="600075" indent="-257175">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buFont typeface="Wingdings" panose="05000000000000000000" pitchFamily="2" charset="2"/>
              <a:buChar char="§"/>
            </a:pPr>
            <a:r>
              <a:rPr lang="en-US" altLang="en-GB" sz="2400" dirty="0">
                <a:latin typeface="Verdana" panose="020B0604030504040204" pitchFamily="34" charset="0"/>
                <a:ea typeface="Verdana" panose="020B0604030504040204" pitchFamily="34" charset="0"/>
                <a:cs typeface="Verdana" panose="020B0604030504040204" pitchFamily="34" charset="0"/>
              </a:rPr>
              <a:t>Unlikely to detect a difference between Groups if survivor functions cross over during follow-up. </a:t>
            </a:r>
          </a:p>
          <a:p>
            <a:pPr eaLnBrk="1" hangingPunct="1">
              <a:buFont typeface="Wingdings" panose="05000000000000000000" pitchFamily="2" charset="2"/>
              <a:buChar char="§"/>
            </a:pPr>
            <a:endParaRPr lang="en-GB" altLang="en-GB" sz="2400" dirty="0">
              <a:latin typeface="Verdana" panose="020B0604030504040204" pitchFamily="34" charset="0"/>
              <a:ea typeface="Verdana" panose="020B0604030504040204" pitchFamily="34" charset="0"/>
              <a:cs typeface="Verdana" panose="020B0604030504040204" pitchFamily="34" charset="0"/>
            </a:endParaRPr>
          </a:p>
          <a:p>
            <a:pPr eaLnBrk="1" hangingPunct="1">
              <a:buFont typeface="Wingdings" panose="05000000000000000000" pitchFamily="2" charset="2"/>
              <a:buChar char="§"/>
            </a:pPr>
            <a:r>
              <a:rPr lang="en-GB" altLang="en-GB" sz="2400" dirty="0">
                <a:latin typeface="Verdana" panose="020B0604030504040204" pitchFamily="34" charset="0"/>
                <a:ea typeface="Verdana" panose="020B0604030504040204" pitchFamily="34" charset="0"/>
                <a:cs typeface="Verdana" panose="020B0604030504040204" pitchFamily="34" charset="0"/>
              </a:rPr>
              <a:t>Assumes </a:t>
            </a:r>
            <a:r>
              <a:rPr lang="en-GB" altLang="en-GB" sz="2400" b="1" dirty="0">
                <a:latin typeface="Verdana" panose="020B0604030504040204" pitchFamily="34" charset="0"/>
                <a:ea typeface="Verdana" panose="020B0604030504040204" pitchFamily="34" charset="0"/>
                <a:cs typeface="Verdana" panose="020B0604030504040204" pitchFamily="34" charset="0"/>
              </a:rPr>
              <a:t>non-informative censoring</a:t>
            </a:r>
            <a:endParaRPr lang="en-US" altLang="en-GB" sz="2400" dirty="0">
              <a:latin typeface="Verdana" panose="020B0604030504040204" pitchFamily="34" charset="0"/>
              <a:ea typeface="Verdana" panose="020B0604030504040204" pitchFamily="34" charset="0"/>
              <a:cs typeface="Verdana" panose="020B0604030504040204" pitchFamily="34" charset="0"/>
            </a:endParaRPr>
          </a:p>
          <a:p>
            <a:pPr eaLnBrk="1" hangingPunct="1">
              <a:buFont typeface="Wingdings" panose="05000000000000000000" pitchFamily="2" charset="2"/>
              <a:buChar char="§"/>
            </a:pPr>
            <a:r>
              <a:rPr lang="en-US" altLang="en-GB" sz="2400" dirty="0">
                <a:latin typeface="Verdana" panose="020B0604030504040204" pitchFamily="34" charset="0"/>
                <a:ea typeface="Verdana" panose="020B0604030504040204" pitchFamily="34" charset="0"/>
                <a:cs typeface="Verdana" panose="020B0604030504040204" pitchFamily="34" charset="0"/>
              </a:rPr>
              <a:t>Can be extended to compare more than 2 groups.</a:t>
            </a:r>
          </a:p>
          <a:p>
            <a:pPr eaLnBrk="1" hangingPunct="1">
              <a:buFont typeface="Wingdings" panose="05000000000000000000" pitchFamily="2" charset="2"/>
              <a:buChar char="§"/>
            </a:pPr>
            <a:endParaRPr lang="en-US" altLang="en-GB" sz="2400" u="sng" dirty="0">
              <a:latin typeface="Verdana" panose="020B0604030504040204" pitchFamily="34" charset="0"/>
              <a:ea typeface="Verdana" panose="020B0604030504040204" pitchFamily="34" charset="0"/>
              <a:cs typeface="Verdana" panose="020B0604030504040204" pitchFamily="34" charset="0"/>
            </a:endParaRPr>
          </a:p>
          <a:p>
            <a:pPr eaLnBrk="1" hangingPunct="1">
              <a:buFont typeface="Wingdings" panose="05000000000000000000" pitchFamily="2" charset="2"/>
              <a:buChar char="§"/>
            </a:pPr>
            <a:r>
              <a:rPr lang="en-US" altLang="en-GB" sz="2400" u="sng" dirty="0">
                <a:latin typeface="Verdana" panose="020B0604030504040204" pitchFamily="34" charset="0"/>
                <a:ea typeface="Verdana" panose="020B0604030504040204" pitchFamily="34" charset="0"/>
                <a:cs typeface="Verdana" panose="020B0604030504040204" pitchFamily="34" charset="0"/>
              </a:rPr>
              <a:t>But</a:t>
            </a:r>
          </a:p>
          <a:p>
            <a:pPr eaLnBrk="1" hangingPunct="1">
              <a:buFont typeface="Wingdings" panose="05000000000000000000" pitchFamily="2" charset="2"/>
              <a:buChar char="§"/>
            </a:pPr>
            <a:r>
              <a:rPr lang="en-US" altLang="en-GB" sz="2400" dirty="0">
                <a:latin typeface="Verdana" panose="020B0604030504040204" pitchFamily="34" charset="0"/>
                <a:ea typeface="Verdana" panose="020B0604030504040204" pitchFamily="34" charset="0"/>
                <a:cs typeface="Verdana" panose="020B0604030504040204" pitchFamily="34" charset="0"/>
              </a:rPr>
              <a:t>Only provides a p-value, not an estimate of size of difference between groups or a confidence interval.</a:t>
            </a:r>
          </a:p>
          <a:p>
            <a:pPr eaLnBrk="1" hangingPunct="1">
              <a:buFont typeface="Wingdings" panose="05000000000000000000" pitchFamily="2" charset="2"/>
              <a:buChar char="§"/>
            </a:pPr>
            <a:endParaRPr lang="en-US" altLang="en-GB" sz="2400" dirty="0">
              <a:latin typeface="Verdana" panose="020B0604030504040204" pitchFamily="34" charset="0"/>
              <a:ea typeface="Verdana" panose="020B0604030504040204" pitchFamily="34" charset="0"/>
              <a:cs typeface="Verdana" panose="020B0604030504040204" pitchFamily="34" charset="0"/>
            </a:endParaRPr>
          </a:p>
          <a:p>
            <a:pPr lvl="1" eaLnBrk="1" hangingPunct="1">
              <a:buFont typeface="Wingdings" panose="05000000000000000000" pitchFamily="2" charset="2"/>
              <a:buChar char="§"/>
            </a:pPr>
            <a:r>
              <a:rPr lang="en-US" altLang="en-GB" sz="2400" dirty="0">
                <a:latin typeface="Verdana" panose="020B0604030504040204" pitchFamily="34" charset="0"/>
                <a:ea typeface="Verdana" panose="020B0604030504040204" pitchFamily="34" charset="0"/>
                <a:cs typeface="Verdana" panose="020B0604030504040204" pitchFamily="34" charset="0"/>
              </a:rPr>
              <a:t>Estimate of size of difference = </a:t>
            </a:r>
            <a:r>
              <a:rPr lang="en-US" altLang="en-GB" sz="2400" b="1" dirty="0">
                <a:latin typeface="Verdana" panose="020B0604030504040204" pitchFamily="34" charset="0"/>
                <a:ea typeface="Verdana" panose="020B0604030504040204" pitchFamily="34" charset="0"/>
                <a:cs typeface="Verdana" panose="020B0604030504040204" pitchFamily="34" charset="0"/>
              </a:rPr>
              <a:t>Hazard Ratio</a:t>
            </a:r>
          </a:p>
        </p:txBody>
      </p:sp>
      <p:pic>
        <p:nvPicPr>
          <p:cNvPr id="4915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99426" y="981075"/>
            <a:ext cx="2568575" cy="2762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8" name="Rectangle 2"/>
          <p:cNvSpPr>
            <a:spLocks noGrp="1" noRot="1" noChangeArrowheads="1"/>
          </p:cNvSpPr>
          <p:nvPr>
            <p:ph type="title"/>
          </p:nvPr>
        </p:nvSpPr>
        <p:spPr>
          <a:xfrm>
            <a:off x="1981200" y="274638"/>
            <a:ext cx="8229600" cy="595312"/>
          </a:xfrm>
        </p:spPr>
        <p:txBody>
          <a:bodyPr/>
          <a:lstStyle/>
          <a:p>
            <a:pPr algn="ctr" eaLnBrk="1" hangingPunct="1"/>
            <a:r>
              <a:rPr lang="en-GB" altLang="en-GB" sz="3200"/>
              <a:t>The Hazard Function</a:t>
            </a:r>
          </a:p>
        </p:txBody>
      </p:sp>
      <mc:AlternateContent xmlns:mc="http://schemas.openxmlformats.org/markup-compatibility/2006">
        <mc:Choice xmlns:a14="http://schemas.microsoft.com/office/drawing/2010/main" Requires="a14">
          <p:sp>
            <p:nvSpPr>
              <p:cNvPr id="50179" name="Rectangle 3"/>
              <p:cNvSpPr>
                <a:spLocks noGrp="1" noChangeArrowheads="1"/>
              </p:cNvSpPr>
              <p:nvPr>
                <p:ph type="body" sz="half" idx="1"/>
              </p:nvPr>
            </p:nvSpPr>
            <p:spPr>
              <a:xfrm>
                <a:off x="1774826" y="981076"/>
                <a:ext cx="8569325" cy="5184775"/>
              </a:xfrm>
            </p:spPr>
            <p:txBody>
              <a:bodyPr/>
              <a:lstStyle/>
              <a:p>
                <a:pPr eaLnBrk="1" hangingPunct="1"/>
                <a:r>
                  <a:rPr lang="en-GB" altLang="en-GB" dirty="0"/>
                  <a:t>The hazard function provides the probability of death (event) at a time point, given survival until that time.</a:t>
                </a:r>
                <a:br>
                  <a:rPr lang="en-GB" altLang="en-GB" dirty="0"/>
                </a:br>
                <a:br>
                  <a:rPr lang="en-GB" altLang="en-GB" dirty="0"/>
                </a:br>
                <a:r>
                  <a:rPr lang="en-GB" altLang="en-GB" dirty="0"/>
                  <a:t>- the </a:t>
                </a:r>
                <a:r>
                  <a:rPr lang="en-GB" altLang="en-GB" i="1" dirty="0"/>
                  <a:t>instantaneous risk of death (event)</a:t>
                </a:r>
                <a:r>
                  <a:rPr lang="en-GB" altLang="en-GB" dirty="0"/>
                  <a:t>, given survival to that point.</a:t>
                </a:r>
              </a:p>
              <a:p>
                <a:pPr eaLnBrk="1" hangingPunct="1"/>
                <a:endParaRPr lang="en-GB" altLang="en-GB" dirty="0"/>
              </a:p>
              <a:p>
                <a:pPr lvl="4" eaLnBrk="1" hangingPunct="1"/>
                <a14:m>
                  <m:oMath xmlns:m="http://schemas.openxmlformats.org/officeDocument/2006/math">
                    <m:r>
                      <a:rPr lang="en-GB" altLang="en-GB" sz="3200" i="1" dirty="0">
                        <a:latin typeface="Cambria Math" panose="02040503050406030204" pitchFamily="18" charset="0"/>
                      </a:rPr>
                      <m:t>h</m:t>
                    </m:r>
                    <m:d>
                      <m:dPr>
                        <m:ctrlPr>
                          <a:rPr lang="en-GB" altLang="en-GB" sz="3200" i="1" dirty="0">
                            <a:latin typeface="Cambria Math" panose="02040503050406030204" pitchFamily="18" charset="0"/>
                          </a:rPr>
                        </m:ctrlPr>
                      </m:dPr>
                      <m:e>
                        <m:r>
                          <a:rPr lang="en-GB" altLang="en-GB" sz="3200" i="1" dirty="0">
                            <a:latin typeface="Cambria Math" panose="02040503050406030204" pitchFamily="18" charset="0"/>
                          </a:rPr>
                          <m:t>𝑡</m:t>
                        </m:r>
                      </m:e>
                    </m:d>
                    <m:r>
                      <a:rPr lang="en-GB" altLang="en-GB" sz="3200" dirty="0">
                        <a:latin typeface="Cambria Math" panose="02040503050406030204" pitchFamily="18" charset="0"/>
                      </a:rPr>
                      <m:t>=</m:t>
                    </m:r>
                    <m:r>
                      <m:rPr>
                        <m:sty m:val="p"/>
                      </m:rPr>
                      <a:rPr lang="en-GB" altLang="en-GB" sz="3200" dirty="0">
                        <a:latin typeface="Cambria Math" panose="02040503050406030204" pitchFamily="18" charset="0"/>
                      </a:rPr>
                      <m:t>limΔ</m:t>
                    </m:r>
                    <m:sSub>
                      <m:sSubPr>
                        <m:ctrlPr>
                          <a:rPr lang="en-GB" altLang="en-GB" sz="3200" i="1" dirty="0">
                            <a:latin typeface="Cambria Math" panose="02040503050406030204" pitchFamily="18" charset="0"/>
                          </a:rPr>
                        </m:ctrlPr>
                      </m:sSubPr>
                      <m:e>
                        <m:r>
                          <a:rPr lang="en-GB" altLang="en-GB" sz="3200" i="1" baseline="-25000" dirty="0">
                            <a:latin typeface="Cambria Math" panose="02040503050406030204" pitchFamily="18" charset="0"/>
                          </a:rPr>
                          <m:t>𝑡</m:t>
                        </m:r>
                      </m:e>
                      <m:sub>
                        <m:r>
                          <a:rPr lang="en-GB" altLang="en-GB" sz="3200" dirty="0">
                            <a:latin typeface="Cambria Math" panose="02040503050406030204" pitchFamily="18" charset="0"/>
                            <a:ea typeface="Cambria Math" panose="02040503050406030204" pitchFamily="18" charset="0"/>
                          </a:rPr>
                          <m:t>→</m:t>
                        </m:r>
                        <m:r>
                          <a:rPr lang="en-GB" altLang="en-GB" sz="3200" i="1" dirty="0">
                            <a:latin typeface="Cambria Math" panose="02040503050406030204" pitchFamily="18" charset="0"/>
                            <a:ea typeface="Cambria Math" panose="02040503050406030204" pitchFamily="18" charset="0"/>
                          </a:rPr>
                          <m:t>0</m:t>
                        </m:r>
                      </m:sub>
                    </m:sSub>
                    <m:f>
                      <m:fPr>
                        <m:ctrlPr>
                          <a:rPr lang="en-GB" altLang="en-GB" sz="3200" i="1" dirty="0">
                            <a:latin typeface="Cambria Math" panose="02040503050406030204" pitchFamily="18" charset="0"/>
                          </a:rPr>
                        </m:ctrlPr>
                      </m:fPr>
                      <m:num>
                        <m:r>
                          <a:rPr lang="en-GB" altLang="en-GB" sz="3200" i="1" dirty="0">
                            <a:latin typeface="Cambria Math" panose="02040503050406030204" pitchFamily="18" charset="0"/>
                          </a:rPr>
                          <m:t>𝑃</m:t>
                        </m:r>
                        <m:d>
                          <m:dPr>
                            <m:ctrlPr>
                              <a:rPr lang="en-GB" altLang="en-GB" sz="3200" i="1" dirty="0">
                                <a:latin typeface="Cambria Math" panose="02040503050406030204" pitchFamily="18" charset="0"/>
                              </a:rPr>
                            </m:ctrlPr>
                          </m:dPr>
                          <m:e>
                            <m:r>
                              <a:rPr lang="en-GB" altLang="en-GB" sz="3200" i="1" dirty="0">
                                <a:latin typeface="Cambria Math" panose="02040503050406030204" pitchFamily="18" charset="0"/>
                              </a:rPr>
                              <m:t>𝑡</m:t>
                            </m:r>
                            <m:r>
                              <a:rPr lang="en-GB" altLang="en-GB" sz="3200" dirty="0">
                                <a:latin typeface="Cambria Math" panose="02040503050406030204" pitchFamily="18" charset="0"/>
                              </a:rPr>
                              <m:t>≤</m:t>
                            </m:r>
                            <m:r>
                              <a:rPr lang="en-GB" altLang="en-GB" sz="3200" i="1" dirty="0">
                                <a:latin typeface="Cambria Math" panose="02040503050406030204" pitchFamily="18" charset="0"/>
                              </a:rPr>
                              <m:t>𝑇</m:t>
                            </m:r>
                            <m:r>
                              <a:rPr lang="en-GB" altLang="en-GB" sz="3200" dirty="0">
                                <a:latin typeface="Cambria Math" panose="02040503050406030204" pitchFamily="18" charset="0"/>
                              </a:rPr>
                              <m:t>&lt;</m:t>
                            </m:r>
                            <m:d>
                              <m:dPr>
                                <m:begChr m:val=""/>
                                <m:endChr m:val="|"/>
                                <m:ctrlPr>
                                  <a:rPr lang="en-GB" altLang="en-GB" sz="3200" i="1" dirty="0">
                                    <a:latin typeface="Cambria Math" panose="02040503050406030204" pitchFamily="18" charset="0"/>
                                  </a:rPr>
                                </m:ctrlPr>
                              </m:dPr>
                              <m:e>
                                <m:r>
                                  <a:rPr lang="en-GB" altLang="en-GB" sz="3200" i="1" dirty="0">
                                    <a:latin typeface="Cambria Math" panose="02040503050406030204" pitchFamily="18" charset="0"/>
                                  </a:rPr>
                                  <m:t>𝑡</m:t>
                                </m:r>
                                <m:r>
                                  <a:rPr lang="en-GB" altLang="en-GB" sz="3200" i="1" dirty="0">
                                    <a:latin typeface="Cambria Math" panose="02040503050406030204" pitchFamily="18" charset="0"/>
                                  </a:rPr>
                                  <m:t>+</m:t>
                                </m:r>
                                <m:r>
                                  <m:rPr>
                                    <m:sty m:val="p"/>
                                  </m:rPr>
                                  <a:rPr lang="en-GB" altLang="en-GB" sz="3200" dirty="0">
                                    <a:latin typeface="Cambria Math" panose="02040503050406030204" pitchFamily="18" charset="0"/>
                                  </a:rPr>
                                  <m:t>Δ</m:t>
                                </m:r>
                                <m:r>
                                  <a:rPr lang="en-GB" altLang="en-GB" sz="3200" i="1" dirty="0">
                                    <a:latin typeface="Cambria Math" panose="02040503050406030204" pitchFamily="18" charset="0"/>
                                  </a:rPr>
                                  <m:t>𝑡</m:t>
                                </m:r>
                              </m:e>
                            </m:d>
                            <m:r>
                              <a:rPr lang="en-GB" altLang="en-GB" sz="3200" i="1" dirty="0">
                                <a:latin typeface="Cambria Math" panose="02040503050406030204" pitchFamily="18" charset="0"/>
                              </a:rPr>
                              <m:t>𝑇</m:t>
                            </m:r>
                            <m:r>
                              <a:rPr lang="en-GB" altLang="en-GB" sz="3200" dirty="0">
                                <a:latin typeface="Cambria Math" panose="02040503050406030204" pitchFamily="18" charset="0"/>
                              </a:rPr>
                              <m:t>≥</m:t>
                            </m:r>
                            <m:r>
                              <a:rPr lang="en-GB" altLang="en-GB" sz="3200" i="1" dirty="0">
                                <a:latin typeface="Cambria Math" panose="02040503050406030204" pitchFamily="18" charset="0"/>
                              </a:rPr>
                              <m:t>𝑡</m:t>
                            </m:r>
                          </m:e>
                        </m:d>
                      </m:num>
                      <m:den>
                        <m:r>
                          <m:rPr>
                            <m:sty m:val="p"/>
                          </m:rPr>
                          <a:rPr lang="en-GB" altLang="en-GB" sz="3200" dirty="0">
                            <a:latin typeface="Cambria Math" panose="02040503050406030204" pitchFamily="18" charset="0"/>
                          </a:rPr>
                          <m:t>Δ</m:t>
                        </m:r>
                        <m:r>
                          <a:rPr lang="en-GB" altLang="en-GB" sz="3200" i="1" dirty="0">
                            <a:latin typeface="Cambria Math" panose="02040503050406030204" pitchFamily="18" charset="0"/>
                          </a:rPr>
                          <m:t>𝑡</m:t>
                        </m:r>
                      </m:den>
                    </m:f>
                  </m:oMath>
                </a14:m>
                <a:endParaRPr lang="en-GB" altLang="en-GB" dirty="0"/>
              </a:p>
              <a:p>
                <a:pPr lvl="4" eaLnBrk="1" hangingPunct="1"/>
                <a:endParaRPr lang="en-GB" altLang="en-GB" dirty="0"/>
              </a:p>
              <a:p>
                <a:pPr eaLnBrk="1" hangingPunct="1"/>
                <a:r>
                  <a:rPr lang="en-GB" altLang="en-GB" dirty="0"/>
                  <a:t>The hazard function can be estimated using life tables or the Kaplan-Meier approach.</a:t>
                </a:r>
              </a:p>
            </p:txBody>
          </p:sp>
        </mc:Choice>
        <mc:Fallback>
          <p:sp>
            <p:nvSpPr>
              <p:cNvPr id="50179" name="Rectangle 3"/>
              <p:cNvSpPr>
                <a:spLocks noGrp="1" noRot="1" noChangeAspect="1" noMove="1" noResize="1" noEditPoints="1" noAdjustHandles="1" noChangeArrowheads="1" noChangeShapeType="1" noTextEdit="1"/>
              </p:cNvSpPr>
              <p:nvPr>
                <p:ph type="body" sz="half" idx="1"/>
              </p:nvPr>
            </p:nvSpPr>
            <p:spPr>
              <a:xfrm>
                <a:off x="1774826" y="981076"/>
                <a:ext cx="8569325" cy="5184775"/>
              </a:xfrm>
              <a:blipFill>
                <a:blip r:embed="rId3"/>
                <a:stretch>
                  <a:fillRect l="-1280" t="-2000" r="-2134"/>
                </a:stretch>
              </a:blipFill>
            </p:spPr>
            <p:txBody>
              <a:bodyPr/>
              <a:lstStyle/>
              <a:p>
                <a:r>
                  <a:rPr lang="en-ZM">
                    <a:noFill/>
                  </a:rPr>
                  <a:t> </a:t>
                </a:r>
              </a:p>
            </p:txBody>
          </p:sp>
        </mc:Fallback>
      </mc:AlternateContent>
      <p:sp>
        <p:nvSpPr>
          <p:cNvPr id="50180"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3A19D6EA-A0F9-4CD9-A049-C4E7A481EC39}" type="slidenum">
              <a:rPr lang="en-GB" altLang="en-US" sz="1200">
                <a:latin typeface="Arial" panose="020B0604020202020204" pitchFamily="34" charset="0"/>
                <a:cs typeface="Arial" panose="020B0604020202020204" pitchFamily="34" charset="0"/>
              </a:rPr>
              <a:pPr fontAlgn="base">
                <a:spcBef>
                  <a:spcPct val="0"/>
                </a:spcBef>
                <a:spcAft>
                  <a:spcPct val="0"/>
                </a:spcAft>
              </a:pPr>
              <a:t>41</a:t>
            </a:fld>
            <a:endParaRPr lang="en-GB" altLang="en-US" sz="1200">
              <a:latin typeface="Arial" panose="020B0604020202020204" pitchFamily="34" charset="0"/>
              <a:cs typeface="Arial" panose="020B0604020202020204"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44624"/>
            <a:ext cx="7886700" cy="968949"/>
          </a:xfrm>
        </p:spPr>
        <p:txBody>
          <a:bodyPr/>
          <a:lstStyle/>
          <a:p>
            <a:r>
              <a:rPr lang="en-GB" dirty="0"/>
              <a:t>Types of Hazard Functions</a:t>
            </a:r>
          </a:p>
        </p:txBody>
      </p:sp>
      <p:sp>
        <p:nvSpPr>
          <p:cNvPr id="3" name="Content Placeholder 2"/>
          <p:cNvSpPr>
            <a:spLocks noGrp="1"/>
          </p:cNvSpPr>
          <p:nvPr>
            <p:ph idx="1"/>
          </p:nvPr>
        </p:nvSpPr>
        <p:spPr>
          <a:xfrm>
            <a:off x="1127448" y="1196752"/>
            <a:ext cx="10369152" cy="4752528"/>
          </a:xfrm>
        </p:spPr>
        <p:txBody>
          <a:bodyPr>
            <a:noAutofit/>
          </a:bodyPr>
          <a:lstStyle/>
          <a:p>
            <a:pPr algn="just"/>
            <a:r>
              <a:rPr lang="en-US" dirty="0"/>
              <a:t>The shape of a hazard function reveals crucial information about the process:</a:t>
            </a:r>
          </a:p>
          <a:p>
            <a:pPr marL="457200" indent="-457200" algn="just">
              <a:buFont typeface="+mj-lt"/>
              <a:buAutoNum type="arabicPeriod"/>
            </a:pPr>
            <a:r>
              <a:rPr lang="en-US" b="1" dirty="0"/>
              <a:t>Constant Hazard: </a:t>
            </a:r>
            <a:r>
              <a:rPr lang="en-US" dirty="0"/>
              <a:t>Exhibited by exponential distributions, where risk remains uniform over time. Example: Radioactive decay.</a:t>
            </a:r>
          </a:p>
          <a:p>
            <a:pPr marL="457200" indent="-457200" algn="just">
              <a:buFont typeface="+mj-lt"/>
              <a:buAutoNum type="arabicPeriod"/>
            </a:pPr>
            <a:r>
              <a:rPr lang="en-US" b="1" dirty="0"/>
              <a:t>Increasing Hazard: </a:t>
            </a:r>
            <a:r>
              <a:rPr lang="en-US" dirty="0"/>
              <a:t>Observed in ageing systems where risk grows over time. Example: Mechanical wear and tear.</a:t>
            </a:r>
          </a:p>
          <a:p>
            <a:pPr marL="457200" indent="-457200" algn="just">
              <a:buFont typeface="+mj-lt"/>
              <a:buAutoNum type="arabicPeriod"/>
            </a:pPr>
            <a:r>
              <a:rPr lang="en-US" b="1" dirty="0"/>
              <a:t>Decreasing Hazard: </a:t>
            </a:r>
            <a:r>
              <a:rPr lang="en-US" dirty="0"/>
              <a:t>Seen in populations where risk diminishes as time progresses. Example: Infant mortality.</a:t>
            </a:r>
          </a:p>
          <a:p>
            <a:pPr marL="457200" indent="-457200" algn="just">
              <a:buFont typeface="+mj-lt"/>
              <a:buAutoNum type="arabicPeriod"/>
            </a:pPr>
            <a:r>
              <a:rPr lang="en-US" b="1" dirty="0"/>
              <a:t>Non-Monotonic Hazard: </a:t>
            </a:r>
            <a:r>
              <a:rPr lang="en-US" dirty="0" err="1"/>
              <a:t>Characterised</a:t>
            </a:r>
            <a:r>
              <a:rPr lang="en-US" dirty="0"/>
              <a:t> by early failures followed by stable and increasing risk (e.g., the "bathtub curve").</a:t>
            </a:r>
            <a:endParaRPr lang="en-GB" dirty="0"/>
          </a:p>
        </p:txBody>
      </p:sp>
      <p:sp>
        <p:nvSpPr>
          <p:cNvPr id="4" name="Slide Number Placeholder 3"/>
          <p:cNvSpPr>
            <a:spLocks noGrp="1"/>
          </p:cNvSpPr>
          <p:nvPr>
            <p:ph type="sldNum" sz="quarter" idx="12"/>
          </p:nvPr>
        </p:nvSpPr>
        <p:spPr/>
        <p:txBody>
          <a:bodyPr/>
          <a:lstStyle/>
          <a:p>
            <a:pPr>
              <a:defRPr/>
            </a:pPr>
            <a:fld id="{3F79E695-5E2C-414D-A20C-8276FF44A841}" type="slidenum">
              <a:rPr lang="en-GB" altLang="en-US" smtClean="0"/>
              <a:pPr>
                <a:defRPr/>
              </a:pPr>
              <a:t>42</a:t>
            </a:fld>
            <a:endParaRPr lang="en-GB" altLang="en-US" dirty="0"/>
          </a:p>
        </p:txBody>
      </p:sp>
    </p:spTree>
    <p:extLst>
      <p:ext uri="{BB962C8B-B14F-4D97-AF65-F5344CB8AC3E}">
        <p14:creationId xmlns:p14="http://schemas.microsoft.com/office/powerpoint/2010/main" val="14966896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6" name="Rectangle 5"/>
          <p:cNvSpPr>
            <a:spLocks noGrp="1" noRot="1" noChangeArrowheads="1"/>
          </p:cNvSpPr>
          <p:nvPr>
            <p:ph type="title"/>
          </p:nvPr>
        </p:nvSpPr>
        <p:spPr>
          <a:xfrm>
            <a:off x="1981201" y="274638"/>
            <a:ext cx="8291513" cy="798512"/>
          </a:xfrm>
        </p:spPr>
        <p:txBody>
          <a:bodyPr/>
          <a:lstStyle/>
          <a:p>
            <a:pPr eaLnBrk="1" hangingPunct="1"/>
            <a:r>
              <a:rPr lang="en-US" altLang="en-GB" sz="3200"/>
              <a:t>THE HAZARD FUNCTION</a:t>
            </a:r>
          </a:p>
        </p:txBody>
      </p:sp>
      <p:pic>
        <p:nvPicPr>
          <p:cNvPr id="5" name="Content Placeholder 4"/>
          <p:cNvPicPr>
            <a:picLocks noGrp="1" noChangeAspect="1"/>
          </p:cNvPicPr>
          <p:nvPr>
            <p:ph idx="1"/>
          </p:nvPr>
        </p:nvPicPr>
        <p:blipFill>
          <a:blip r:embed="rId2"/>
          <a:stretch>
            <a:fillRect/>
          </a:stretch>
        </p:blipFill>
        <p:spPr>
          <a:xfrm>
            <a:off x="1055440" y="1412776"/>
            <a:ext cx="10225136" cy="4145743"/>
          </a:xfrm>
          <a:prstGeom prst="rect">
            <a:avLst/>
          </a:prstGeom>
        </p:spPr>
      </p:pic>
      <p:sp>
        <p:nvSpPr>
          <p:cNvPr id="52228"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BC4B5E90-21B1-4E82-BA58-0593E33165CC}" type="slidenum">
              <a:rPr lang="en-GB" altLang="en-US" sz="1200">
                <a:latin typeface="Arial" panose="020B0604020202020204" pitchFamily="34" charset="0"/>
                <a:cs typeface="Arial" panose="020B0604020202020204" pitchFamily="34" charset="0"/>
              </a:rPr>
              <a:pPr fontAlgn="base">
                <a:spcBef>
                  <a:spcPct val="0"/>
                </a:spcBef>
                <a:spcAft>
                  <a:spcPct val="0"/>
                </a:spcAft>
              </a:pPr>
              <a:t>43</a:t>
            </a:fld>
            <a:endParaRPr lang="en-GB" altLang="en-US" sz="1200">
              <a:latin typeface="Arial" panose="020B0604020202020204" pitchFamily="34" charset="0"/>
              <a:cs typeface="Arial" panose="020B0604020202020204" pitchFamily="3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6" name="Rectangle 5"/>
          <p:cNvSpPr>
            <a:spLocks noGrp="1" noRot="1" noChangeArrowheads="1"/>
          </p:cNvSpPr>
          <p:nvPr>
            <p:ph type="title"/>
          </p:nvPr>
        </p:nvSpPr>
        <p:spPr>
          <a:xfrm>
            <a:off x="1981201" y="274638"/>
            <a:ext cx="8291513" cy="798512"/>
          </a:xfrm>
        </p:spPr>
        <p:txBody>
          <a:bodyPr/>
          <a:lstStyle/>
          <a:p>
            <a:pPr eaLnBrk="1" hangingPunct="1"/>
            <a:r>
              <a:rPr lang="en-US" altLang="en-GB" sz="3200"/>
              <a:t>THE HAZARD FUNCTION</a:t>
            </a:r>
          </a:p>
        </p:txBody>
      </p:sp>
      <p:graphicFrame>
        <p:nvGraphicFramePr>
          <p:cNvPr id="52227" name="Object 4"/>
          <p:cNvGraphicFramePr>
            <a:graphicFrameLocks noGrp="1" noChangeAspect="1"/>
          </p:cNvGraphicFramePr>
          <p:nvPr>
            <p:ph idx="1"/>
            <p:extLst>
              <p:ext uri="{D42A27DB-BD31-4B8C-83A1-F6EECF244321}">
                <p14:modId xmlns:p14="http://schemas.microsoft.com/office/powerpoint/2010/main" val="376391979"/>
              </p:ext>
            </p:extLst>
          </p:nvPr>
        </p:nvGraphicFramePr>
        <p:xfrm>
          <a:off x="2351882" y="1100582"/>
          <a:ext cx="7550150" cy="5111750"/>
        </p:xfrm>
        <a:graphic>
          <a:graphicData uri="http://schemas.openxmlformats.org/presentationml/2006/ole">
            <mc:AlternateContent xmlns:mc="http://schemas.openxmlformats.org/markup-compatibility/2006">
              <mc:Choice xmlns:v="urn:schemas-microsoft-com:vml" Requires="v">
                <p:oleObj spid="_x0000_s101396" name="Mtb Graph" r:id="rId3" imgW="10546200" imgH="7131240" progId="MinitabGraph.Document">
                  <p:embed/>
                </p:oleObj>
              </mc:Choice>
              <mc:Fallback>
                <p:oleObj name="Mtb Graph" r:id="rId3" imgW="10546200" imgH="7131240" progId="MinitabGraph.Document">
                  <p:embed/>
                  <p:pic>
                    <p:nvPicPr>
                      <p:cNvPr id="52227"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1882" y="1100582"/>
                        <a:ext cx="7550150" cy="5111750"/>
                      </a:xfrm>
                      <a:prstGeom prst="rect">
                        <a:avLst/>
                      </a:prstGeom>
                      <a:noFill/>
                      <a:ln>
                        <a:noFill/>
                      </a:ln>
                      <a:effectLst/>
                      <a:extLst/>
                    </p:spPr>
                  </p:pic>
                </p:oleObj>
              </mc:Fallback>
            </mc:AlternateContent>
          </a:graphicData>
        </a:graphic>
      </p:graphicFrame>
      <p:sp>
        <p:nvSpPr>
          <p:cNvPr id="52228"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BC4B5E90-21B1-4E82-BA58-0593E33165CC}" type="slidenum">
              <a:rPr lang="en-GB" altLang="en-US" sz="1200">
                <a:latin typeface="Arial" panose="020B0604020202020204" pitchFamily="34" charset="0"/>
                <a:cs typeface="Arial" panose="020B0604020202020204" pitchFamily="34" charset="0"/>
              </a:rPr>
              <a:pPr fontAlgn="base">
                <a:spcBef>
                  <a:spcPct val="0"/>
                </a:spcBef>
                <a:spcAft>
                  <a:spcPct val="0"/>
                </a:spcAft>
              </a:pPr>
              <a:t>44</a:t>
            </a:fld>
            <a:endParaRPr lang="en-GB" altLang="en-US" sz="12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676354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250" name="Rectangle 5"/>
          <p:cNvSpPr>
            <a:spLocks noGrp="1" noRot="1" noChangeArrowheads="1"/>
          </p:cNvSpPr>
          <p:nvPr>
            <p:ph type="title"/>
          </p:nvPr>
        </p:nvSpPr>
        <p:spPr>
          <a:xfrm>
            <a:off x="1981200" y="274638"/>
            <a:ext cx="8229600" cy="595312"/>
          </a:xfrm>
        </p:spPr>
        <p:txBody>
          <a:bodyPr/>
          <a:lstStyle/>
          <a:p>
            <a:pPr eaLnBrk="1" hangingPunct="1"/>
            <a:endParaRPr lang="en-US" altLang="en-GB" sz="3200"/>
          </a:p>
        </p:txBody>
      </p:sp>
      <p:sp>
        <p:nvSpPr>
          <p:cNvPr id="53251"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E38942E4-F925-44CD-8D5F-D4C5B02F2365}" type="slidenum">
              <a:rPr lang="en-GB" altLang="en-US" sz="1200">
                <a:latin typeface="Arial" panose="020B0604020202020204" pitchFamily="34" charset="0"/>
                <a:cs typeface="Arial" panose="020B0604020202020204" pitchFamily="34" charset="0"/>
              </a:rPr>
              <a:pPr fontAlgn="base">
                <a:spcBef>
                  <a:spcPct val="0"/>
                </a:spcBef>
                <a:spcAft>
                  <a:spcPct val="0"/>
                </a:spcAft>
              </a:pPr>
              <a:t>45</a:t>
            </a:fld>
            <a:endParaRPr lang="en-GB" altLang="en-US" sz="1200">
              <a:latin typeface="Arial" panose="020B0604020202020204" pitchFamily="34" charset="0"/>
              <a:cs typeface="Arial" panose="020B0604020202020204" pitchFamily="34" charset="0"/>
            </a:endParaRPr>
          </a:p>
        </p:txBody>
      </p:sp>
      <p:graphicFrame>
        <p:nvGraphicFramePr>
          <p:cNvPr id="53252" name="Object 8"/>
          <p:cNvGraphicFramePr>
            <a:graphicFrameLocks noChangeAspect="1"/>
          </p:cNvGraphicFramePr>
          <p:nvPr/>
        </p:nvGraphicFramePr>
        <p:xfrm>
          <a:off x="1992313" y="1263651"/>
          <a:ext cx="7848600" cy="5307013"/>
        </p:xfrm>
        <a:graphic>
          <a:graphicData uri="http://schemas.openxmlformats.org/presentationml/2006/ole">
            <mc:AlternateContent xmlns:mc="http://schemas.openxmlformats.org/markup-compatibility/2006">
              <mc:Choice xmlns:v="urn:schemas-microsoft-com:vml" Requires="v">
                <p:oleObj spid="_x0000_s53272" name="Mtb Graph" r:id="rId3" imgW="10546200" imgH="7131240" progId="MinitabGraph.Document">
                  <p:embed/>
                </p:oleObj>
              </mc:Choice>
              <mc:Fallback>
                <p:oleObj name="Mtb Graph" r:id="rId3" imgW="10546200" imgH="7131240" progId="MinitabGraph.Document">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2313" y="1263651"/>
                        <a:ext cx="7848600" cy="5307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3253" name="Freeform 10"/>
          <p:cNvSpPr>
            <a:spLocks/>
          </p:cNvSpPr>
          <p:nvPr/>
        </p:nvSpPr>
        <p:spPr bwMode="auto">
          <a:xfrm>
            <a:off x="3287713" y="5084764"/>
            <a:ext cx="5040312" cy="587375"/>
          </a:xfrm>
          <a:custGeom>
            <a:avLst/>
            <a:gdLst>
              <a:gd name="T0" fmla="*/ 0 w 3084"/>
              <a:gd name="T1" fmla="*/ 2147483646 h 1141"/>
              <a:gd name="T2" fmla="*/ 2147483646 w 3084"/>
              <a:gd name="T3" fmla="*/ 2147483646 h 1141"/>
              <a:gd name="T4" fmla="*/ 2147483646 w 3084"/>
              <a:gd name="T5" fmla="*/ 2147483646 h 1141"/>
              <a:gd name="T6" fmla="*/ 2147483646 w 3084"/>
              <a:gd name="T7" fmla="*/ 2147483646 h 1141"/>
              <a:gd name="T8" fmla="*/ 2147483646 w 3084"/>
              <a:gd name="T9" fmla="*/ 2147483646 h 1141"/>
              <a:gd name="T10" fmla="*/ 2147483646 w 3084"/>
              <a:gd name="T11" fmla="*/ 2147483646 h 1141"/>
              <a:gd name="T12" fmla="*/ 2147483646 w 3084"/>
              <a:gd name="T13" fmla="*/ 2147483646 h 1141"/>
              <a:gd name="T14" fmla="*/ 0 60000 65536"/>
              <a:gd name="T15" fmla="*/ 0 60000 65536"/>
              <a:gd name="T16" fmla="*/ 0 60000 65536"/>
              <a:gd name="T17" fmla="*/ 0 60000 65536"/>
              <a:gd name="T18" fmla="*/ 0 60000 65536"/>
              <a:gd name="T19" fmla="*/ 0 60000 65536"/>
              <a:gd name="T20" fmla="*/ 0 60000 65536"/>
              <a:gd name="T21" fmla="*/ 0 w 3084"/>
              <a:gd name="T22" fmla="*/ 0 h 1141"/>
              <a:gd name="T23" fmla="*/ 3084 w 3084"/>
              <a:gd name="T24" fmla="*/ 1141 h 1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84" h="1141">
                <a:moveTo>
                  <a:pt x="0" y="1141"/>
                </a:moveTo>
                <a:cubicBezTo>
                  <a:pt x="22" y="1122"/>
                  <a:pt x="45" y="1103"/>
                  <a:pt x="136" y="1050"/>
                </a:cubicBezTo>
                <a:cubicBezTo>
                  <a:pt x="227" y="997"/>
                  <a:pt x="385" y="907"/>
                  <a:pt x="544" y="824"/>
                </a:cubicBezTo>
                <a:cubicBezTo>
                  <a:pt x="703" y="741"/>
                  <a:pt x="892" y="634"/>
                  <a:pt x="1089" y="551"/>
                </a:cubicBezTo>
                <a:cubicBezTo>
                  <a:pt x="1286" y="468"/>
                  <a:pt x="1437" y="408"/>
                  <a:pt x="1724" y="325"/>
                </a:cubicBezTo>
                <a:cubicBezTo>
                  <a:pt x="2011" y="242"/>
                  <a:pt x="2585" y="106"/>
                  <a:pt x="2812" y="53"/>
                </a:cubicBezTo>
                <a:cubicBezTo>
                  <a:pt x="3039" y="0"/>
                  <a:pt x="3039" y="15"/>
                  <a:pt x="3084" y="7"/>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4" name="Rectangle 2"/>
          <p:cNvSpPr>
            <a:spLocks noGrp="1" noRot="1" noChangeArrowheads="1"/>
          </p:cNvSpPr>
          <p:nvPr>
            <p:ph type="title"/>
          </p:nvPr>
        </p:nvSpPr>
        <p:spPr>
          <a:xfrm>
            <a:off x="1981200" y="274638"/>
            <a:ext cx="8229600" cy="595312"/>
          </a:xfrm>
        </p:spPr>
        <p:txBody>
          <a:bodyPr/>
          <a:lstStyle/>
          <a:p>
            <a:pPr eaLnBrk="1" hangingPunct="1"/>
            <a:r>
              <a:rPr lang="en-GB" altLang="en-GB" sz="3200" i="1"/>
              <a:t>Comparing Hazard Functions</a:t>
            </a:r>
          </a:p>
        </p:txBody>
      </p:sp>
      <p:sp>
        <p:nvSpPr>
          <p:cNvPr id="250883" name="Rectangle 3">
            <a:extLst>
              <a:ext uri="{FF2B5EF4-FFF2-40B4-BE49-F238E27FC236}">
                <a16:creationId xmlns:a16="http://schemas.microsoft.com/office/drawing/2014/main" id="{3E59BA38-FC03-4D6D-99E0-DBF5DC39EA38}"/>
              </a:ext>
            </a:extLst>
          </p:cNvPr>
          <p:cNvSpPr>
            <a:spLocks noGrp="1" noChangeArrowheads="1"/>
          </p:cNvSpPr>
          <p:nvPr>
            <p:ph idx="1"/>
          </p:nvPr>
        </p:nvSpPr>
        <p:spPr>
          <a:xfrm>
            <a:off x="1919289" y="1052514"/>
            <a:ext cx="8497887" cy="5184775"/>
          </a:xfrm>
        </p:spPr>
        <p:txBody>
          <a:bodyPr rtlCol="0">
            <a:normAutofit/>
          </a:bodyPr>
          <a:lstStyle/>
          <a:p>
            <a:pPr eaLnBrk="1" fontAlgn="auto" hangingPunct="1">
              <a:spcAft>
                <a:spcPts val="0"/>
              </a:spcAft>
              <a:defRPr/>
            </a:pPr>
            <a:r>
              <a:rPr lang="en-GB" dirty="0">
                <a:cs typeface="+mn-cs"/>
              </a:rPr>
              <a:t>Hazard functions can be formally compared using regression models - adjustment for potential confounders can also be made.</a:t>
            </a:r>
            <a:br>
              <a:rPr lang="en-GB" dirty="0">
                <a:cs typeface="+mn-cs"/>
              </a:rPr>
            </a:br>
            <a:br>
              <a:rPr lang="en-GB" sz="1000" dirty="0">
                <a:cs typeface="+mn-cs"/>
              </a:rPr>
            </a:br>
            <a:r>
              <a:rPr lang="en-GB" dirty="0">
                <a:cs typeface="+mn-cs"/>
              </a:rPr>
              <a:t>A commonly used model is </a:t>
            </a:r>
            <a:r>
              <a:rPr lang="en-GB" i="1" dirty="0">
                <a:cs typeface="+mn-cs"/>
              </a:rPr>
              <a:t>Cox’s Proportional Hazards Model.</a:t>
            </a:r>
          </a:p>
          <a:p>
            <a:pPr eaLnBrk="1" fontAlgn="auto" hangingPunct="1">
              <a:spcAft>
                <a:spcPts val="0"/>
              </a:spcAft>
              <a:defRPr/>
            </a:pPr>
            <a:endParaRPr lang="en-GB" sz="1600" i="1" dirty="0">
              <a:cs typeface="+mn-cs"/>
            </a:endParaRPr>
          </a:p>
          <a:p>
            <a:pPr eaLnBrk="1" fontAlgn="auto" hangingPunct="1">
              <a:spcAft>
                <a:spcPts val="0"/>
              </a:spcAft>
              <a:defRPr/>
            </a:pPr>
            <a:r>
              <a:rPr lang="en-GB" b="1" dirty="0">
                <a:cs typeface="+mn-cs"/>
              </a:rPr>
              <a:t>This model is based upon the assumption that the </a:t>
            </a:r>
            <a:r>
              <a:rPr lang="en-GB" b="1" i="1" dirty="0">
                <a:cs typeface="+mn-cs"/>
              </a:rPr>
              <a:t>ratio</a:t>
            </a:r>
            <a:r>
              <a:rPr lang="en-GB" b="1" dirty="0">
                <a:cs typeface="+mn-cs"/>
              </a:rPr>
              <a:t> of hazard rates is </a:t>
            </a:r>
            <a:r>
              <a:rPr lang="en-GB" b="1" i="1" dirty="0">
                <a:cs typeface="+mn-cs"/>
              </a:rPr>
              <a:t>constant</a:t>
            </a:r>
            <a:r>
              <a:rPr lang="en-GB" b="1" dirty="0">
                <a:cs typeface="+mn-cs"/>
              </a:rPr>
              <a:t> over time </a:t>
            </a:r>
          </a:p>
          <a:p>
            <a:pPr eaLnBrk="1" fontAlgn="auto" hangingPunct="1">
              <a:spcAft>
                <a:spcPts val="0"/>
              </a:spcAft>
              <a:defRPr/>
            </a:pPr>
            <a:endParaRPr lang="en-GB" dirty="0">
              <a:cs typeface="+mn-cs"/>
            </a:endParaRPr>
          </a:p>
          <a:p>
            <a:pPr eaLnBrk="1" fontAlgn="auto" hangingPunct="1">
              <a:spcAft>
                <a:spcPts val="0"/>
              </a:spcAft>
              <a:defRPr/>
            </a:pPr>
            <a:r>
              <a:rPr lang="en-GB" dirty="0">
                <a:cs typeface="+mn-cs"/>
              </a:rPr>
              <a:t>E.g. if the ratio in hazards is 2.0 then, at any given time point, those in the control group are twice as likely to die  (relapse in 6-MP) than the intervention.</a:t>
            </a:r>
          </a:p>
        </p:txBody>
      </p:sp>
      <p:sp>
        <p:nvSpPr>
          <p:cNvPr id="54276"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EA5B21BB-7701-4019-A395-2E4DDE4F67F5}" type="slidenum">
              <a:rPr lang="en-GB" altLang="en-US" sz="1200">
                <a:latin typeface="Arial" panose="020B0604020202020204" pitchFamily="34" charset="0"/>
                <a:cs typeface="Arial" panose="020B0604020202020204" pitchFamily="34" charset="0"/>
              </a:rPr>
              <a:pPr fontAlgn="base">
                <a:spcBef>
                  <a:spcPct val="0"/>
                </a:spcBef>
                <a:spcAft>
                  <a:spcPct val="0"/>
                </a:spcAft>
              </a:pPr>
              <a:t>46</a:t>
            </a:fld>
            <a:endParaRPr lang="en-GB" altLang="en-US" sz="1200">
              <a:latin typeface="Arial" panose="020B0604020202020204" pitchFamily="34" charset="0"/>
              <a:cs typeface="Arial" panose="020B0604020202020204"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3653" name="Rectangle 5">
            <a:extLst>
              <a:ext uri="{FF2B5EF4-FFF2-40B4-BE49-F238E27FC236}">
                <a16:creationId xmlns:a16="http://schemas.microsoft.com/office/drawing/2014/main" id="{17C5639A-AD9E-4936-9C50-EF2621EBC3EB}"/>
              </a:ext>
            </a:extLst>
          </p:cNvPr>
          <p:cNvSpPr>
            <a:spLocks noGrp="1" noRot="1" noChangeArrowheads="1"/>
          </p:cNvSpPr>
          <p:nvPr>
            <p:ph type="title"/>
          </p:nvPr>
        </p:nvSpPr>
        <p:spPr>
          <a:xfrm>
            <a:off x="1981200" y="274638"/>
            <a:ext cx="8229600" cy="595312"/>
          </a:xfrm>
        </p:spPr>
        <p:txBody>
          <a:bodyPr rtlCol="0">
            <a:normAutofit/>
          </a:bodyPr>
          <a:lstStyle/>
          <a:p>
            <a:pPr eaLnBrk="1" fontAlgn="auto" hangingPunct="1">
              <a:spcAft>
                <a:spcPts val="0"/>
              </a:spcAft>
              <a:defRPr/>
            </a:pPr>
            <a:r>
              <a:rPr lang="en-GB" sz="3200"/>
              <a:t>The Hazard Function – </a:t>
            </a:r>
            <a:r>
              <a:rPr lang="en-GB" sz="3200" i="1"/>
              <a:t>Proportional Hazards</a:t>
            </a:r>
          </a:p>
        </p:txBody>
      </p:sp>
      <p:sp>
        <p:nvSpPr>
          <p:cNvPr id="2" name="Content Placeholder 1"/>
          <p:cNvSpPr>
            <a:spLocks noGrp="1"/>
          </p:cNvSpPr>
          <p:nvPr>
            <p:ph idx="1"/>
          </p:nvPr>
        </p:nvSpPr>
        <p:spPr>
          <a:xfrm>
            <a:off x="7032104" y="1412776"/>
            <a:ext cx="3312368" cy="3672408"/>
          </a:xfrm>
        </p:spPr>
        <p:txBody>
          <a:bodyPr>
            <a:normAutofit lnSpcReduction="10000"/>
          </a:bodyPr>
          <a:lstStyle/>
          <a:p>
            <a:r>
              <a:rPr lang="en-US" dirty="0"/>
              <a:t>The assumption would be violated if:</a:t>
            </a:r>
          </a:p>
          <a:p>
            <a:r>
              <a:rPr lang="en-US" dirty="0"/>
              <a:t>The curves cross</a:t>
            </a:r>
          </a:p>
          <a:p>
            <a:r>
              <a:rPr lang="en-US" dirty="0"/>
              <a:t>The gap widens or narrows over time</a:t>
            </a:r>
          </a:p>
          <a:p>
            <a:r>
              <a:rPr lang="en-US" dirty="0"/>
              <a:t>One curve bends sharply while the other stays flat</a:t>
            </a:r>
          </a:p>
          <a:p>
            <a:endParaRPr lang="en-GB" dirty="0"/>
          </a:p>
        </p:txBody>
      </p:sp>
      <p:sp>
        <p:nvSpPr>
          <p:cNvPr id="55300"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0039D902-C617-410B-870A-FFF823A0A77A}" type="slidenum">
              <a:rPr lang="en-GB" altLang="en-US" sz="1200">
                <a:latin typeface="Arial" panose="020B0604020202020204" pitchFamily="34" charset="0"/>
                <a:cs typeface="Arial" panose="020B0604020202020204" pitchFamily="34" charset="0"/>
              </a:rPr>
              <a:pPr fontAlgn="base">
                <a:spcBef>
                  <a:spcPct val="0"/>
                </a:spcBef>
                <a:spcAft>
                  <a:spcPct val="0"/>
                </a:spcAft>
              </a:pPr>
              <a:t>47</a:t>
            </a:fld>
            <a:endParaRPr lang="en-GB" altLang="en-US" sz="1200">
              <a:latin typeface="Arial" panose="020B0604020202020204" pitchFamily="34" charset="0"/>
              <a:cs typeface="Arial" panose="020B0604020202020204" pitchFamily="34" charset="0"/>
            </a:endParaRPr>
          </a:p>
        </p:txBody>
      </p:sp>
      <p:pic>
        <p:nvPicPr>
          <p:cNvPr id="3" name="Picture 2"/>
          <p:cNvPicPr>
            <a:picLocks noChangeAspect="1"/>
          </p:cNvPicPr>
          <p:nvPr/>
        </p:nvPicPr>
        <p:blipFill>
          <a:blip r:embed="rId2"/>
          <a:stretch>
            <a:fillRect/>
          </a:stretch>
        </p:blipFill>
        <p:spPr>
          <a:xfrm>
            <a:off x="1703512" y="1488356"/>
            <a:ext cx="5179218" cy="3452812"/>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noChangeArrowheads="1"/>
          </p:cNvSpPr>
          <p:nvPr>
            <p:ph type="title"/>
          </p:nvPr>
        </p:nvSpPr>
        <p:spPr>
          <a:xfrm>
            <a:off x="1631505" y="227808"/>
            <a:ext cx="8856663" cy="896937"/>
          </a:xfrm>
        </p:spPr>
        <p:txBody>
          <a:bodyPr/>
          <a:lstStyle/>
          <a:p>
            <a:pPr eaLnBrk="1" hangingPunct="1"/>
            <a:r>
              <a:rPr lang="en-GB" altLang="en-GB" dirty="0"/>
              <a:t>Cox Proportional Hazard Model</a:t>
            </a:r>
          </a:p>
        </p:txBody>
      </p:sp>
      <p:sp>
        <p:nvSpPr>
          <p:cNvPr id="56323" name="Content Placeholder 2"/>
          <p:cNvSpPr>
            <a:spLocks noGrp="1" noChangeArrowheads="1"/>
          </p:cNvSpPr>
          <p:nvPr>
            <p:ph idx="1"/>
          </p:nvPr>
        </p:nvSpPr>
        <p:spPr>
          <a:xfrm>
            <a:off x="1127448" y="1124744"/>
            <a:ext cx="9865096" cy="5472608"/>
          </a:xfrm>
        </p:spPr>
        <p:txBody>
          <a:bodyPr>
            <a:noAutofit/>
          </a:bodyPr>
          <a:lstStyle/>
          <a:p>
            <a:pPr eaLnBrk="1" hangingPunct="1">
              <a:lnSpc>
                <a:spcPct val="120000"/>
              </a:lnSpc>
            </a:pPr>
            <a:r>
              <a:rPr lang="en-GB" altLang="en-GB" sz="2300" dirty="0"/>
              <a:t>With the Cox model, we model the impact of different factors 𝑋</a:t>
            </a:r>
            <a:r>
              <a:rPr lang="en-GB" altLang="en-GB" sz="2300" baseline="-25000" dirty="0"/>
              <a:t>1</a:t>
            </a:r>
            <a:r>
              <a:rPr lang="en-GB" altLang="en-GB" sz="2300" dirty="0"/>
              <a:t>,𝑋</a:t>
            </a:r>
            <a:r>
              <a:rPr lang="en-GB" altLang="en-GB" sz="2300" baseline="-25000" dirty="0"/>
              <a:t>2</a:t>
            </a:r>
            <a:r>
              <a:rPr lang="en-GB" altLang="en-GB" sz="2300" dirty="0"/>
              <a:t>,…,𝑋</a:t>
            </a:r>
            <a:r>
              <a:rPr lang="en-GB" altLang="en-GB" sz="2300" baseline="-25000" dirty="0"/>
              <a:t>𝑞</a:t>
            </a:r>
            <a:r>
              <a:rPr lang="en-GB" altLang="en-GB" sz="2300" dirty="0"/>
              <a:t> on survival via their impact on the hazard function:</a:t>
            </a:r>
          </a:p>
          <a:p>
            <a:pPr lvl="2" eaLnBrk="1" hangingPunct="1"/>
            <a:r>
              <a:rPr lang="en-GB" altLang="en-GB" sz="2300" dirty="0"/>
              <a:t>h(</a:t>
            </a:r>
            <a:r>
              <a:rPr lang="en-GB" altLang="en-GB" sz="2300" dirty="0" err="1"/>
              <a:t>t|X</a:t>
            </a:r>
            <a:r>
              <a:rPr lang="en-GB" altLang="en-GB" sz="2300" dirty="0"/>
              <a:t>)=h</a:t>
            </a:r>
            <a:r>
              <a:rPr lang="en-GB" altLang="en-GB" sz="2300" baseline="-25000" dirty="0"/>
              <a:t>0</a:t>
            </a:r>
            <a:r>
              <a:rPr lang="en-GB" altLang="en-GB" sz="2300" dirty="0"/>
              <a:t>(t)</a:t>
            </a:r>
            <a:r>
              <a:rPr lang="en-GB" altLang="en-GB" sz="2000" i="1" dirty="0" err="1"/>
              <a:t>exp</a:t>
            </a:r>
            <a:r>
              <a:rPr lang="en-GB" altLang="en-GB" sz="2300" dirty="0"/>
              <a:t>(</a:t>
            </a:r>
            <a:r>
              <a:rPr lang="el-GR" altLang="en-GB" sz="2300" dirty="0"/>
              <a:t>β</a:t>
            </a:r>
            <a:r>
              <a:rPr lang="el-GR" altLang="en-GB" sz="2300" baseline="-25000" dirty="0"/>
              <a:t>1</a:t>
            </a:r>
            <a:r>
              <a:rPr lang="en-GB" altLang="en-GB" sz="2300" dirty="0"/>
              <a:t>X</a:t>
            </a:r>
            <a:r>
              <a:rPr lang="en-GB" altLang="en-GB" sz="2300" baseline="-25000" dirty="0"/>
              <a:t>1</a:t>
            </a:r>
            <a:r>
              <a:rPr lang="en-GB" altLang="en-GB" sz="2300" dirty="0"/>
              <a:t>+</a:t>
            </a:r>
            <a:r>
              <a:rPr lang="el-GR" altLang="en-GB" sz="2300" dirty="0"/>
              <a:t>β</a:t>
            </a:r>
            <a:r>
              <a:rPr lang="el-GR" altLang="en-GB" sz="2300" baseline="-25000" dirty="0"/>
              <a:t>2</a:t>
            </a:r>
            <a:r>
              <a:rPr lang="en-GB" altLang="en-GB" sz="2300" dirty="0"/>
              <a:t>X</a:t>
            </a:r>
            <a:r>
              <a:rPr lang="en-GB" altLang="en-GB" sz="2300" baseline="-25000" dirty="0"/>
              <a:t>2</a:t>
            </a:r>
            <a:r>
              <a:rPr lang="en-GB" altLang="en-GB" sz="2300" dirty="0"/>
              <a:t>+⋯+</a:t>
            </a:r>
            <a:r>
              <a:rPr lang="el-GR" altLang="en-GB" sz="2300" dirty="0"/>
              <a:t>β</a:t>
            </a:r>
            <a:r>
              <a:rPr lang="en-GB" altLang="en-GB" sz="2300" baseline="-25000" dirty="0" err="1"/>
              <a:t>q</a:t>
            </a:r>
            <a:r>
              <a:rPr lang="en-GB" altLang="en-GB" sz="2300" dirty="0" err="1"/>
              <a:t>X</a:t>
            </a:r>
            <a:r>
              <a:rPr lang="en-GB" altLang="en-GB" sz="2300" baseline="-25000" dirty="0" err="1"/>
              <a:t>q</a:t>
            </a:r>
            <a:r>
              <a:rPr lang="en-GB" altLang="en-GB" sz="2300" dirty="0"/>
              <a:t>), </a:t>
            </a:r>
          </a:p>
          <a:p>
            <a:pPr eaLnBrk="1" hangingPunct="1"/>
            <a:r>
              <a:rPr lang="en-GB" altLang="en-GB" sz="2300" dirty="0"/>
              <a:t>where:</a:t>
            </a:r>
          </a:p>
          <a:p>
            <a:pPr eaLnBrk="1" hangingPunct="1">
              <a:lnSpc>
                <a:spcPct val="120000"/>
              </a:lnSpc>
            </a:pPr>
            <a:r>
              <a:rPr lang="en-GB" altLang="en-GB" sz="2300" dirty="0"/>
              <a:t>h(</a:t>
            </a:r>
            <a:r>
              <a:rPr lang="en-GB" altLang="en-GB" sz="2300" dirty="0" err="1"/>
              <a:t>t|X</a:t>
            </a:r>
            <a:r>
              <a:rPr lang="en-GB" altLang="en-GB" sz="2300" dirty="0"/>
              <a:t>) </a:t>
            </a:r>
            <a:r>
              <a:rPr lang="en-US" altLang="en-GB" sz="2300" dirty="0"/>
              <a:t>= </a:t>
            </a:r>
            <a:r>
              <a:rPr lang="en-US" altLang="en-GB" sz="2000" dirty="0"/>
              <a:t>hazard at time 𝑡 for a person with covariates 𝑋</a:t>
            </a:r>
          </a:p>
          <a:p>
            <a:pPr eaLnBrk="1" hangingPunct="1">
              <a:lnSpc>
                <a:spcPct val="120000"/>
              </a:lnSpc>
            </a:pPr>
            <a:r>
              <a:rPr lang="en-GB" altLang="en-GB" sz="2300" dirty="0"/>
              <a:t>h</a:t>
            </a:r>
            <a:r>
              <a:rPr lang="en-GB" altLang="en-GB" sz="2300" baseline="-25000" dirty="0"/>
              <a:t>0</a:t>
            </a:r>
            <a:r>
              <a:rPr lang="en-GB" altLang="en-GB" sz="2300" dirty="0"/>
              <a:t>(t) = </a:t>
            </a:r>
            <a:r>
              <a:rPr lang="en-GB" altLang="en-GB" sz="2000" dirty="0"/>
              <a:t>the population-level baseline hazard – the underlying hazard function.</a:t>
            </a:r>
          </a:p>
          <a:p>
            <a:pPr eaLnBrk="1" hangingPunct="1">
              <a:lnSpc>
                <a:spcPct val="120000"/>
              </a:lnSpc>
            </a:pPr>
            <a:r>
              <a:rPr lang="en-GB" altLang="en-GB" sz="2300" dirty="0"/>
              <a:t>𝑒𝑥𝑝(𝛽</a:t>
            </a:r>
            <a:r>
              <a:rPr lang="en-GB" altLang="en-GB" sz="2300" baseline="-25000" dirty="0"/>
              <a:t>1</a:t>
            </a:r>
            <a:r>
              <a:rPr lang="en-GB" altLang="en-GB" sz="2300" dirty="0"/>
              <a:t>𝑋</a:t>
            </a:r>
            <a:r>
              <a:rPr lang="en-GB" altLang="en-GB" sz="2300" baseline="-25000" dirty="0"/>
              <a:t>1</a:t>
            </a:r>
            <a:r>
              <a:rPr lang="en-GB" altLang="en-GB" sz="2300" dirty="0"/>
              <a:t>+𝛽</a:t>
            </a:r>
            <a:r>
              <a:rPr lang="en-GB" altLang="en-GB" sz="2300" baseline="-25000" dirty="0"/>
              <a:t>2</a:t>
            </a:r>
            <a:r>
              <a:rPr lang="en-GB" altLang="en-GB" sz="2300" dirty="0"/>
              <a:t>𝑋</a:t>
            </a:r>
            <a:r>
              <a:rPr lang="en-GB" altLang="en-GB" sz="2300" baseline="-25000" dirty="0"/>
              <a:t>2</a:t>
            </a:r>
            <a:r>
              <a:rPr lang="en-GB" altLang="en-GB" sz="2300" dirty="0"/>
              <a:t>+⋯+𝛽</a:t>
            </a:r>
            <a:r>
              <a:rPr lang="en-GB" altLang="en-GB" sz="2300" baseline="-25000" dirty="0"/>
              <a:t>𝑞</a:t>
            </a:r>
            <a:r>
              <a:rPr lang="en-GB" altLang="en-GB" sz="2300" dirty="0"/>
              <a:t>𝑋</a:t>
            </a:r>
            <a:r>
              <a:rPr lang="en-GB" altLang="en-GB" sz="2300" baseline="-25000" dirty="0"/>
              <a:t>𝑞</a:t>
            </a:r>
            <a:r>
              <a:rPr lang="en-GB" altLang="en-GB" sz="2300" dirty="0"/>
              <a:t>) describes how covariates affect the hazard.</a:t>
            </a:r>
          </a:p>
          <a:p>
            <a:pPr eaLnBrk="1" hangingPunct="1">
              <a:lnSpc>
                <a:spcPct val="120000"/>
              </a:lnSpc>
            </a:pPr>
            <a:r>
              <a:rPr lang="en-GB" altLang="en-GB" dirty="0"/>
              <a:t>In particular, a unit increase in 𝑥𝑖 leads to an increase of the hazard by a factor of </a:t>
            </a:r>
            <a:r>
              <a:rPr lang="en-GB" altLang="en-GB" dirty="0" err="1"/>
              <a:t>exp</a:t>
            </a:r>
            <a:r>
              <a:rPr lang="en-GB" altLang="en-GB" dirty="0"/>
              <a:t>⁡(𝛽𝑖)</a:t>
            </a:r>
            <a:br>
              <a:rPr lang="en-GB" altLang="en-GB" sz="2300" dirty="0"/>
            </a:br>
            <a:endParaRPr lang="en-GB" altLang="en-GB" sz="2300" dirty="0"/>
          </a:p>
        </p:txBody>
      </p:sp>
      <p:sp>
        <p:nvSpPr>
          <p:cNvPr id="4" name="Slide Number Placeholder 3">
            <a:extLst>
              <a:ext uri="{FF2B5EF4-FFF2-40B4-BE49-F238E27FC236}">
                <a16:creationId xmlns:a16="http://schemas.microsoft.com/office/drawing/2014/main" id="{4D1AC8F0-8B61-4C35-A211-9003A1981BAD}"/>
              </a:ext>
            </a:extLst>
          </p:cNvPr>
          <p:cNvSpPr>
            <a:spLocks noGrp="1"/>
          </p:cNvSpPr>
          <p:nvPr>
            <p:ph type="sldNum" sz="quarter" idx="12"/>
          </p:nvPr>
        </p:nvSpPr>
        <p:spPr/>
        <p:txBody>
          <a:bodyPr/>
          <a:lstStyle/>
          <a:p>
            <a:pPr>
              <a:defRPr/>
            </a:pPr>
            <a:fld id="{DD1088B2-50AF-4FF8-940D-E2C0CAB3E6C5}" type="slidenum">
              <a:rPr lang="en-GB" altLang="en-US"/>
              <a:pPr>
                <a:defRPr/>
              </a:pPr>
              <a:t>48</a:t>
            </a:fld>
            <a:endParaRPr lang="en-GB"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8" name="Title 1"/>
          <p:cNvSpPr>
            <a:spLocks noGrp="1" noChangeArrowheads="1"/>
          </p:cNvSpPr>
          <p:nvPr>
            <p:ph type="title"/>
          </p:nvPr>
        </p:nvSpPr>
        <p:spPr>
          <a:xfrm>
            <a:off x="1631951" y="300039"/>
            <a:ext cx="8856663" cy="896937"/>
          </a:xfrm>
        </p:spPr>
        <p:txBody>
          <a:bodyPr/>
          <a:lstStyle/>
          <a:p>
            <a:pPr eaLnBrk="1" hangingPunct="1"/>
            <a:r>
              <a:rPr lang="en-GB" altLang="en-GB"/>
              <a:t>Cox Proportional Hazard Model</a:t>
            </a:r>
          </a:p>
        </p:txBody>
      </p:sp>
      <p:sp>
        <p:nvSpPr>
          <p:cNvPr id="3" name="Content Placeholder 2">
            <a:extLst>
              <a:ext uri="{FF2B5EF4-FFF2-40B4-BE49-F238E27FC236}">
                <a16:creationId xmlns:a16="http://schemas.microsoft.com/office/drawing/2014/main" id="{B379C708-45CF-4121-8F81-732178EA190F}"/>
              </a:ext>
            </a:extLst>
          </p:cNvPr>
          <p:cNvSpPr>
            <a:spLocks noGrp="1"/>
          </p:cNvSpPr>
          <p:nvPr>
            <p:ph idx="1"/>
          </p:nvPr>
        </p:nvSpPr>
        <p:spPr>
          <a:xfrm>
            <a:off x="1055440" y="1196976"/>
            <a:ext cx="10081120" cy="5013325"/>
          </a:xfrm>
        </p:spPr>
        <p:txBody>
          <a:bodyPr rtlCol="0">
            <a:normAutofit fontScale="92500" lnSpcReduction="20000"/>
          </a:bodyPr>
          <a:lstStyle/>
          <a:p>
            <a:pPr algn="just" eaLnBrk="1" fontAlgn="auto" hangingPunct="1">
              <a:lnSpc>
                <a:spcPct val="110000"/>
              </a:lnSpc>
              <a:spcAft>
                <a:spcPts val="0"/>
              </a:spcAft>
              <a:defRPr/>
            </a:pPr>
            <a:r>
              <a:rPr lang="en-GB" dirty="0">
                <a:cs typeface="+mn-cs"/>
              </a:rPr>
              <a:t>Suppose the covariate (risk factor) is dichotomous and is coded 1 if present and 0 if absent. Then the quantity exp(b</a:t>
            </a:r>
            <a:r>
              <a:rPr lang="en-GB" baseline="-25000" dirty="0">
                <a:cs typeface="+mn-cs"/>
              </a:rPr>
              <a:t>i</a:t>
            </a:r>
            <a:r>
              <a:rPr lang="en-GB" dirty="0">
                <a:cs typeface="+mn-cs"/>
              </a:rPr>
              <a:t>) can be interpreted as the instantaneous relative risk of an event, at any time, for an individual with the risk factor present compared with an individual with the risk factor absent, given both individuals are the same on all other covariates.</a:t>
            </a:r>
          </a:p>
          <a:p>
            <a:pPr algn="just" eaLnBrk="1" fontAlgn="auto" hangingPunct="1">
              <a:lnSpc>
                <a:spcPct val="110000"/>
              </a:lnSpc>
              <a:spcAft>
                <a:spcPts val="0"/>
              </a:spcAft>
              <a:defRPr/>
            </a:pPr>
            <a:endParaRPr lang="en-GB" dirty="0">
              <a:cs typeface="+mn-cs"/>
            </a:endParaRPr>
          </a:p>
          <a:p>
            <a:pPr algn="just" eaLnBrk="1" fontAlgn="auto" hangingPunct="1">
              <a:lnSpc>
                <a:spcPct val="110000"/>
              </a:lnSpc>
              <a:spcAft>
                <a:spcPts val="0"/>
              </a:spcAft>
              <a:defRPr/>
            </a:pPr>
            <a:r>
              <a:rPr lang="en-GB" dirty="0">
                <a:cs typeface="+mn-cs"/>
              </a:rPr>
              <a:t>Suppose the covariate is continuous, then the quantity exp(b</a:t>
            </a:r>
            <a:r>
              <a:rPr lang="en-GB" baseline="-25000" dirty="0">
                <a:cs typeface="+mn-cs"/>
              </a:rPr>
              <a:t>i</a:t>
            </a:r>
            <a:r>
              <a:rPr lang="en-GB" dirty="0">
                <a:cs typeface="+mn-cs"/>
              </a:rPr>
              <a:t>) is the instantaneous relative risk of an event, at any time, for an individual with an increase of 1 in the value of the covariate compared with another individual, given both individuals are the same on all other covariates.</a:t>
            </a:r>
            <a:endParaRPr lang="en-KE" dirty="0">
              <a:cs typeface="+mn-cs"/>
            </a:endParaRPr>
          </a:p>
        </p:txBody>
      </p:sp>
      <p:sp>
        <p:nvSpPr>
          <p:cNvPr id="4" name="Slide Number Placeholder 3">
            <a:extLst>
              <a:ext uri="{FF2B5EF4-FFF2-40B4-BE49-F238E27FC236}">
                <a16:creationId xmlns:a16="http://schemas.microsoft.com/office/drawing/2014/main" id="{7A1DEFEE-08D2-4151-9C07-B09E3A8DF665}"/>
              </a:ext>
            </a:extLst>
          </p:cNvPr>
          <p:cNvSpPr>
            <a:spLocks noGrp="1"/>
          </p:cNvSpPr>
          <p:nvPr>
            <p:ph type="sldNum" sz="quarter" idx="12"/>
          </p:nvPr>
        </p:nvSpPr>
        <p:spPr/>
        <p:txBody>
          <a:bodyPr/>
          <a:lstStyle/>
          <a:p>
            <a:pPr>
              <a:defRPr/>
            </a:pPr>
            <a:fld id="{46CE4B26-260A-4578-A315-985A96A9B8D2}" type="slidenum">
              <a:rPr lang="en-GB" altLang="en-US"/>
              <a:pPr>
                <a:defRPr/>
              </a:pPr>
              <a:t>49</a:t>
            </a:fld>
            <a:endParaRPr lang="en-GB"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8" name="Title 1"/>
          <p:cNvSpPr>
            <a:spLocks noGrp="1" noChangeArrowheads="1"/>
          </p:cNvSpPr>
          <p:nvPr>
            <p:ph type="title"/>
          </p:nvPr>
        </p:nvSpPr>
        <p:spPr>
          <a:xfrm>
            <a:off x="1631951" y="300039"/>
            <a:ext cx="8856663" cy="896937"/>
          </a:xfrm>
        </p:spPr>
        <p:txBody>
          <a:bodyPr/>
          <a:lstStyle/>
          <a:p>
            <a:pPr eaLnBrk="1" hangingPunct="1"/>
            <a:r>
              <a:rPr lang="en-GB" altLang="en-GB" dirty="0"/>
              <a:t>Cox Proportional Hazard Model</a:t>
            </a:r>
          </a:p>
        </p:txBody>
      </p:sp>
      <p:sp>
        <p:nvSpPr>
          <p:cNvPr id="3" name="Content Placeholder 2">
            <a:extLst>
              <a:ext uri="{FF2B5EF4-FFF2-40B4-BE49-F238E27FC236}">
                <a16:creationId xmlns:a16="http://schemas.microsoft.com/office/drawing/2014/main" id="{B379C708-45CF-4121-8F81-732178EA190F}"/>
              </a:ext>
            </a:extLst>
          </p:cNvPr>
          <p:cNvSpPr>
            <a:spLocks noGrp="1"/>
          </p:cNvSpPr>
          <p:nvPr>
            <p:ph idx="1"/>
          </p:nvPr>
        </p:nvSpPr>
        <p:spPr>
          <a:xfrm>
            <a:off x="1127448" y="1007963"/>
            <a:ext cx="10226352" cy="5013325"/>
          </a:xfrm>
        </p:spPr>
        <p:txBody>
          <a:bodyPr rtlCol="0">
            <a:normAutofit lnSpcReduction="10000"/>
          </a:bodyPr>
          <a:lstStyle/>
          <a:p>
            <a:pPr algn="just" eaLnBrk="1" fontAlgn="auto" hangingPunct="1">
              <a:lnSpc>
                <a:spcPct val="110000"/>
              </a:lnSpc>
              <a:spcAft>
                <a:spcPts val="0"/>
              </a:spcAft>
              <a:defRPr/>
            </a:pPr>
            <a:r>
              <a:rPr lang="en-US" dirty="0">
                <a:cs typeface="+mn-cs"/>
              </a:rPr>
              <a:t>If 𝛽=0.5:</a:t>
            </a:r>
          </a:p>
          <a:p>
            <a:pPr marL="0" indent="0" algn="ctr" eaLnBrk="1" fontAlgn="auto" hangingPunct="1">
              <a:lnSpc>
                <a:spcPct val="110000"/>
              </a:lnSpc>
              <a:spcAft>
                <a:spcPts val="0"/>
              </a:spcAft>
              <a:buNone/>
              <a:defRPr/>
            </a:pPr>
            <a:r>
              <a:rPr lang="en-US" dirty="0">
                <a:cs typeface="+mn-cs"/>
              </a:rPr>
              <a:t>𝐻𝑅=𝑒</a:t>
            </a:r>
            <a:r>
              <a:rPr lang="en-US" baseline="30000" dirty="0">
                <a:cs typeface="+mn-cs"/>
              </a:rPr>
              <a:t>0.5</a:t>
            </a:r>
            <a:r>
              <a:rPr lang="en-US" dirty="0">
                <a:cs typeface="+mn-cs"/>
              </a:rPr>
              <a:t>=1.65</a:t>
            </a:r>
          </a:p>
          <a:p>
            <a:pPr algn="just" eaLnBrk="1" fontAlgn="auto" hangingPunct="1">
              <a:lnSpc>
                <a:spcPct val="110000"/>
              </a:lnSpc>
              <a:spcAft>
                <a:spcPts val="0"/>
              </a:spcAft>
              <a:defRPr/>
            </a:pPr>
            <a:r>
              <a:rPr lang="en-US" dirty="0">
                <a:cs typeface="+mn-cs"/>
              </a:rPr>
              <a:t>Interpretation:</a:t>
            </a:r>
          </a:p>
          <a:p>
            <a:pPr algn="just" eaLnBrk="1" fontAlgn="auto" hangingPunct="1">
              <a:lnSpc>
                <a:spcPct val="110000"/>
              </a:lnSpc>
              <a:spcAft>
                <a:spcPts val="0"/>
              </a:spcAft>
              <a:defRPr/>
            </a:pPr>
            <a:r>
              <a:rPr lang="en-US" dirty="0">
                <a:cs typeface="+mn-cs"/>
              </a:rPr>
              <a:t>Individuals with 𝑋=1 have a </a:t>
            </a:r>
            <a:r>
              <a:rPr lang="en-US" b="1" dirty="0">
                <a:cs typeface="+mn-cs"/>
              </a:rPr>
              <a:t>65% higher hazard </a:t>
            </a:r>
            <a:r>
              <a:rPr lang="en-US" dirty="0">
                <a:cs typeface="+mn-cs"/>
              </a:rPr>
              <a:t>of the event at any time compared to those with 𝑋=0.</a:t>
            </a:r>
          </a:p>
          <a:p>
            <a:pPr algn="just" eaLnBrk="1" fontAlgn="auto" hangingPunct="1">
              <a:lnSpc>
                <a:spcPct val="110000"/>
              </a:lnSpc>
              <a:spcAft>
                <a:spcPts val="0"/>
              </a:spcAft>
              <a:defRPr/>
            </a:pPr>
            <a:r>
              <a:rPr lang="en-US" dirty="0">
                <a:cs typeface="+mn-cs"/>
              </a:rPr>
              <a:t>If 𝛽=−0.7:</a:t>
            </a:r>
          </a:p>
          <a:p>
            <a:pPr algn="just" eaLnBrk="1" fontAlgn="auto" hangingPunct="1">
              <a:lnSpc>
                <a:spcPct val="110000"/>
              </a:lnSpc>
              <a:spcAft>
                <a:spcPts val="0"/>
              </a:spcAft>
              <a:defRPr/>
            </a:pPr>
            <a:r>
              <a:rPr lang="en-US" dirty="0">
                <a:cs typeface="+mn-cs"/>
              </a:rPr>
              <a:t>𝐻𝑅=𝑒</a:t>
            </a:r>
            <a:r>
              <a:rPr lang="en-US" baseline="30000" dirty="0">
                <a:cs typeface="+mn-cs"/>
              </a:rPr>
              <a:t>−0.7 </a:t>
            </a:r>
            <a:r>
              <a:rPr lang="en-US" dirty="0">
                <a:cs typeface="+mn-cs"/>
              </a:rPr>
              <a:t>=0.50</a:t>
            </a:r>
          </a:p>
          <a:p>
            <a:pPr algn="just" eaLnBrk="1" fontAlgn="auto" hangingPunct="1">
              <a:lnSpc>
                <a:spcPct val="110000"/>
              </a:lnSpc>
              <a:spcAft>
                <a:spcPts val="0"/>
              </a:spcAft>
              <a:defRPr/>
            </a:pPr>
            <a:r>
              <a:rPr lang="en-US" dirty="0">
                <a:cs typeface="+mn-cs"/>
              </a:rPr>
              <a:t>Interpretation:</a:t>
            </a:r>
          </a:p>
          <a:p>
            <a:pPr algn="just" eaLnBrk="1" fontAlgn="auto" hangingPunct="1">
              <a:lnSpc>
                <a:spcPct val="110000"/>
              </a:lnSpc>
              <a:spcAft>
                <a:spcPts val="0"/>
              </a:spcAft>
              <a:defRPr/>
            </a:pPr>
            <a:r>
              <a:rPr lang="en-US" dirty="0">
                <a:cs typeface="+mn-cs"/>
              </a:rPr>
              <a:t>The hazard is </a:t>
            </a:r>
            <a:r>
              <a:rPr lang="en-US" b="1" dirty="0">
                <a:cs typeface="+mn-cs"/>
              </a:rPr>
              <a:t>50% lower </a:t>
            </a:r>
            <a:r>
              <a:rPr lang="en-US" dirty="0">
                <a:cs typeface="+mn-cs"/>
              </a:rPr>
              <a:t>(protective effect).</a:t>
            </a:r>
            <a:endParaRPr lang="en-KE" dirty="0">
              <a:cs typeface="+mn-cs"/>
            </a:endParaRPr>
          </a:p>
        </p:txBody>
      </p:sp>
      <p:sp>
        <p:nvSpPr>
          <p:cNvPr id="4" name="Slide Number Placeholder 3">
            <a:extLst>
              <a:ext uri="{FF2B5EF4-FFF2-40B4-BE49-F238E27FC236}">
                <a16:creationId xmlns:a16="http://schemas.microsoft.com/office/drawing/2014/main" id="{7A1DEFEE-08D2-4151-9C07-B09E3A8DF665}"/>
              </a:ext>
            </a:extLst>
          </p:cNvPr>
          <p:cNvSpPr>
            <a:spLocks noGrp="1"/>
          </p:cNvSpPr>
          <p:nvPr>
            <p:ph type="sldNum" sz="quarter" idx="12"/>
          </p:nvPr>
        </p:nvSpPr>
        <p:spPr/>
        <p:txBody>
          <a:bodyPr/>
          <a:lstStyle/>
          <a:p>
            <a:pPr>
              <a:defRPr/>
            </a:pPr>
            <a:fld id="{46CE4B26-260A-4578-A315-985A96A9B8D2}" type="slidenum">
              <a:rPr lang="en-GB" altLang="en-US"/>
              <a:pPr>
                <a:defRPr/>
              </a:pPr>
              <a:t>50</a:t>
            </a:fld>
            <a:endParaRPr lang="en-GB" altLang="en-US"/>
          </a:p>
        </p:txBody>
      </p:sp>
    </p:spTree>
    <p:extLst>
      <p:ext uri="{BB962C8B-B14F-4D97-AF65-F5344CB8AC3E}">
        <p14:creationId xmlns:p14="http://schemas.microsoft.com/office/powerpoint/2010/main" val="421572850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5520" y="299812"/>
            <a:ext cx="8568952" cy="896941"/>
          </a:xfrm>
        </p:spPr>
        <p:txBody>
          <a:bodyPr/>
          <a:lstStyle/>
          <a:p>
            <a:r>
              <a:rPr lang="en-GB" dirty="0"/>
              <a:t>Cox Proportional Hazard Model</a:t>
            </a:r>
          </a:p>
        </p:txBody>
      </p:sp>
      <p:sp>
        <p:nvSpPr>
          <p:cNvPr id="3" name="Content Placeholder 2"/>
          <p:cNvSpPr>
            <a:spLocks noGrp="1"/>
          </p:cNvSpPr>
          <p:nvPr>
            <p:ph idx="1"/>
          </p:nvPr>
        </p:nvSpPr>
        <p:spPr>
          <a:xfrm>
            <a:off x="2152650" y="1484784"/>
            <a:ext cx="7975798" cy="4724836"/>
          </a:xfrm>
        </p:spPr>
        <p:txBody>
          <a:bodyPr>
            <a:normAutofit lnSpcReduction="10000"/>
          </a:bodyPr>
          <a:lstStyle/>
          <a:p>
            <a:r>
              <a:rPr lang="en-US" dirty="0"/>
              <a:t>You’re studying time to death among adults starting treatment for advanced HIV.</a:t>
            </a:r>
          </a:p>
          <a:p>
            <a:r>
              <a:rPr lang="en-US" b="1" dirty="0"/>
              <a:t>Outcome: </a:t>
            </a:r>
            <a:r>
              <a:rPr lang="en-US" dirty="0"/>
              <a:t>time (in months) from ART initiation to death</a:t>
            </a:r>
          </a:p>
          <a:p>
            <a:r>
              <a:rPr lang="en-US" b="1" dirty="0"/>
              <a:t>Censoring: </a:t>
            </a:r>
            <a:r>
              <a:rPr lang="en-US" dirty="0"/>
              <a:t>patients lost to follow‑up or alive at end of study</a:t>
            </a:r>
          </a:p>
          <a:p>
            <a:r>
              <a:rPr lang="en-US" b="1" dirty="0"/>
              <a:t>Main exposure:</a:t>
            </a:r>
          </a:p>
          <a:p>
            <a:pPr marL="342900" lvl="1" indent="0">
              <a:buNone/>
            </a:pPr>
            <a:r>
              <a:rPr lang="en-US" dirty="0"/>
              <a:t>Regimen=1: </a:t>
            </a:r>
            <a:r>
              <a:rPr lang="en-US" dirty="0" err="1"/>
              <a:t>Tenofovir</a:t>
            </a:r>
            <a:r>
              <a:rPr lang="en-US" dirty="0"/>
              <a:t>‑based ART</a:t>
            </a:r>
          </a:p>
          <a:p>
            <a:pPr marL="342900" lvl="1" indent="0">
              <a:buNone/>
            </a:pPr>
            <a:r>
              <a:rPr lang="en-US" dirty="0"/>
              <a:t>Regimen=0: Zidovudine‑based ART (reference)</a:t>
            </a:r>
          </a:p>
          <a:p>
            <a:endParaRPr lang="en-US" dirty="0"/>
          </a:p>
          <a:p>
            <a:r>
              <a:rPr lang="en-US" b="1" dirty="0"/>
              <a:t>Covariates: </a:t>
            </a:r>
            <a:r>
              <a:rPr lang="en-US" dirty="0"/>
              <a:t>age, sex, baseline CD4 count</a:t>
            </a:r>
          </a:p>
        </p:txBody>
      </p:sp>
      <p:sp>
        <p:nvSpPr>
          <p:cNvPr id="4" name="Slide Number Placeholder 3"/>
          <p:cNvSpPr>
            <a:spLocks noGrp="1"/>
          </p:cNvSpPr>
          <p:nvPr>
            <p:ph type="sldNum" sz="quarter" idx="12"/>
          </p:nvPr>
        </p:nvSpPr>
        <p:spPr/>
        <p:txBody>
          <a:bodyPr/>
          <a:lstStyle/>
          <a:p>
            <a:pPr>
              <a:defRPr/>
            </a:pPr>
            <a:fld id="{3F79E695-5E2C-414D-A20C-8276FF44A841}" type="slidenum">
              <a:rPr lang="en-GB" altLang="en-US" smtClean="0"/>
              <a:pPr>
                <a:defRPr/>
              </a:pPr>
              <a:t>51</a:t>
            </a:fld>
            <a:endParaRPr lang="en-GB" altLang="en-US" dirty="0"/>
          </a:p>
        </p:txBody>
      </p:sp>
    </p:spTree>
    <p:extLst>
      <p:ext uri="{BB962C8B-B14F-4D97-AF65-F5344CB8AC3E}">
        <p14:creationId xmlns:p14="http://schemas.microsoft.com/office/powerpoint/2010/main" val="33787885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7528" y="299812"/>
            <a:ext cx="8424936" cy="1040957"/>
          </a:xfrm>
        </p:spPr>
        <p:txBody>
          <a:bodyPr/>
          <a:lstStyle/>
          <a:p>
            <a:r>
              <a:rPr lang="en-GB" dirty="0"/>
              <a:t>Cox Proportional Hazard Model</a:t>
            </a:r>
          </a:p>
        </p:txBody>
      </p:sp>
      <p:sp>
        <p:nvSpPr>
          <p:cNvPr id="3" name="Content Placeholder 2"/>
          <p:cNvSpPr>
            <a:spLocks noGrp="1"/>
          </p:cNvSpPr>
          <p:nvPr>
            <p:ph idx="1"/>
          </p:nvPr>
        </p:nvSpPr>
        <p:spPr>
          <a:xfrm>
            <a:off x="2152650" y="1628800"/>
            <a:ext cx="7886700" cy="4580820"/>
          </a:xfrm>
        </p:spPr>
        <p:txBody>
          <a:bodyPr>
            <a:normAutofit fontScale="92500" lnSpcReduction="20000"/>
          </a:bodyPr>
          <a:lstStyle/>
          <a:p>
            <a:r>
              <a:rPr lang="en-GB" dirty="0"/>
              <a:t>Fitting the cox proportional hazards model:</a:t>
            </a:r>
          </a:p>
          <a:p>
            <a:endParaRPr lang="en-GB" dirty="0"/>
          </a:p>
          <a:p>
            <a:pPr algn="ctr"/>
            <a:r>
              <a:rPr lang="en-GB" sz="2000" dirty="0"/>
              <a:t>ℎ(𝑡∣𝑋)=ℎ</a:t>
            </a:r>
            <a:r>
              <a:rPr lang="en-GB" sz="2000" baseline="-25000" dirty="0"/>
              <a:t>0</a:t>
            </a:r>
            <a:r>
              <a:rPr lang="en-GB" sz="2000" dirty="0"/>
              <a:t>(𝑡) </a:t>
            </a:r>
            <a:r>
              <a:rPr lang="en-GB" sz="2000" dirty="0" err="1"/>
              <a:t>exp</a:t>
            </a:r>
            <a:r>
              <a:rPr lang="en-GB" sz="2000" dirty="0"/>
              <a:t>⁡(𝛽</a:t>
            </a:r>
            <a:r>
              <a:rPr lang="en-GB" sz="2000" baseline="-25000" dirty="0"/>
              <a:t>1</a:t>
            </a:r>
            <a:r>
              <a:rPr lang="en-GB" sz="2000" dirty="0"/>
              <a:t>Regimen+𝛽</a:t>
            </a:r>
            <a:r>
              <a:rPr lang="en-GB" sz="2000" baseline="-25000" dirty="0"/>
              <a:t>2</a:t>
            </a:r>
            <a:r>
              <a:rPr lang="en-GB" sz="2000" dirty="0"/>
              <a:t>Age+𝛽</a:t>
            </a:r>
            <a:r>
              <a:rPr lang="en-GB" sz="2000" baseline="-25000" dirty="0"/>
              <a:t>3</a:t>
            </a:r>
            <a:r>
              <a:rPr lang="en-GB" sz="2000" dirty="0"/>
              <a:t>Male+𝛽</a:t>
            </a:r>
            <a:r>
              <a:rPr lang="en-GB" sz="2000" baseline="-25000" dirty="0"/>
              <a:t>4</a:t>
            </a:r>
            <a:r>
              <a:rPr lang="en-GB" sz="2000" dirty="0"/>
              <a:t>CD4)</a:t>
            </a:r>
          </a:p>
          <a:p>
            <a:endParaRPr lang="en-GB" sz="2000" dirty="0"/>
          </a:p>
          <a:p>
            <a:r>
              <a:rPr lang="en-GB" dirty="0"/>
              <a:t>Regimen (TDF vs AZT): HR = 0.70</a:t>
            </a:r>
          </a:p>
          <a:p>
            <a:endParaRPr lang="en-GB" dirty="0"/>
          </a:p>
          <a:p>
            <a:r>
              <a:rPr lang="en-GB" dirty="0"/>
              <a:t>Age (per 10 years): HR = 1.20 </a:t>
            </a:r>
          </a:p>
          <a:p>
            <a:endParaRPr lang="en-GB" dirty="0"/>
          </a:p>
          <a:p>
            <a:r>
              <a:rPr lang="en-GB" dirty="0"/>
              <a:t>Sex (Male vs female): HR = 1.10 </a:t>
            </a:r>
          </a:p>
          <a:p>
            <a:endParaRPr lang="en-GB" dirty="0"/>
          </a:p>
          <a:p>
            <a:r>
              <a:rPr lang="en-GB" dirty="0"/>
              <a:t>CD4 (per 50 cells/µL): HR = 0.85</a:t>
            </a:r>
          </a:p>
          <a:p>
            <a:endParaRPr lang="en-GB" sz="2000" dirty="0"/>
          </a:p>
        </p:txBody>
      </p:sp>
      <p:sp>
        <p:nvSpPr>
          <p:cNvPr id="4" name="Slide Number Placeholder 3"/>
          <p:cNvSpPr>
            <a:spLocks noGrp="1"/>
          </p:cNvSpPr>
          <p:nvPr>
            <p:ph type="sldNum" sz="quarter" idx="12"/>
          </p:nvPr>
        </p:nvSpPr>
        <p:spPr/>
        <p:txBody>
          <a:bodyPr/>
          <a:lstStyle/>
          <a:p>
            <a:pPr>
              <a:defRPr/>
            </a:pPr>
            <a:fld id="{3F79E695-5E2C-414D-A20C-8276FF44A841}" type="slidenum">
              <a:rPr lang="en-GB" altLang="en-US" smtClean="0"/>
              <a:pPr>
                <a:defRPr/>
              </a:pPr>
              <a:t>52</a:t>
            </a:fld>
            <a:endParaRPr lang="en-GB" altLang="en-US" dirty="0"/>
          </a:p>
        </p:txBody>
      </p:sp>
    </p:spTree>
    <p:extLst>
      <p:ext uri="{BB962C8B-B14F-4D97-AF65-F5344CB8AC3E}">
        <p14:creationId xmlns:p14="http://schemas.microsoft.com/office/powerpoint/2010/main" val="14582678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7528" y="242662"/>
            <a:ext cx="8424936" cy="876998"/>
          </a:xfrm>
        </p:spPr>
        <p:txBody>
          <a:bodyPr/>
          <a:lstStyle/>
          <a:p>
            <a:r>
              <a:rPr lang="en-GB" dirty="0"/>
              <a:t>Cox Proportional Hazard Model</a:t>
            </a:r>
          </a:p>
        </p:txBody>
      </p:sp>
      <p:sp>
        <p:nvSpPr>
          <p:cNvPr id="3" name="Content Placeholder 2"/>
          <p:cNvSpPr>
            <a:spLocks noGrp="1"/>
          </p:cNvSpPr>
          <p:nvPr>
            <p:ph idx="1"/>
          </p:nvPr>
        </p:nvSpPr>
        <p:spPr>
          <a:xfrm>
            <a:off x="1847528" y="1268760"/>
            <a:ext cx="8568952" cy="5087590"/>
          </a:xfrm>
        </p:spPr>
        <p:txBody>
          <a:bodyPr>
            <a:normAutofit fontScale="92500" lnSpcReduction="20000"/>
          </a:bodyPr>
          <a:lstStyle/>
          <a:p>
            <a:r>
              <a:rPr lang="en-US" b="1" dirty="0"/>
              <a:t>Regimen (HR = 0.70):</a:t>
            </a:r>
            <a:r>
              <a:rPr lang="en-US" dirty="0"/>
              <a:t> At any given month after ART initiation, patients on </a:t>
            </a:r>
            <a:r>
              <a:rPr lang="en-US" b="1" dirty="0"/>
              <a:t>TDF‑based ART</a:t>
            </a:r>
            <a:r>
              <a:rPr lang="en-US" dirty="0"/>
              <a:t> have a </a:t>
            </a:r>
            <a:r>
              <a:rPr lang="en-US" b="1" dirty="0"/>
              <a:t>30% lower hazard of death</a:t>
            </a:r>
            <a:r>
              <a:rPr lang="en-US" dirty="0"/>
              <a:t> than those on AZT, </a:t>
            </a:r>
            <a:r>
              <a:rPr lang="en-US" i="1" dirty="0"/>
              <a:t>adjusting for age, sex, and CD4</a:t>
            </a:r>
            <a:r>
              <a:rPr lang="en-US" dirty="0"/>
              <a:t>. </a:t>
            </a:r>
          </a:p>
          <a:p>
            <a:endParaRPr lang="en-US" dirty="0"/>
          </a:p>
          <a:p>
            <a:r>
              <a:rPr lang="en-US" b="1" dirty="0"/>
              <a:t>Age (HR = 1.20 per 10 years):</a:t>
            </a:r>
            <a:r>
              <a:rPr lang="en-US" dirty="0"/>
              <a:t> Each additional 10 years of age is associated with a </a:t>
            </a:r>
            <a:r>
              <a:rPr lang="en-US" b="1" dirty="0"/>
              <a:t>20% higher hazard of death</a:t>
            </a:r>
            <a:r>
              <a:rPr lang="en-US" dirty="0"/>
              <a:t>, holding other variables constant.</a:t>
            </a:r>
          </a:p>
          <a:p>
            <a:endParaRPr lang="en-US" dirty="0"/>
          </a:p>
          <a:p>
            <a:r>
              <a:rPr lang="en-US" b="1" dirty="0"/>
              <a:t>CD4 (HR = 0.85 per 50 cells):</a:t>
            </a:r>
            <a:r>
              <a:rPr lang="en-US" dirty="0"/>
              <a:t> For every 50‑cell increase in baseline CD4, the hazard of death decreases by </a:t>
            </a:r>
            <a:r>
              <a:rPr lang="en-US" b="1" dirty="0"/>
              <a:t>15%</a:t>
            </a:r>
            <a:r>
              <a:rPr lang="en-US" dirty="0"/>
              <a:t>.</a:t>
            </a:r>
          </a:p>
          <a:p>
            <a:endParaRPr lang="en-US" dirty="0"/>
          </a:p>
          <a:p>
            <a:r>
              <a:rPr lang="en-US" b="1" dirty="0"/>
              <a:t>Male (HR = 1.10, CI includes 1):</a:t>
            </a:r>
            <a:r>
              <a:rPr lang="en-US" dirty="0"/>
              <a:t> Slightly higher hazard in men, but </a:t>
            </a:r>
            <a:r>
              <a:rPr lang="en-US" b="1" dirty="0"/>
              <a:t>not statistically significant</a:t>
            </a:r>
            <a:r>
              <a:rPr lang="en-US" dirty="0"/>
              <a:t>.</a:t>
            </a:r>
          </a:p>
          <a:p>
            <a:endParaRPr lang="en-GB" dirty="0"/>
          </a:p>
        </p:txBody>
      </p:sp>
      <p:sp>
        <p:nvSpPr>
          <p:cNvPr id="4" name="Slide Number Placeholder 3"/>
          <p:cNvSpPr>
            <a:spLocks noGrp="1"/>
          </p:cNvSpPr>
          <p:nvPr>
            <p:ph type="sldNum" sz="quarter" idx="12"/>
          </p:nvPr>
        </p:nvSpPr>
        <p:spPr/>
        <p:txBody>
          <a:bodyPr/>
          <a:lstStyle/>
          <a:p>
            <a:pPr>
              <a:defRPr/>
            </a:pPr>
            <a:fld id="{3F79E695-5E2C-414D-A20C-8276FF44A841}" type="slidenum">
              <a:rPr lang="en-GB" altLang="en-US" smtClean="0"/>
              <a:pPr>
                <a:defRPr/>
              </a:pPr>
              <a:t>53</a:t>
            </a:fld>
            <a:endParaRPr lang="en-GB" altLang="en-US" dirty="0"/>
          </a:p>
        </p:txBody>
      </p:sp>
    </p:spTree>
    <p:extLst>
      <p:ext uri="{BB962C8B-B14F-4D97-AF65-F5344CB8AC3E}">
        <p14:creationId xmlns:p14="http://schemas.microsoft.com/office/powerpoint/2010/main" val="24663628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0818" name="Rectangle 2">
            <a:extLst>
              <a:ext uri="{FF2B5EF4-FFF2-40B4-BE49-F238E27FC236}">
                <a16:creationId xmlns:a16="http://schemas.microsoft.com/office/drawing/2014/main" id="{970755F8-AE07-4E75-92F4-D2E3BF25C680}"/>
              </a:ext>
            </a:extLst>
          </p:cNvPr>
          <p:cNvSpPr>
            <a:spLocks noGrp="1" noRot="1" noChangeArrowheads="1"/>
          </p:cNvSpPr>
          <p:nvPr>
            <p:ph type="title"/>
          </p:nvPr>
        </p:nvSpPr>
        <p:spPr>
          <a:xfrm>
            <a:off x="1981200" y="274638"/>
            <a:ext cx="8229600" cy="595312"/>
          </a:xfrm>
        </p:spPr>
        <p:txBody>
          <a:bodyPr rtlCol="0">
            <a:normAutofit/>
          </a:bodyPr>
          <a:lstStyle/>
          <a:p>
            <a:pPr eaLnBrk="1" fontAlgn="auto" hangingPunct="1">
              <a:spcAft>
                <a:spcPts val="0"/>
              </a:spcAft>
              <a:defRPr/>
            </a:pPr>
            <a:r>
              <a:rPr lang="en-GB" sz="3200" dirty="0"/>
              <a:t>The Hazard Function – </a:t>
            </a:r>
            <a:r>
              <a:rPr lang="en-GB" sz="3200" i="1" dirty="0"/>
              <a:t>Proportional Hazards</a:t>
            </a:r>
          </a:p>
        </p:txBody>
      </p:sp>
      <p:sp>
        <p:nvSpPr>
          <p:cNvPr id="290819" name="Rectangle 3">
            <a:extLst>
              <a:ext uri="{FF2B5EF4-FFF2-40B4-BE49-F238E27FC236}">
                <a16:creationId xmlns:a16="http://schemas.microsoft.com/office/drawing/2014/main" id="{469030CC-3373-4E05-9739-F938063D1D74}"/>
              </a:ext>
            </a:extLst>
          </p:cNvPr>
          <p:cNvSpPr>
            <a:spLocks noGrp="1" noChangeArrowheads="1"/>
          </p:cNvSpPr>
          <p:nvPr>
            <p:ph idx="1"/>
          </p:nvPr>
        </p:nvSpPr>
        <p:spPr>
          <a:xfrm>
            <a:off x="838200" y="1196975"/>
            <a:ext cx="10226352" cy="5329238"/>
          </a:xfrm>
        </p:spPr>
        <p:txBody>
          <a:bodyPr rtlCol="0">
            <a:normAutofit fontScale="92500" lnSpcReduction="20000"/>
          </a:bodyPr>
          <a:lstStyle/>
          <a:p>
            <a:pPr eaLnBrk="1" fontAlgn="auto" hangingPunct="1">
              <a:lnSpc>
                <a:spcPct val="80000"/>
              </a:lnSpc>
              <a:spcAft>
                <a:spcPts val="0"/>
              </a:spcAft>
              <a:defRPr/>
            </a:pPr>
            <a:r>
              <a:rPr lang="en-GB" i="1" dirty="0">
                <a:latin typeface="Times New Roman" pitchFamily="18" charset="0"/>
                <a:cs typeface="+mn-cs"/>
              </a:rPr>
              <a:t>Example Control versus 6-MP </a:t>
            </a:r>
          </a:p>
          <a:p>
            <a:pPr eaLnBrk="1" fontAlgn="auto" hangingPunct="1">
              <a:lnSpc>
                <a:spcPct val="80000"/>
              </a:lnSpc>
              <a:spcAft>
                <a:spcPts val="0"/>
              </a:spcAft>
              <a:buNone/>
              <a:defRPr/>
            </a:pPr>
            <a:r>
              <a:rPr lang="en-GB" sz="2000" i="1" dirty="0">
                <a:latin typeface="Arial" charset="0"/>
                <a:cs typeface="+mn-cs"/>
              </a:rPr>
              <a:t>	Effect	Hazard Ratio	95% C.I.</a:t>
            </a:r>
          </a:p>
          <a:p>
            <a:pPr eaLnBrk="1" fontAlgn="auto" hangingPunct="1">
              <a:lnSpc>
                <a:spcPct val="80000"/>
              </a:lnSpc>
              <a:spcAft>
                <a:spcPts val="0"/>
              </a:spcAft>
              <a:buNone/>
              <a:defRPr/>
            </a:pPr>
            <a:r>
              <a:rPr lang="en-GB" sz="2000" i="1" dirty="0">
                <a:latin typeface="Arial" charset="0"/>
                <a:cs typeface="+mn-cs"/>
              </a:rPr>
              <a:t>	          P-value</a:t>
            </a:r>
            <a:br>
              <a:rPr lang="en-GB" sz="2000" i="1" dirty="0">
                <a:latin typeface="Arial" charset="0"/>
                <a:cs typeface="+mn-cs"/>
              </a:rPr>
            </a:br>
            <a:r>
              <a:rPr lang="en-GB" sz="2000" dirty="0">
                <a:latin typeface="Arial" charset="0"/>
                <a:cs typeface="+mn-cs"/>
              </a:rPr>
              <a:t>Group	    4.323		    (1.99, 9.39)	</a:t>
            </a:r>
            <a:r>
              <a:rPr lang="en-GB" sz="2000" i="1" dirty="0">
                <a:latin typeface="Arial" charset="0"/>
                <a:cs typeface="+mn-cs"/>
              </a:rPr>
              <a:t>p</a:t>
            </a:r>
            <a:r>
              <a:rPr lang="en-GB" sz="2000" dirty="0">
                <a:latin typeface="Arial" charset="0"/>
                <a:cs typeface="+mn-cs"/>
              </a:rPr>
              <a:t>=0.0002</a:t>
            </a:r>
          </a:p>
          <a:p>
            <a:pPr eaLnBrk="1" fontAlgn="auto" hangingPunct="1">
              <a:lnSpc>
                <a:spcPct val="80000"/>
              </a:lnSpc>
              <a:spcAft>
                <a:spcPts val="0"/>
              </a:spcAft>
              <a:buNone/>
              <a:defRPr/>
            </a:pPr>
            <a:endParaRPr lang="en-GB" sz="2000" dirty="0">
              <a:latin typeface="Arial" charset="0"/>
              <a:cs typeface="+mn-cs"/>
            </a:endParaRPr>
          </a:p>
          <a:p>
            <a:pPr eaLnBrk="1" fontAlgn="auto" hangingPunct="1">
              <a:lnSpc>
                <a:spcPct val="80000"/>
              </a:lnSpc>
              <a:spcAft>
                <a:spcPts val="0"/>
              </a:spcAft>
              <a:defRPr/>
            </a:pPr>
            <a:r>
              <a:rPr lang="en-GB" dirty="0">
                <a:latin typeface="Times New Roman" pitchFamily="18" charset="0"/>
                <a:cs typeface="+mn-cs"/>
              </a:rPr>
              <a:t>The estimated risk of relapse is 4.3 times greater in the control group compared to 6-MP at any given time point. </a:t>
            </a:r>
            <a:br>
              <a:rPr lang="en-GB" dirty="0">
                <a:latin typeface="Times New Roman" pitchFamily="18" charset="0"/>
                <a:cs typeface="+mn-cs"/>
              </a:rPr>
            </a:br>
            <a:r>
              <a:rPr lang="en-GB" dirty="0">
                <a:latin typeface="Times New Roman" pitchFamily="18" charset="0"/>
                <a:cs typeface="+mn-cs"/>
              </a:rPr>
              <a:t>i.e. the </a:t>
            </a:r>
            <a:r>
              <a:rPr lang="en-GB" i="1" dirty="0">
                <a:latin typeface="Times New Roman" pitchFamily="18" charset="0"/>
                <a:cs typeface="+mn-cs"/>
              </a:rPr>
              <a:t>relative risk</a:t>
            </a:r>
            <a:r>
              <a:rPr lang="en-GB" dirty="0">
                <a:latin typeface="Times New Roman" pitchFamily="18" charset="0"/>
                <a:cs typeface="+mn-cs"/>
              </a:rPr>
              <a:t> is 4.3. </a:t>
            </a:r>
            <a:br>
              <a:rPr lang="en-GB" dirty="0">
                <a:latin typeface="Times New Roman" pitchFamily="18" charset="0"/>
                <a:cs typeface="+mn-cs"/>
              </a:rPr>
            </a:br>
            <a:r>
              <a:rPr lang="en-GB" dirty="0">
                <a:latin typeface="Times New Roman" pitchFamily="18" charset="0"/>
                <a:cs typeface="+mn-cs"/>
              </a:rPr>
              <a:t>Statistically significant from 1.0 (p=0.0002) and potentially a very large effect. </a:t>
            </a:r>
          </a:p>
          <a:p>
            <a:pPr eaLnBrk="1" fontAlgn="auto" hangingPunct="1">
              <a:lnSpc>
                <a:spcPct val="80000"/>
              </a:lnSpc>
              <a:spcAft>
                <a:spcPts val="0"/>
              </a:spcAft>
              <a:buNone/>
              <a:defRPr/>
            </a:pPr>
            <a:endParaRPr lang="en-GB" dirty="0">
              <a:latin typeface="Times New Roman" pitchFamily="18" charset="0"/>
              <a:cs typeface="+mn-cs"/>
            </a:endParaRPr>
          </a:p>
          <a:p>
            <a:pPr eaLnBrk="1" fontAlgn="auto" hangingPunct="1">
              <a:lnSpc>
                <a:spcPct val="80000"/>
              </a:lnSpc>
              <a:spcAft>
                <a:spcPts val="0"/>
              </a:spcAft>
              <a:defRPr/>
            </a:pPr>
            <a:r>
              <a:rPr lang="en-GB" dirty="0">
                <a:latin typeface="Times New Roman" pitchFamily="18" charset="0"/>
                <a:cs typeface="+mn-cs"/>
              </a:rPr>
              <a:t>It could be as low as 1.99 to as high as 9.39 with probability 0.95 from the population where the sample came from</a:t>
            </a:r>
          </a:p>
          <a:p>
            <a:pPr eaLnBrk="1" fontAlgn="auto" hangingPunct="1">
              <a:lnSpc>
                <a:spcPct val="80000"/>
              </a:lnSpc>
              <a:spcAft>
                <a:spcPts val="0"/>
              </a:spcAft>
              <a:defRPr/>
            </a:pPr>
            <a:endParaRPr lang="en-GB" sz="2000" dirty="0">
              <a:latin typeface="Times New Roman" pitchFamily="18" charset="0"/>
              <a:cs typeface="+mn-cs"/>
            </a:endParaRPr>
          </a:p>
          <a:p>
            <a:pPr eaLnBrk="1" fontAlgn="auto" hangingPunct="1">
              <a:lnSpc>
                <a:spcPct val="80000"/>
              </a:lnSpc>
              <a:spcAft>
                <a:spcPts val="0"/>
              </a:spcAft>
              <a:defRPr/>
            </a:pPr>
            <a:r>
              <a:rPr lang="en-GB" dirty="0">
                <a:latin typeface="Times New Roman" pitchFamily="18" charset="0"/>
                <a:cs typeface="+mn-cs"/>
              </a:rPr>
              <a:t>After adjusting for age :</a:t>
            </a:r>
          </a:p>
          <a:p>
            <a:pPr eaLnBrk="1" fontAlgn="auto" hangingPunct="1">
              <a:lnSpc>
                <a:spcPct val="80000"/>
              </a:lnSpc>
              <a:spcAft>
                <a:spcPts val="0"/>
              </a:spcAft>
              <a:buNone/>
              <a:defRPr/>
            </a:pPr>
            <a:r>
              <a:rPr lang="en-GB" sz="2000" i="1" dirty="0">
                <a:latin typeface="Arial" charset="0"/>
                <a:cs typeface="+mn-cs"/>
              </a:rPr>
              <a:t>			Adjusted </a:t>
            </a:r>
            <a:br>
              <a:rPr lang="en-GB" sz="2000" i="1" dirty="0">
                <a:latin typeface="Arial" charset="0"/>
                <a:cs typeface="+mn-cs"/>
              </a:rPr>
            </a:br>
            <a:r>
              <a:rPr lang="en-GB" sz="2000" i="1" dirty="0">
                <a:latin typeface="Arial" charset="0"/>
                <a:cs typeface="+mn-cs"/>
              </a:rPr>
              <a:t>Effect	Hazard Ratio	95% C.I.	P-value</a:t>
            </a:r>
            <a:br>
              <a:rPr lang="en-GB" sz="2000" i="1" dirty="0">
                <a:latin typeface="Arial" charset="0"/>
                <a:cs typeface="+mn-cs"/>
              </a:rPr>
            </a:br>
            <a:r>
              <a:rPr lang="en-GB" sz="2000" dirty="0">
                <a:latin typeface="Arial" charset="0"/>
                <a:cs typeface="+mn-cs"/>
              </a:rPr>
              <a:t>Group	3.445		(1.59, 7.46)	</a:t>
            </a:r>
            <a:r>
              <a:rPr lang="en-GB" sz="2000" i="1" dirty="0">
                <a:latin typeface="Arial" charset="0"/>
                <a:cs typeface="+mn-cs"/>
              </a:rPr>
              <a:t>p</a:t>
            </a:r>
            <a:r>
              <a:rPr lang="en-GB" sz="2000" dirty="0">
                <a:latin typeface="Arial" charset="0"/>
                <a:cs typeface="+mn-cs"/>
              </a:rPr>
              <a:t>=0.018</a:t>
            </a:r>
            <a:endParaRPr lang="en-GB" dirty="0">
              <a:latin typeface="Times New Roman" pitchFamily="18" charset="0"/>
              <a:cs typeface="+mn-cs"/>
            </a:endParaRPr>
          </a:p>
        </p:txBody>
      </p:sp>
      <p:sp>
        <p:nvSpPr>
          <p:cNvPr id="59396"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39FE549F-2416-4791-B9AD-C35170E0E020}" type="slidenum">
              <a:rPr lang="en-GB" altLang="en-US" sz="1200">
                <a:latin typeface="Arial" panose="020B0604020202020204" pitchFamily="34" charset="0"/>
                <a:cs typeface="Arial" panose="020B0604020202020204" pitchFamily="34" charset="0"/>
              </a:rPr>
              <a:pPr fontAlgn="base">
                <a:spcBef>
                  <a:spcPct val="0"/>
                </a:spcBef>
                <a:spcAft>
                  <a:spcPct val="0"/>
                </a:spcAft>
              </a:pPr>
              <a:t>54</a:t>
            </a:fld>
            <a:endParaRPr lang="en-GB" altLang="en-US" sz="1200">
              <a:latin typeface="Arial" panose="020B0604020202020204" pitchFamily="34" charset="0"/>
              <a:cs typeface="Arial" panose="020B0604020202020204" pitchFamily="34"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noChangeArrowheads="1"/>
          </p:cNvSpPr>
          <p:nvPr>
            <p:ph type="title"/>
          </p:nvPr>
        </p:nvSpPr>
        <p:spPr>
          <a:xfrm>
            <a:off x="1127449" y="300039"/>
            <a:ext cx="9289728" cy="1184275"/>
          </a:xfrm>
        </p:spPr>
        <p:txBody>
          <a:bodyPr>
            <a:normAutofit fontScale="90000"/>
          </a:bodyPr>
          <a:lstStyle/>
          <a:p>
            <a:pPr eaLnBrk="1" hangingPunct="1"/>
            <a:r>
              <a:rPr lang="en-GB" altLang="en-GB" dirty="0"/>
              <a:t>The Hazard Function – Proportional Hazards</a:t>
            </a:r>
          </a:p>
        </p:txBody>
      </p:sp>
      <p:sp>
        <p:nvSpPr>
          <p:cNvPr id="58371" name="Content Placeholder 2"/>
          <p:cNvSpPr>
            <a:spLocks noGrp="1" noChangeArrowheads="1"/>
          </p:cNvSpPr>
          <p:nvPr>
            <p:ph idx="1"/>
          </p:nvPr>
        </p:nvSpPr>
        <p:spPr>
          <a:xfrm>
            <a:off x="1127448" y="1700214"/>
            <a:ext cx="10009112" cy="4529137"/>
          </a:xfrm>
        </p:spPr>
        <p:txBody>
          <a:bodyPr/>
          <a:lstStyle/>
          <a:p>
            <a:pPr algn="just" eaLnBrk="1" hangingPunct="1">
              <a:lnSpc>
                <a:spcPct val="100000"/>
              </a:lnSpc>
            </a:pPr>
            <a:r>
              <a:rPr lang="en-GB" altLang="en-GB" dirty="0"/>
              <a:t>The proportional hazards assumption is often violated; when that happens, there are alternative methods that can be used in survival analysis </a:t>
            </a:r>
          </a:p>
          <a:p>
            <a:pPr algn="just" eaLnBrk="1" hangingPunct="1">
              <a:lnSpc>
                <a:spcPct val="100000"/>
              </a:lnSpc>
            </a:pPr>
            <a:endParaRPr lang="en-GB" altLang="en-GB" dirty="0"/>
          </a:p>
          <a:p>
            <a:pPr marL="800100" lvl="1" indent="-457200" algn="just" eaLnBrk="1" hangingPunct="1">
              <a:lnSpc>
                <a:spcPct val="100000"/>
              </a:lnSpc>
              <a:buFont typeface="Calibri Light" panose="020F0302020204030204" pitchFamily="34" charset="0"/>
              <a:buAutoNum type="arabicPeriod"/>
            </a:pPr>
            <a:r>
              <a:rPr lang="en-GB" altLang="en-GB" dirty="0"/>
              <a:t>Stratified Proportional Hazards Models</a:t>
            </a:r>
          </a:p>
          <a:p>
            <a:pPr marL="800100" lvl="1" indent="-457200" algn="just" eaLnBrk="1" hangingPunct="1">
              <a:lnSpc>
                <a:spcPct val="100000"/>
              </a:lnSpc>
              <a:buFont typeface="Calibri Light" panose="020F0302020204030204" pitchFamily="34" charset="0"/>
              <a:buAutoNum type="arabicPeriod"/>
            </a:pPr>
            <a:r>
              <a:rPr lang="en-GB" altLang="en-GB" dirty="0"/>
              <a:t>Use of parametric tests, such as the exponential distribution </a:t>
            </a:r>
          </a:p>
          <a:p>
            <a:pPr algn="just" eaLnBrk="1" hangingPunct="1">
              <a:lnSpc>
                <a:spcPct val="100000"/>
              </a:lnSpc>
            </a:pPr>
            <a:endParaRPr lang="en-GB" altLang="en-GB" dirty="0"/>
          </a:p>
        </p:txBody>
      </p:sp>
      <p:sp>
        <p:nvSpPr>
          <p:cNvPr id="4" name="Slide Number Placeholder 3">
            <a:extLst>
              <a:ext uri="{FF2B5EF4-FFF2-40B4-BE49-F238E27FC236}">
                <a16:creationId xmlns:a16="http://schemas.microsoft.com/office/drawing/2014/main" id="{AAB2C734-903D-43E1-A535-B23282A45A3C}"/>
              </a:ext>
            </a:extLst>
          </p:cNvPr>
          <p:cNvSpPr>
            <a:spLocks noGrp="1"/>
          </p:cNvSpPr>
          <p:nvPr>
            <p:ph type="sldNum" sz="quarter" idx="12"/>
          </p:nvPr>
        </p:nvSpPr>
        <p:spPr/>
        <p:txBody>
          <a:bodyPr/>
          <a:lstStyle/>
          <a:p>
            <a:pPr>
              <a:defRPr/>
            </a:pPr>
            <a:fld id="{4A5B1190-8309-4590-B58F-F70AD06D45CB}" type="slidenum">
              <a:rPr lang="en-GB" altLang="en-US"/>
              <a:pPr>
                <a:defRPr/>
              </a:pPr>
              <a:t>55</a:t>
            </a:fld>
            <a:endParaRPr lang="en-GB"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C70B7-3652-4950-B3B9-AF997D081E65}"/>
              </a:ext>
            </a:extLst>
          </p:cNvPr>
          <p:cNvSpPr>
            <a:spLocks noGrp="1"/>
          </p:cNvSpPr>
          <p:nvPr>
            <p:ph type="title"/>
          </p:nvPr>
        </p:nvSpPr>
        <p:spPr>
          <a:xfrm>
            <a:off x="2336800" y="427707"/>
            <a:ext cx="7543800" cy="481013"/>
          </a:xfrm>
        </p:spPr>
        <p:txBody>
          <a:bodyPr rtlCol="0">
            <a:normAutofit fontScale="90000"/>
          </a:bodyPr>
          <a:lstStyle/>
          <a:p>
            <a:pPr eaLnBrk="1" fontAlgn="auto" hangingPunct="1">
              <a:spcAft>
                <a:spcPts val="0"/>
              </a:spcAft>
              <a:defRPr/>
            </a:pPr>
            <a:r>
              <a:rPr lang="en-GB" altLang="en-US" dirty="0"/>
              <a:t>Summary of today’s lecture</a:t>
            </a:r>
            <a:endParaRPr lang="en-US" dirty="0"/>
          </a:p>
        </p:txBody>
      </p:sp>
      <p:sp>
        <p:nvSpPr>
          <p:cNvPr id="3" name="Content Placeholder 2">
            <a:extLst>
              <a:ext uri="{FF2B5EF4-FFF2-40B4-BE49-F238E27FC236}">
                <a16:creationId xmlns:a16="http://schemas.microsoft.com/office/drawing/2014/main" id="{CEB3EDFD-B5A8-4508-BF83-B97E78D93E59}"/>
              </a:ext>
            </a:extLst>
          </p:cNvPr>
          <p:cNvSpPr>
            <a:spLocks noGrp="1"/>
          </p:cNvSpPr>
          <p:nvPr>
            <p:ph idx="1"/>
          </p:nvPr>
        </p:nvSpPr>
        <p:spPr>
          <a:xfrm>
            <a:off x="911424" y="1093788"/>
            <a:ext cx="9288265" cy="5262562"/>
          </a:xfrm>
        </p:spPr>
        <p:txBody>
          <a:bodyPr rtlCol="0">
            <a:noAutofit/>
          </a:bodyPr>
          <a:lstStyle/>
          <a:p>
            <a:pPr eaLnBrk="1" fontAlgn="auto" hangingPunct="1">
              <a:spcAft>
                <a:spcPts val="0"/>
              </a:spcAft>
              <a:buFont typeface="Wingdings" panose="05000000000000000000" pitchFamily="2" charset="2"/>
              <a:buChar char="q"/>
              <a:defRPr/>
            </a:pPr>
            <a:r>
              <a:rPr lang="en-GB" sz="2200" dirty="0">
                <a:cs typeface="+mn-cs"/>
              </a:rPr>
              <a:t>Survival analysis (time to an event data)</a:t>
            </a:r>
          </a:p>
          <a:p>
            <a:pPr eaLnBrk="1" fontAlgn="auto" hangingPunct="1">
              <a:spcAft>
                <a:spcPts val="0"/>
              </a:spcAft>
              <a:buFont typeface="Wingdings" panose="05000000000000000000" pitchFamily="2" charset="2"/>
              <a:buChar char="q"/>
              <a:defRPr/>
            </a:pPr>
            <a:r>
              <a:rPr lang="en-GB" sz="2200" dirty="0">
                <a:cs typeface="+mn-cs"/>
              </a:rPr>
              <a:t>Difficulties involved in analysing such data</a:t>
            </a:r>
          </a:p>
          <a:p>
            <a:pPr eaLnBrk="1" fontAlgn="auto" hangingPunct="1">
              <a:spcAft>
                <a:spcPts val="0"/>
              </a:spcAft>
              <a:defRPr/>
            </a:pPr>
            <a:r>
              <a:rPr lang="en-GB" sz="2200" dirty="0">
                <a:cs typeface="+mn-cs"/>
              </a:rPr>
              <a:t>Skewed data, usually right skewed</a:t>
            </a:r>
          </a:p>
          <a:p>
            <a:pPr eaLnBrk="1" fontAlgn="auto" hangingPunct="1">
              <a:spcAft>
                <a:spcPts val="0"/>
              </a:spcAft>
              <a:defRPr/>
            </a:pPr>
            <a:r>
              <a:rPr lang="en-GB" sz="2200" dirty="0">
                <a:cs typeface="+mn-cs"/>
              </a:rPr>
              <a:t>Censoring (left or right)</a:t>
            </a:r>
          </a:p>
          <a:p>
            <a:pPr eaLnBrk="1" fontAlgn="auto" hangingPunct="1">
              <a:spcAft>
                <a:spcPts val="0"/>
              </a:spcAft>
              <a:buFont typeface="Wingdings" panose="05000000000000000000" pitchFamily="2" charset="2"/>
              <a:buChar char="q"/>
              <a:defRPr/>
            </a:pPr>
            <a:r>
              <a:rPr lang="en-GB" sz="2200" dirty="0">
                <a:cs typeface="+mn-cs"/>
              </a:rPr>
              <a:t> Methods available to deal with such data</a:t>
            </a:r>
          </a:p>
          <a:p>
            <a:pPr eaLnBrk="1" fontAlgn="auto" hangingPunct="1">
              <a:spcAft>
                <a:spcPts val="0"/>
              </a:spcAft>
              <a:defRPr/>
            </a:pPr>
            <a:r>
              <a:rPr lang="en-GB" sz="2200" dirty="0">
                <a:cs typeface="+mn-cs"/>
              </a:rPr>
              <a:t>Life Table approach</a:t>
            </a:r>
          </a:p>
          <a:p>
            <a:pPr eaLnBrk="1" fontAlgn="auto" hangingPunct="1">
              <a:spcAft>
                <a:spcPts val="0"/>
              </a:spcAft>
              <a:defRPr/>
            </a:pPr>
            <a:r>
              <a:rPr lang="en-GB" sz="2200" dirty="0">
                <a:cs typeface="+mn-cs"/>
              </a:rPr>
              <a:t>Kaplan Meier</a:t>
            </a:r>
          </a:p>
          <a:p>
            <a:pPr eaLnBrk="1" fontAlgn="auto" hangingPunct="1">
              <a:spcAft>
                <a:spcPts val="0"/>
              </a:spcAft>
              <a:defRPr/>
            </a:pPr>
            <a:r>
              <a:rPr lang="en-GB" sz="2200" dirty="0">
                <a:cs typeface="+mn-cs"/>
              </a:rPr>
              <a:t>Cox Proportional Hazard model </a:t>
            </a:r>
          </a:p>
          <a:p>
            <a:pPr eaLnBrk="1" fontAlgn="auto" hangingPunct="1">
              <a:spcAft>
                <a:spcPts val="0"/>
              </a:spcAft>
              <a:defRPr/>
            </a:pPr>
            <a:r>
              <a:rPr lang="en-GB" sz="2200" dirty="0">
                <a:cs typeface="+mn-cs"/>
              </a:rPr>
              <a:t>Make sure the proportional hazard assumption are justified</a:t>
            </a:r>
          </a:p>
          <a:p>
            <a:pPr eaLnBrk="1" fontAlgn="auto" hangingPunct="1">
              <a:spcAft>
                <a:spcPts val="0"/>
              </a:spcAft>
              <a:defRPr/>
            </a:pPr>
            <a:r>
              <a:rPr lang="en-GB" sz="2200" dirty="0">
                <a:cs typeface="+mn-cs"/>
              </a:rPr>
              <a:t>Cox model is very good for adjusting for confounders</a:t>
            </a:r>
          </a:p>
          <a:p>
            <a:pPr eaLnBrk="1" fontAlgn="auto" hangingPunct="1">
              <a:spcAft>
                <a:spcPts val="0"/>
              </a:spcAft>
              <a:defRPr/>
            </a:pPr>
            <a:r>
              <a:rPr lang="en-GB" sz="2200" dirty="0">
                <a:cs typeface="+mn-cs"/>
              </a:rPr>
              <a:t>Other methods includes Weibull model and Exponential model</a:t>
            </a:r>
          </a:p>
          <a:p>
            <a:pPr eaLnBrk="1" fontAlgn="auto" hangingPunct="1">
              <a:spcAft>
                <a:spcPts val="0"/>
              </a:spcAft>
              <a:defRPr/>
            </a:pPr>
            <a:endParaRPr lang="en-GB" sz="2200" dirty="0">
              <a:cs typeface="+mn-cs"/>
            </a:endParaRPr>
          </a:p>
          <a:p>
            <a:pPr marL="0" indent="0" eaLnBrk="1" fontAlgn="auto" hangingPunct="1">
              <a:spcAft>
                <a:spcPts val="0"/>
              </a:spcAft>
              <a:buNone/>
              <a:defRPr/>
            </a:pPr>
            <a:r>
              <a:rPr lang="en-US" sz="2200" dirty="0">
                <a:cs typeface="+mn-cs"/>
              </a:rPr>
              <a:t> </a:t>
            </a:r>
          </a:p>
        </p:txBody>
      </p:sp>
      <p:sp>
        <p:nvSpPr>
          <p:cNvPr id="4" name="Slide Number Placeholder 3">
            <a:extLst>
              <a:ext uri="{FF2B5EF4-FFF2-40B4-BE49-F238E27FC236}">
                <a16:creationId xmlns:a16="http://schemas.microsoft.com/office/drawing/2014/main" id="{4DB64A08-F796-4EF5-A332-4E73F7C0D5B7}"/>
              </a:ext>
            </a:extLst>
          </p:cNvPr>
          <p:cNvSpPr>
            <a:spLocks noGrp="1"/>
          </p:cNvSpPr>
          <p:nvPr>
            <p:ph type="sldNum" sz="quarter" idx="12"/>
          </p:nvPr>
        </p:nvSpPr>
        <p:spPr/>
        <p:txBody>
          <a:bodyPr/>
          <a:lstStyle/>
          <a:p>
            <a:pPr>
              <a:defRPr/>
            </a:pPr>
            <a:fld id="{714444AC-9BE6-4CAF-B190-123A1A1EC265}" type="slidenum">
              <a:rPr lang="en-US"/>
              <a:pPr>
                <a:defRPr/>
              </a:pPr>
              <a:t>56</a:t>
            </a:fld>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A3EE4-0021-44B0-8C69-F2006597A250}"/>
              </a:ext>
            </a:extLst>
          </p:cNvPr>
          <p:cNvSpPr>
            <a:spLocks noGrp="1"/>
          </p:cNvSpPr>
          <p:nvPr>
            <p:ph type="title"/>
          </p:nvPr>
        </p:nvSpPr>
        <p:spPr>
          <a:xfrm>
            <a:off x="1927226" y="333375"/>
            <a:ext cx="8120063" cy="719138"/>
          </a:xfrm>
        </p:spPr>
        <p:txBody>
          <a:bodyPr rtlCol="0">
            <a:normAutofit/>
          </a:bodyPr>
          <a:lstStyle/>
          <a:p>
            <a:pPr eaLnBrk="1" fontAlgn="auto" hangingPunct="1">
              <a:spcAft>
                <a:spcPts val="0"/>
              </a:spcAft>
              <a:defRPr/>
            </a:pPr>
            <a:r>
              <a:rPr lang="en-GB" altLang="en-US" dirty="0"/>
              <a:t>Summary of today’s lecture, </a:t>
            </a:r>
            <a:r>
              <a:rPr lang="en-GB" altLang="en-US" dirty="0" err="1"/>
              <a:t>cont</a:t>
            </a:r>
            <a:endParaRPr lang="en-US" dirty="0"/>
          </a:p>
        </p:txBody>
      </p:sp>
      <p:sp>
        <p:nvSpPr>
          <p:cNvPr id="3" name="Content Placeholder 2">
            <a:extLst>
              <a:ext uri="{FF2B5EF4-FFF2-40B4-BE49-F238E27FC236}">
                <a16:creationId xmlns:a16="http://schemas.microsoft.com/office/drawing/2014/main" id="{4639C7B8-75B9-4A89-865D-469FCE138C16}"/>
              </a:ext>
            </a:extLst>
          </p:cNvPr>
          <p:cNvSpPr>
            <a:spLocks noGrp="1"/>
          </p:cNvSpPr>
          <p:nvPr>
            <p:ph idx="1"/>
          </p:nvPr>
        </p:nvSpPr>
        <p:spPr>
          <a:xfrm>
            <a:off x="1927225" y="1196975"/>
            <a:ext cx="8345488" cy="5111750"/>
          </a:xfrm>
        </p:spPr>
        <p:txBody>
          <a:bodyPr rtlCol="0">
            <a:normAutofit fontScale="92500" lnSpcReduction="20000"/>
          </a:bodyPr>
          <a:lstStyle/>
          <a:p>
            <a:pPr eaLnBrk="1" fontAlgn="auto" hangingPunct="1">
              <a:spcAft>
                <a:spcPts val="0"/>
              </a:spcAft>
              <a:buFont typeface="Wingdings" panose="05000000000000000000" pitchFamily="2" charset="2"/>
              <a:buChar char="q"/>
              <a:defRPr/>
            </a:pPr>
            <a:r>
              <a:rPr lang="en-GB" dirty="0">
                <a:cs typeface="+mn-cs"/>
              </a:rPr>
              <a:t>Tests of two survival groups</a:t>
            </a:r>
          </a:p>
          <a:p>
            <a:pPr eaLnBrk="1" fontAlgn="auto" hangingPunct="1">
              <a:spcAft>
                <a:spcPts val="0"/>
              </a:spcAft>
              <a:defRPr/>
            </a:pPr>
            <a:r>
              <a:rPr lang="en-US" dirty="0">
                <a:cs typeface="+mn-cs"/>
              </a:rPr>
              <a:t> </a:t>
            </a:r>
            <a:r>
              <a:rPr lang="en-GB" dirty="0">
                <a:cs typeface="+mn-cs"/>
              </a:rPr>
              <a:t>Log-rank test and Generalised Wilcoxon test</a:t>
            </a:r>
          </a:p>
          <a:p>
            <a:pPr eaLnBrk="1" fontAlgn="auto" hangingPunct="1">
              <a:spcAft>
                <a:spcPts val="0"/>
              </a:spcAft>
              <a:defRPr/>
            </a:pPr>
            <a:r>
              <a:rPr lang="en-GB" dirty="0">
                <a:cs typeface="+mn-cs"/>
              </a:rPr>
              <a:t>Null hypothesis: Two population survival are the same</a:t>
            </a:r>
          </a:p>
          <a:p>
            <a:pPr eaLnBrk="1" fontAlgn="auto" hangingPunct="1">
              <a:spcAft>
                <a:spcPts val="0"/>
              </a:spcAft>
              <a:defRPr/>
            </a:pPr>
            <a:r>
              <a:rPr lang="en-GB" dirty="0">
                <a:cs typeface="+mn-cs"/>
              </a:rPr>
              <a:t>Cox Model gives a better test of two or more explanatory variables</a:t>
            </a:r>
          </a:p>
          <a:p>
            <a:pPr eaLnBrk="1" fontAlgn="auto" hangingPunct="1">
              <a:spcAft>
                <a:spcPts val="0"/>
              </a:spcAft>
              <a:defRPr/>
            </a:pPr>
            <a:r>
              <a:rPr lang="en-GB" dirty="0">
                <a:cs typeface="+mn-cs"/>
              </a:rPr>
              <a:t>It can also quantify the effect with respect to HR</a:t>
            </a:r>
          </a:p>
          <a:p>
            <a:pPr eaLnBrk="1" fontAlgn="auto" hangingPunct="1">
              <a:spcAft>
                <a:spcPts val="0"/>
              </a:spcAft>
              <a:defRPr/>
            </a:pPr>
            <a:r>
              <a:rPr lang="en-GB" dirty="0">
                <a:cs typeface="+mn-cs"/>
              </a:rPr>
              <a:t>And also adjusting for confounders.</a:t>
            </a:r>
          </a:p>
          <a:p>
            <a:pPr eaLnBrk="1" fontAlgn="auto" hangingPunct="1">
              <a:spcAft>
                <a:spcPts val="0"/>
              </a:spcAft>
              <a:buFont typeface="Wingdings" panose="05000000000000000000" pitchFamily="2" charset="2"/>
              <a:buChar char="q"/>
              <a:defRPr/>
            </a:pPr>
            <a:r>
              <a:rPr lang="en-GB" dirty="0">
                <a:cs typeface="+mn-cs"/>
              </a:rPr>
              <a:t>To do survival analysis, given that it is time to an event</a:t>
            </a:r>
          </a:p>
          <a:p>
            <a:pPr eaLnBrk="1" fontAlgn="auto" hangingPunct="1">
              <a:spcAft>
                <a:spcPts val="0"/>
              </a:spcAft>
              <a:defRPr/>
            </a:pPr>
            <a:r>
              <a:rPr lang="en-GB" dirty="0">
                <a:cs typeface="+mn-cs"/>
              </a:rPr>
              <a:t>One has to have the start date and end date</a:t>
            </a:r>
          </a:p>
          <a:p>
            <a:pPr eaLnBrk="1" fontAlgn="auto" hangingPunct="1">
              <a:spcAft>
                <a:spcPts val="0"/>
              </a:spcAft>
              <a:defRPr/>
            </a:pPr>
            <a:r>
              <a:rPr lang="en-GB" dirty="0">
                <a:cs typeface="+mn-cs"/>
              </a:rPr>
              <a:t>To work out the outcome of interest</a:t>
            </a:r>
          </a:p>
          <a:p>
            <a:pPr eaLnBrk="1" fontAlgn="auto" hangingPunct="1">
              <a:spcAft>
                <a:spcPts val="0"/>
              </a:spcAft>
              <a:defRPr/>
            </a:pPr>
            <a:endParaRPr lang="en-GB" dirty="0">
              <a:cs typeface="+mn-cs"/>
            </a:endParaRPr>
          </a:p>
          <a:p>
            <a:pPr eaLnBrk="1" fontAlgn="auto" hangingPunct="1">
              <a:spcAft>
                <a:spcPts val="0"/>
              </a:spcAft>
              <a:buFont typeface="Wingdings" panose="05000000000000000000" pitchFamily="2" charset="2"/>
              <a:buChar char="q"/>
              <a:defRPr/>
            </a:pPr>
            <a:r>
              <a:rPr lang="en-US" dirty="0">
                <a:cs typeface="+mn-cs"/>
              </a:rPr>
              <a:t> </a:t>
            </a:r>
            <a:r>
              <a:rPr lang="en-GB" dirty="0">
                <a:cs typeface="+mn-cs"/>
              </a:rPr>
              <a:t>D. Collet, (1994). Modelling survival data in medical research. Chapman &amp; Hall. London.</a:t>
            </a:r>
          </a:p>
          <a:p>
            <a:pPr marL="0" indent="0" eaLnBrk="1" fontAlgn="auto" hangingPunct="1">
              <a:spcAft>
                <a:spcPts val="0"/>
              </a:spcAft>
              <a:buNone/>
              <a:defRPr/>
            </a:pPr>
            <a:endParaRPr lang="en-US" dirty="0">
              <a:cs typeface="+mn-cs"/>
            </a:endParaRPr>
          </a:p>
        </p:txBody>
      </p:sp>
      <p:sp>
        <p:nvSpPr>
          <p:cNvPr id="4" name="Slide Number Placeholder 3">
            <a:extLst>
              <a:ext uri="{FF2B5EF4-FFF2-40B4-BE49-F238E27FC236}">
                <a16:creationId xmlns:a16="http://schemas.microsoft.com/office/drawing/2014/main" id="{B11BC640-617E-4345-8EB5-7727422BFCF0}"/>
              </a:ext>
            </a:extLst>
          </p:cNvPr>
          <p:cNvSpPr>
            <a:spLocks noGrp="1"/>
          </p:cNvSpPr>
          <p:nvPr>
            <p:ph type="sldNum" sz="quarter" idx="12"/>
          </p:nvPr>
        </p:nvSpPr>
        <p:spPr/>
        <p:txBody>
          <a:bodyPr/>
          <a:lstStyle/>
          <a:p>
            <a:pPr>
              <a:defRPr/>
            </a:pPr>
            <a:fld id="{66C19B6C-E243-4980-A391-4A331221C30E}" type="slidenum">
              <a:rPr lang="en-US"/>
              <a:pPr>
                <a:defRPr/>
              </a:pPr>
              <a:t>57</a:t>
            </a:fld>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5E791-577E-49F3-A029-63684EC55EDF}"/>
              </a:ext>
            </a:extLst>
          </p:cNvPr>
          <p:cNvSpPr>
            <a:spLocks noGrp="1"/>
          </p:cNvSpPr>
          <p:nvPr>
            <p:ph type="title"/>
          </p:nvPr>
        </p:nvSpPr>
        <p:spPr>
          <a:xfrm>
            <a:off x="1981200" y="274639"/>
            <a:ext cx="8229600" cy="777875"/>
          </a:xfrm>
        </p:spPr>
        <p:txBody>
          <a:bodyPr/>
          <a:lstStyle/>
          <a:p>
            <a:pPr>
              <a:defRPr/>
            </a:pPr>
            <a:r>
              <a:rPr lang="en-GB" sz="3200" dirty="0"/>
              <a:t>Survival analysis, the theory</a:t>
            </a:r>
          </a:p>
        </p:txBody>
      </p:sp>
      <p:sp>
        <p:nvSpPr>
          <p:cNvPr id="3" name="Content Placeholder 2">
            <a:extLst>
              <a:ext uri="{FF2B5EF4-FFF2-40B4-BE49-F238E27FC236}">
                <a16:creationId xmlns:a16="http://schemas.microsoft.com/office/drawing/2014/main" id="{573EFE67-2387-4A52-8D8F-F828291E1D67}"/>
              </a:ext>
            </a:extLst>
          </p:cNvPr>
          <p:cNvSpPr>
            <a:spLocks noGrp="1"/>
          </p:cNvSpPr>
          <p:nvPr>
            <p:ph idx="1"/>
          </p:nvPr>
        </p:nvSpPr>
        <p:spPr>
          <a:xfrm>
            <a:off x="1703388" y="1196975"/>
            <a:ext cx="8507412" cy="5327650"/>
          </a:xfrm>
        </p:spPr>
        <p:txBody>
          <a:bodyPr/>
          <a:lstStyle/>
          <a:p>
            <a:pPr>
              <a:defRPr/>
            </a:pPr>
            <a:r>
              <a:rPr lang="en-GB" sz="2000" dirty="0"/>
              <a:t>The slides on survival analysis left out a lot of theory which we now present but much of the theory below can be skipped without loss in understanding.</a:t>
            </a:r>
          </a:p>
          <a:p>
            <a:pPr>
              <a:defRPr/>
            </a:pPr>
            <a:endParaRPr lang="en-GB" sz="2000" dirty="0"/>
          </a:p>
          <a:p>
            <a:pPr>
              <a:defRPr/>
            </a:pPr>
            <a:r>
              <a:rPr lang="en-GB" sz="2000" dirty="0"/>
              <a:t>The survival time </a:t>
            </a:r>
            <a:r>
              <a:rPr lang="en-GB" sz="2000" i="1" dirty="0"/>
              <a:t>T </a:t>
            </a:r>
            <a:r>
              <a:rPr lang="en-GB" sz="2000" dirty="0"/>
              <a:t>may be regarded as a random variable with a probability distribution </a:t>
            </a:r>
            <a:r>
              <a:rPr lang="en-GB" sz="2000" i="1" dirty="0"/>
              <a:t>F(t) </a:t>
            </a:r>
            <a:r>
              <a:rPr lang="en-GB" sz="2000" dirty="0"/>
              <a:t>and probability density function </a:t>
            </a:r>
            <a:r>
              <a:rPr lang="en-GB" sz="2000" i="1" dirty="0"/>
              <a:t>f(t).</a:t>
            </a:r>
          </a:p>
          <a:p>
            <a:pPr>
              <a:defRPr/>
            </a:pPr>
            <a:endParaRPr lang="en-GB" sz="2000" i="1" dirty="0"/>
          </a:p>
          <a:p>
            <a:pPr>
              <a:defRPr/>
            </a:pPr>
            <a:r>
              <a:rPr lang="en-GB" sz="2000" dirty="0"/>
              <a:t>An obvious quantity of interest is the probability of surviving to time </a:t>
            </a:r>
            <a:r>
              <a:rPr lang="en-GB" sz="2000" i="1" dirty="0"/>
              <a:t>t </a:t>
            </a:r>
            <a:r>
              <a:rPr lang="en-GB" sz="2000" dirty="0"/>
              <a:t>or beyond, the </a:t>
            </a:r>
            <a:r>
              <a:rPr lang="en-GB" sz="2000" i="1" dirty="0"/>
              <a:t>survival function</a:t>
            </a:r>
            <a:r>
              <a:rPr lang="en-GB" sz="2000" dirty="0"/>
              <a:t> or survival curve </a:t>
            </a:r>
            <a:r>
              <a:rPr lang="en-GB" sz="2000" i="1" dirty="0"/>
              <a:t>S(t), </a:t>
            </a:r>
            <a:r>
              <a:rPr lang="en-GB" sz="2000" dirty="0"/>
              <a:t>which is given by</a:t>
            </a:r>
          </a:p>
          <a:p>
            <a:pPr>
              <a:defRPr/>
            </a:pPr>
            <a:endParaRPr lang="en-GB" sz="2000" dirty="0"/>
          </a:p>
          <a:p>
            <a:pPr marL="0" indent="0">
              <a:buNone/>
              <a:defRPr/>
            </a:pPr>
            <a:endParaRPr lang="en-GB" sz="2000" dirty="0"/>
          </a:p>
          <a:p>
            <a:pPr>
              <a:defRPr/>
            </a:pPr>
            <a:r>
              <a:rPr lang="en-GB" sz="2000" dirty="0"/>
              <a:t>A further function which is of interest for survival data is the </a:t>
            </a:r>
            <a:r>
              <a:rPr lang="en-GB" sz="2000" b="1" i="1" dirty="0"/>
              <a:t>hazard function.</a:t>
            </a:r>
          </a:p>
          <a:p>
            <a:pPr>
              <a:defRPr/>
            </a:pPr>
            <a:endParaRPr lang="en-GB" sz="2000" b="1" i="1" dirty="0"/>
          </a:p>
          <a:p>
            <a:pPr>
              <a:defRPr/>
            </a:pPr>
            <a:r>
              <a:rPr lang="en-GB" sz="2000" dirty="0"/>
              <a:t> This represents the instantaneous failure rate, that is, the probability that an individual experiences the event of interest at a time point given that the event has not occurred.</a:t>
            </a:r>
          </a:p>
          <a:p>
            <a:pPr>
              <a:defRPr/>
            </a:pPr>
            <a:endParaRPr lang="en-GB" sz="2000" dirty="0"/>
          </a:p>
          <a:p>
            <a:pPr marL="0" indent="0">
              <a:buNone/>
              <a:defRPr/>
            </a:pPr>
            <a:endParaRPr lang="en-GB" sz="2000" dirty="0"/>
          </a:p>
          <a:p>
            <a:pPr marL="0" indent="0">
              <a:buNone/>
              <a:defRPr/>
            </a:pPr>
            <a:endParaRPr lang="en-GB" sz="2000" dirty="0"/>
          </a:p>
        </p:txBody>
      </p:sp>
      <p:sp>
        <p:nvSpPr>
          <p:cNvPr id="6246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cs typeface="Arial" panose="020B0604020202020204" pitchFamily="34" charset="0"/>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cs typeface="Arial" panose="020B0604020202020204" pitchFamily="34"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cs typeface="Arial" panose="020B0604020202020204" pitchFamily="34"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cs typeface="Arial" panose="020B0604020202020204" pitchFamily="34"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cs typeface="Arial" panose="020B0604020202020204" pitchFamily="34"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cs typeface="Arial" panose="020B0604020202020204" pitchFamily="34"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buClrTx/>
              <a:buSzTx/>
              <a:buFontTx/>
              <a:buNone/>
            </a:pPr>
            <a:fld id="{A0717B6C-B805-4D7C-945A-1318865D0DC1}" type="slidenum">
              <a:rPr lang="en-GB" altLang="en-US" sz="1200">
                <a:solidFill>
                  <a:srgbClr val="FFFFFF"/>
                </a:solidFill>
                <a:latin typeface="Arial" panose="020B0604020202020204" pitchFamily="34" charset="0"/>
              </a:rPr>
              <a:pPr fontAlgn="base">
                <a:spcBef>
                  <a:spcPct val="0"/>
                </a:spcBef>
                <a:spcAft>
                  <a:spcPct val="0"/>
                </a:spcAft>
                <a:buClrTx/>
                <a:buSzTx/>
                <a:buFontTx/>
                <a:buNone/>
              </a:pPr>
              <a:t>58</a:t>
            </a:fld>
            <a:endParaRPr lang="en-GB" altLang="en-US" sz="1200">
              <a:solidFill>
                <a:srgbClr val="FFFFFF"/>
              </a:solidFill>
              <a:latin typeface="Arial" panose="020B0604020202020204" pitchFamily="34" charset="0"/>
            </a:endParaRPr>
          </a:p>
        </p:txBody>
      </p:sp>
      <p:graphicFrame>
        <p:nvGraphicFramePr>
          <p:cNvPr id="62469" name="Object 4"/>
          <p:cNvGraphicFramePr>
            <a:graphicFrameLocks noChangeAspect="1"/>
          </p:cNvGraphicFramePr>
          <p:nvPr/>
        </p:nvGraphicFramePr>
        <p:xfrm>
          <a:off x="3648075" y="4149725"/>
          <a:ext cx="3149600" cy="304800"/>
        </p:xfrm>
        <a:graphic>
          <a:graphicData uri="http://schemas.openxmlformats.org/presentationml/2006/ole">
            <mc:AlternateContent xmlns:mc="http://schemas.openxmlformats.org/markup-compatibility/2006">
              <mc:Choice xmlns:v="urn:schemas-microsoft-com:vml" Requires="v">
                <p:oleObj spid="_x0000_s62488" name="Equation" r:id="rId3" imgW="3149600" imgH="304800" progId="Equation.DSMT4">
                  <p:embed/>
                </p:oleObj>
              </mc:Choice>
              <mc:Fallback>
                <p:oleObj name="Equation" r:id="rId3" imgW="3149600" imgH="3048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48075" y="4149725"/>
                        <a:ext cx="3149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731C8-0F6A-4E68-96AA-665B3E8E3BD0}"/>
              </a:ext>
            </a:extLst>
          </p:cNvPr>
          <p:cNvSpPr>
            <a:spLocks noGrp="1"/>
          </p:cNvSpPr>
          <p:nvPr>
            <p:ph type="title"/>
          </p:nvPr>
        </p:nvSpPr>
        <p:spPr>
          <a:xfrm>
            <a:off x="1981200" y="274639"/>
            <a:ext cx="8229600" cy="922337"/>
          </a:xfrm>
        </p:spPr>
        <p:txBody>
          <a:bodyPr/>
          <a:lstStyle/>
          <a:p>
            <a:pPr>
              <a:defRPr/>
            </a:pPr>
            <a:r>
              <a:rPr lang="en-GB" dirty="0"/>
              <a:t>Survival analysis, the theory</a:t>
            </a:r>
          </a:p>
        </p:txBody>
      </p:sp>
      <p:sp>
        <p:nvSpPr>
          <p:cNvPr id="3" name="Content Placeholder 2">
            <a:extLst>
              <a:ext uri="{FF2B5EF4-FFF2-40B4-BE49-F238E27FC236}">
                <a16:creationId xmlns:a16="http://schemas.microsoft.com/office/drawing/2014/main" id="{422D707B-5195-426A-8D53-742479E4AC57}"/>
              </a:ext>
            </a:extLst>
          </p:cNvPr>
          <p:cNvSpPr>
            <a:spLocks noGrp="1"/>
          </p:cNvSpPr>
          <p:nvPr>
            <p:ph idx="1"/>
          </p:nvPr>
        </p:nvSpPr>
        <p:spPr>
          <a:xfrm>
            <a:off x="1847850" y="1268413"/>
            <a:ext cx="8496300" cy="4857750"/>
          </a:xfrm>
        </p:spPr>
        <p:txBody>
          <a:bodyPr/>
          <a:lstStyle/>
          <a:p>
            <a:pPr>
              <a:defRPr/>
            </a:pPr>
            <a:r>
              <a:rPr lang="en-GB" sz="2000" dirty="0"/>
              <a:t>It can be shown that the hazard function is given by</a:t>
            </a:r>
          </a:p>
          <a:p>
            <a:pPr>
              <a:defRPr/>
            </a:pPr>
            <a:endParaRPr lang="en-GB" sz="2000" dirty="0"/>
          </a:p>
          <a:p>
            <a:pPr>
              <a:defRPr/>
            </a:pPr>
            <a:endParaRPr lang="en-GB" sz="2000" dirty="0"/>
          </a:p>
          <a:p>
            <a:pPr>
              <a:defRPr/>
            </a:pPr>
            <a:endParaRPr lang="en-GB" sz="2000" dirty="0"/>
          </a:p>
          <a:p>
            <a:pPr>
              <a:defRPr/>
            </a:pPr>
            <a:r>
              <a:rPr lang="en-GB" sz="2000" dirty="0"/>
              <a:t>Which is the instantaneous risk of failure at time </a:t>
            </a:r>
            <a:r>
              <a:rPr lang="en-GB" sz="2000" i="1" dirty="0"/>
              <a:t>t </a:t>
            </a:r>
            <a:r>
              <a:rPr lang="en-GB" sz="2000" dirty="0"/>
              <a:t>divided by the probability of surviving up to time </a:t>
            </a:r>
            <a:r>
              <a:rPr lang="en-GB" sz="2000" i="1" dirty="0"/>
              <a:t>t</a:t>
            </a:r>
            <a:r>
              <a:rPr lang="en-GB" sz="2000" dirty="0"/>
              <a:t>.</a:t>
            </a:r>
          </a:p>
          <a:p>
            <a:pPr>
              <a:defRPr/>
            </a:pPr>
            <a:endParaRPr lang="en-GB" sz="2000" dirty="0"/>
          </a:p>
          <a:p>
            <a:pPr>
              <a:defRPr/>
            </a:pPr>
            <a:r>
              <a:rPr lang="en-GB" sz="2000" dirty="0"/>
              <a:t>Note that the hazard function is just the incidence rate</a:t>
            </a:r>
          </a:p>
          <a:p>
            <a:pPr>
              <a:defRPr/>
            </a:pPr>
            <a:endParaRPr lang="en-GB" sz="2000" dirty="0"/>
          </a:p>
          <a:p>
            <a:pPr>
              <a:defRPr/>
            </a:pPr>
            <a:r>
              <a:rPr lang="en-GB" sz="2000" dirty="0"/>
              <a:t>It follows from equations [1] and [2] that </a:t>
            </a:r>
          </a:p>
          <a:p>
            <a:pPr>
              <a:defRPr/>
            </a:pPr>
            <a:endParaRPr lang="en-GB" sz="2000" dirty="0"/>
          </a:p>
          <a:p>
            <a:pPr>
              <a:defRPr/>
            </a:pPr>
            <a:r>
              <a:rPr lang="en-GB" sz="2000" dirty="0"/>
              <a:t>Where           is the integrated hazard function, also known as the </a:t>
            </a:r>
            <a:r>
              <a:rPr lang="en-GB" sz="2000" b="1" i="1" dirty="0"/>
              <a:t>cumulative hazard </a:t>
            </a:r>
            <a:r>
              <a:rPr lang="en-GB" sz="2000" dirty="0"/>
              <a:t>function.  </a:t>
            </a:r>
          </a:p>
          <a:p>
            <a:pPr>
              <a:defRPr/>
            </a:pPr>
            <a:endParaRPr lang="en-GB" sz="2000" dirty="0"/>
          </a:p>
          <a:p>
            <a:pPr>
              <a:defRPr/>
            </a:pPr>
            <a:endParaRPr lang="en-GB" sz="2000" dirty="0"/>
          </a:p>
          <a:p>
            <a:pPr>
              <a:defRPr/>
            </a:pPr>
            <a:endParaRPr lang="en-GB" sz="2000" dirty="0"/>
          </a:p>
          <a:p>
            <a:pPr>
              <a:defRPr/>
            </a:pPr>
            <a:endParaRPr lang="en-GB" sz="2000" dirty="0"/>
          </a:p>
        </p:txBody>
      </p:sp>
      <p:sp>
        <p:nvSpPr>
          <p:cNvPr id="63492"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cs typeface="Arial" panose="020B0604020202020204" pitchFamily="34" charset="0"/>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cs typeface="Arial" panose="020B0604020202020204" pitchFamily="34"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cs typeface="Arial" panose="020B0604020202020204" pitchFamily="34"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cs typeface="Arial" panose="020B0604020202020204" pitchFamily="34"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cs typeface="Arial" panose="020B0604020202020204" pitchFamily="34"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cs typeface="Arial" panose="020B0604020202020204" pitchFamily="34"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buClrTx/>
              <a:buSzTx/>
              <a:buFontTx/>
              <a:buNone/>
            </a:pPr>
            <a:fld id="{1063FBF2-CD64-4384-B467-B9EA67EA0342}" type="slidenum">
              <a:rPr lang="en-GB" altLang="en-US" sz="1200">
                <a:solidFill>
                  <a:srgbClr val="FFFFFF"/>
                </a:solidFill>
                <a:latin typeface="Arial" panose="020B0604020202020204" pitchFamily="34" charset="0"/>
              </a:rPr>
              <a:pPr fontAlgn="base">
                <a:spcBef>
                  <a:spcPct val="0"/>
                </a:spcBef>
                <a:spcAft>
                  <a:spcPct val="0"/>
                </a:spcAft>
                <a:buClrTx/>
                <a:buSzTx/>
                <a:buFontTx/>
                <a:buNone/>
              </a:pPr>
              <a:t>59</a:t>
            </a:fld>
            <a:endParaRPr lang="en-GB" altLang="en-US" sz="1200">
              <a:solidFill>
                <a:srgbClr val="FFFFFF"/>
              </a:solidFill>
              <a:latin typeface="Arial" panose="020B0604020202020204" pitchFamily="34" charset="0"/>
            </a:endParaRPr>
          </a:p>
        </p:txBody>
      </p:sp>
      <p:graphicFrame>
        <p:nvGraphicFramePr>
          <p:cNvPr id="63493" name="Object 4"/>
          <p:cNvGraphicFramePr>
            <a:graphicFrameLocks noChangeAspect="1"/>
          </p:cNvGraphicFramePr>
          <p:nvPr/>
        </p:nvGraphicFramePr>
        <p:xfrm>
          <a:off x="3503613" y="1844675"/>
          <a:ext cx="1663700" cy="660400"/>
        </p:xfrm>
        <a:graphic>
          <a:graphicData uri="http://schemas.openxmlformats.org/presentationml/2006/ole">
            <mc:AlternateContent xmlns:mc="http://schemas.openxmlformats.org/markup-compatibility/2006">
              <mc:Choice xmlns:v="urn:schemas-microsoft-com:vml" Requires="v">
                <p:oleObj spid="_x0000_s63550" name="Equation" r:id="rId3" imgW="1663700" imgH="660400" progId="Equation.DSMT4">
                  <p:embed/>
                </p:oleObj>
              </mc:Choice>
              <mc:Fallback>
                <p:oleObj name="Equation" r:id="rId3" imgW="1663700" imgH="6604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3613" y="1844675"/>
                        <a:ext cx="1663700"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3494" name="Object 5"/>
          <p:cNvGraphicFramePr>
            <a:graphicFrameLocks noChangeAspect="1"/>
          </p:cNvGraphicFramePr>
          <p:nvPr/>
        </p:nvGraphicFramePr>
        <p:xfrm>
          <a:off x="6672263" y="4221163"/>
          <a:ext cx="2832100" cy="990600"/>
        </p:xfrm>
        <a:graphic>
          <a:graphicData uri="http://schemas.openxmlformats.org/presentationml/2006/ole">
            <mc:AlternateContent xmlns:mc="http://schemas.openxmlformats.org/markup-compatibility/2006">
              <mc:Choice xmlns:v="urn:schemas-microsoft-com:vml" Requires="v">
                <p:oleObj spid="_x0000_s63551" name="Equation" r:id="rId5" imgW="2832100" imgH="990600" progId="Equation.DSMT4">
                  <p:embed/>
                </p:oleObj>
              </mc:Choice>
              <mc:Fallback>
                <p:oleObj name="Equation" r:id="rId5" imgW="2832100" imgH="9906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72263" y="4221163"/>
                        <a:ext cx="28321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3495" name="Object 6"/>
          <p:cNvGraphicFramePr>
            <a:graphicFrameLocks noChangeAspect="1"/>
          </p:cNvGraphicFramePr>
          <p:nvPr/>
        </p:nvGraphicFramePr>
        <p:xfrm>
          <a:off x="3000375" y="5300663"/>
          <a:ext cx="596900" cy="304800"/>
        </p:xfrm>
        <a:graphic>
          <a:graphicData uri="http://schemas.openxmlformats.org/presentationml/2006/ole">
            <mc:AlternateContent xmlns:mc="http://schemas.openxmlformats.org/markup-compatibility/2006">
              <mc:Choice xmlns:v="urn:schemas-microsoft-com:vml" Requires="v">
                <p:oleObj spid="_x0000_s63552" name="Equation" r:id="rId7" imgW="596641" imgH="304668" progId="Equation.DSMT4">
                  <p:embed/>
                </p:oleObj>
              </mc:Choice>
              <mc:Fallback>
                <p:oleObj name="Equation" r:id="rId7" imgW="596641" imgH="304668"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00375" y="5300663"/>
                        <a:ext cx="5969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3BC28-7635-4C7A-AFFB-3F2EFDCC974E}"/>
              </a:ext>
            </a:extLst>
          </p:cNvPr>
          <p:cNvSpPr>
            <a:spLocks noGrp="1"/>
          </p:cNvSpPr>
          <p:nvPr>
            <p:ph type="title"/>
          </p:nvPr>
        </p:nvSpPr>
        <p:spPr>
          <a:xfrm>
            <a:off x="1981200" y="274638"/>
            <a:ext cx="8229600" cy="850900"/>
          </a:xfrm>
        </p:spPr>
        <p:txBody>
          <a:bodyPr/>
          <a:lstStyle/>
          <a:p>
            <a:pPr>
              <a:defRPr/>
            </a:pPr>
            <a:r>
              <a:rPr lang="en-GB" sz="3200" dirty="0"/>
              <a:t>Survival analysis, the theory</a:t>
            </a:r>
          </a:p>
        </p:txBody>
      </p:sp>
      <p:sp>
        <p:nvSpPr>
          <p:cNvPr id="3" name="Content Placeholder 2">
            <a:extLst>
              <a:ext uri="{FF2B5EF4-FFF2-40B4-BE49-F238E27FC236}">
                <a16:creationId xmlns:a16="http://schemas.microsoft.com/office/drawing/2014/main" id="{44F6A195-B589-4E99-9FD8-54C79EC1EC94}"/>
              </a:ext>
            </a:extLst>
          </p:cNvPr>
          <p:cNvSpPr>
            <a:spLocks noGrp="1"/>
          </p:cNvSpPr>
          <p:nvPr>
            <p:ph idx="1"/>
          </p:nvPr>
        </p:nvSpPr>
        <p:spPr>
          <a:xfrm>
            <a:off x="1774826" y="1268413"/>
            <a:ext cx="8435975" cy="4857750"/>
          </a:xfrm>
        </p:spPr>
        <p:txBody>
          <a:bodyPr/>
          <a:lstStyle/>
          <a:p>
            <a:pPr algn="ctr">
              <a:defRPr/>
            </a:pPr>
            <a:r>
              <a:rPr lang="en-GB" sz="2000" b="1" i="1" dirty="0"/>
              <a:t>Kaplan-Meier estimator</a:t>
            </a:r>
          </a:p>
          <a:p>
            <a:pPr>
              <a:defRPr/>
            </a:pPr>
            <a:endParaRPr lang="en-GB" sz="2000" b="1" i="1" dirty="0"/>
          </a:p>
          <a:p>
            <a:pPr>
              <a:defRPr/>
            </a:pPr>
            <a:r>
              <a:rPr lang="en-GB" sz="2000" dirty="0"/>
              <a:t>The Kaplan-Meier estimator is a nonparametric estimator of the survivor function </a:t>
            </a:r>
            <a:r>
              <a:rPr lang="en-GB" sz="2000" i="1" dirty="0"/>
              <a:t>S(t).</a:t>
            </a:r>
          </a:p>
          <a:p>
            <a:pPr>
              <a:defRPr/>
            </a:pPr>
            <a:endParaRPr lang="en-GB" sz="2000" i="1" dirty="0"/>
          </a:p>
          <a:p>
            <a:pPr>
              <a:defRPr/>
            </a:pPr>
            <a:r>
              <a:rPr lang="en-GB" sz="2000" dirty="0"/>
              <a:t>If all the failure times, or times at which the event occurs in a sample, are ordered and labelled         such that                           , the estimator is given by</a:t>
            </a:r>
          </a:p>
          <a:p>
            <a:pPr>
              <a:defRPr/>
            </a:pPr>
            <a:endParaRPr lang="en-GB" sz="2000" dirty="0"/>
          </a:p>
          <a:p>
            <a:pPr>
              <a:defRPr/>
            </a:pPr>
            <a:endParaRPr lang="en-GB" sz="2000" dirty="0"/>
          </a:p>
          <a:p>
            <a:pPr>
              <a:defRPr/>
            </a:pPr>
            <a:endParaRPr lang="en-GB" sz="2000" dirty="0"/>
          </a:p>
          <a:p>
            <a:pPr>
              <a:defRPr/>
            </a:pPr>
            <a:r>
              <a:rPr lang="en-GB" sz="2000" dirty="0"/>
              <a:t>Where      is the number of individuals who experience the event at time         and       is the number of individuals who have not yet experienced the event at that time and are therefore still at risk of experiencing it (including those censored at       . The product is all failure times less than or equal to </a:t>
            </a:r>
            <a:r>
              <a:rPr lang="en-GB" sz="2000" i="1" dirty="0"/>
              <a:t>t.</a:t>
            </a:r>
            <a:endParaRPr lang="en-GB" sz="2000" dirty="0"/>
          </a:p>
          <a:p>
            <a:pPr>
              <a:defRPr/>
            </a:pPr>
            <a:endParaRPr lang="en-GB" sz="2000" dirty="0"/>
          </a:p>
          <a:p>
            <a:pPr>
              <a:defRPr/>
            </a:pPr>
            <a:endParaRPr lang="en-GB" sz="2000" dirty="0"/>
          </a:p>
          <a:p>
            <a:pPr>
              <a:defRPr/>
            </a:pPr>
            <a:endParaRPr lang="en-GB" sz="2000" dirty="0"/>
          </a:p>
          <a:p>
            <a:pPr lvl="2">
              <a:defRPr/>
            </a:pPr>
            <a:endParaRPr lang="en-GB" sz="1200" dirty="0"/>
          </a:p>
        </p:txBody>
      </p:sp>
      <p:sp>
        <p:nvSpPr>
          <p:cNvPr id="64516"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cs typeface="Arial" panose="020B0604020202020204" pitchFamily="34" charset="0"/>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cs typeface="Arial" panose="020B0604020202020204" pitchFamily="34"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cs typeface="Arial" panose="020B0604020202020204" pitchFamily="34"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cs typeface="Arial" panose="020B0604020202020204" pitchFamily="34"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cs typeface="Arial" panose="020B0604020202020204" pitchFamily="34"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cs typeface="Arial" panose="020B0604020202020204" pitchFamily="34"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buClrTx/>
              <a:buSzTx/>
              <a:buFontTx/>
              <a:buNone/>
            </a:pPr>
            <a:fld id="{F4631A4B-1A23-4006-90F5-D5639404518C}" type="slidenum">
              <a:rPr lang="en-GB" altLang="en-US" sz="1200">
                <a:solidFill>
                  <a:srgbClr val="FFFFFF"/>
                </a:solidFill>
                <a:latin typeface="Arial" panose="020B0604020202020204" pitchFamily="34" charset="0"/>
              </a:rPr>
              <a:pPr fontAlgn="base">
                <a:spcBef>
                  <a:spcPct val="0"/>
                </a:spcBef>
                <a:spcAft>
                  <a:spcPct val="0"/>
                </a:spcAft>
                <a:buClrTx/>
                <a:buSzTx/>
                <a:buFontTx/>
                <a:buNone/>
              </a:pPr>
              <a:t>60</a:t>
            </a:fld>
            <a:endParaRPr lang="en-GB" altLang="en-US" sz="1200">
              <a:solidFill>
                <a:srgbClr val="FFFFFF"/>
              </a:solidFill>
              <a:latin typeface="Arial" panose="020B0604020202020204" pitchFamily="34" charset="0"/>
            </a:endParaRPr>
          </a:p>
        </p:txBody>
      </p:sp>
      <p:graphicFrame>
        <p:nvGraphicFramePr>
          <p:cNvPr id="64517" name="Object 4"/>
          <p:cNvGraphicFramePr>
            <a:graphicFrameLocks noChangeAspect="1"/>
          </p:cNvGraphicFramePr>
          <p:nvPr/>
        </p:nvGraphicFramePr>
        <p:xfrm>
          <a:off x="4367213" y="3357563"/>
          <a:ext cx="330200" cy="368300"/>
        </p:xfrm>
        <a:graphic>
          <a:graphicData uri="http://schemas.openxmlformats.org/presentationml/2006/ole">
            <mc:AlternateContent xmlns:mc="http://schemas.openxmlformats.org/markup-compatibility/2006">
              <mc:Choice xmlns:v="urn:schemas-microsoft-com:vml" Requires="v">
                <p:oleObj spid="_x0000_s64650" name="Equation" r:id="rId3" imgW="330200" imgH="368300" progId="Equation.DSMT4">
                  <p:embed/>
                </p:oleObj>
              </mc:Choice>
              <mc:Fallback>
                <p:oleObj name="Equation" r:id="rId3" imgW="330200" imgH="3683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67213" y="3357563"/>
                        <a:ext cx="3302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4518" name="Object 5"/>
          <p:cNvGraphicFramePr>
            <a:graphicFrameLocks noChangeAspect="1"/>
          </p:cNvGraphicFramePr>
          <p:nvPr/>
        </p:nvGraphicFramePr>
        <p:xfrm>
          <a:off x="5808663" y="3357563"/>
          <a:ext cx="1600200" cy="355600"/>
        </p:xfrm>
        <a:graphic>
          <a:graphicData uri="http://schemas.openxmlformats.org/presentationml/2006/ole">
            <mc:AlternateContent xmlns:mc="http://schemas.openxmlformats.org/markup-compatibility/2006">
              <mc:Choice xmlns:v="urn:schemas-microsoft-com:vml" Requires="v">
                <p:oleObj spid="_x0000_s64651" name="Equation" r:id="rId5" imgW="1600200" imgH="355600" progId="Equation.DSMT4">
                  <p:embed/>
                </p:oleObj>
              </mc:Choice>
              <mc:Fallback>
                <p:oleObj name="Equation" r:id="rId5" imgW="1600200" imgH="3556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08663" y="3357563"/>
                        <a:ext cx="16002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4519" name="Object 6"/>
          <p:cNvGraphicFramePr>
            <a:graphicFrameLocks noChangeAspect="1"/>
          </p:cNvGraphicFramePr>
          <p:nvPr/>
        </p:nvGraphicFramePr>
        <p:xfrm>
          <a:off x="3544888" y="3860800"/>
          <a:ext cx="2590800" cy="838200"/>
        </p:xfrm>
        <a:graphic>
          <a:graphicData uri="http://schemas.openxmlformats.org/presentationml/2006/ole">
            <mc:AlternateContent xmlns:mc="http://schemas.openxmlformats.org/markup-compatibility/2006">
              <mc:Choice xmlns:v="urn:schemas-microsoft-com:vml" Requires="v">
                <p:oleObj spid="_x0000_s64652" name="Equation" r:id="rId7" imgW="2590800" imgH="838200" progId="Equation.DSMT4">
                  <p:embed/>
                </p:oleObj>
              </mc:Choice>
              <mc:Fallback>
                <p:oleObj name="Equation" r:id="rId7" imgW="2590800" imgH="838200"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44888" y="3860800"/>
                        <a:ext cx="25908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4520" name="Object 7"/>
          <p:cNvGraphicFramePr>
            <a:graphicFrameLocks noChangeAspect="1"/>
          </p:cNvGraphicFramePr>
          <p:nvPr/>
        </p:nvGraphicFramePr>
        <p:xfrm>
          <a:off x="2927350" y="4868863"/>
          <a:ext cx="266700" cy="368300"/>
        </p:xfrm>
        <a:graphic>
          <a:graphicData uri="http://schemas.openxmlformats.org/presentationml/2006/ole">
            <mc:AlternateContent xmlns:mc="http://schemas.openxmlformats.org/markup-compatibility/2006">
              <mc:Choice xmlns:v="urn:schemas-microsoft-com:vml" Requires="v">
                <p:oleObj spid="_x0000_s64653" name="Equation" r:id="rId9" imgW="266584" imgH="368140" progId="Equation.DSMT4">
                  <p:embed/>
                </p:oleObj>
              </mc:Choice>
              <mc:Fallback>
                <p:oleObj name="Equation" r:id="rId9" imgW="266584" imgH="368140" progId="Equation.DSMT4">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27350" y="4868863"/>
                        <a:ext cx="2667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4521" name="Object 8"/>
          <p:cNvGraphicFramePr>
            <a:graphicFrameLocks noChangeAspect="1"/>
          </p:cNvGraphicFramePr>
          <p:nvPr/>
        </p:nvGraphicFramePr>
        <p:xfrm>
          <a:off x="9409113" y="4868863"/>
          <a:ext cx="406400" cy="368300"/>
        </p:xfrm>
        <a:graphic>
          <a:graphicData uri="http://schemas.openxmlformats.org/presentationml/2006/ole">
            <mc:AlternateContent xmlns:mc="http://schemas.openxmlformats.org/markup-compatibility/2006">
              <mc:Choice xmlns:v="urn:schemas-microsoft-com:vml" Requires="v">
                <p:oleObj spid="_x0000_s64654" name="Equation" r:id="rId11" imgW="406224" imgH="368140" progId="Equation.DSMT4">
                  <p:embed/>
                </p:oleObj>
              </mc:Choice>
              <mc:Fallback>
                <p:oleObj name="Equation" r:id="rId11" imgW="406224" imgH="368140" progId="Equation.DSMT4">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409113" y="4868863"/>
                        <a:ext cx="406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4522" name="Object 9"/>
          <p:cNvGraphicFramePr>
            <a:graphicFrameLocks noChangeAspect="1"/>
          </p:cNvGraphicFramePr>
          <p:nvPr/>
        </p:nvGraphicFramePr>
        <p:xfrm>
          <a:off x="2640013" y="5157788"/>
          <a:ext cx="266700" cy="368300"/>
        </p:xfrm>
        <a:graphic>
          <a:graphicData uri="http://schemas.openxmlformats.org/presentationml/2006/ole">
            <mc:AlternateContent xmlns:mc="http://schemas.openxmlformats.org/markup-compatibility/2006">
              <mc:Choice xmlns:v="urn:schemas-microsoft-com:vml" Requires="v">
                <p:oleObj spid="_x0000_s64655" name="Equation" r:id="rId13" imgW="266584" imgH="368140" progId="Equation.DSMT4">
                  <p:embed/>
                </p:oleObj>
              </mc:Choice>
              <mc:Fallback>
                <p:oleObj name="Equation" r:id="rId13" imgW="266584" imgH="368140" progId="Equation.DSMT4">
                  <p:embed/>
                  <p:pic>
                    <p:nvPicPr>
                      <p:cNvPr id="0"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640013" y="5157788"/>
                        <a:ext cx="2667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4523" name="Object 10"/>
          <p:cNvGraphicFramePr>
            <a:graphicFrameLocks noChangeAspect="1"/>
          </p:cNvGraphicFramePr>
          <p:nvPr/>
        </p:nvGraphicFramePr>
        <p:xfrm>
          <a:off x="3432175" y="5805488"/>
          <a:ext cx="330200" cy="368300"/>
        </p:xfrm>
        <a:graphic>
          <a:graphicData uri="http://schemas.openxmlformats.org/presentationml/2006/ole">
            <mc:AlternateContent xmlns:mc="http://schemas.openxmlformats.org/markup-compatibility/2006">
              <mc:Choice xmlns:v="urn:schemas-microsoft-com:vml" Requires="v">
                <p:oleObj spid="_x0000_s64656" name="Equation" r:id="rId15" imgW="330200" imgH="368300" progId="Equation.DSMT4">
                  <p:embed/>
                </p:oleObj>
              </mc:Choice>
              <mc:Fallback>
                <p:oleObj name="Equation" r:id="rId15" imgW="330200" imgH="368300" progId="Equation.DSMT4">
                  <p:embed/>
                  <p:pic>
                    <p:nvPicPr>
                      <p:cNvPr id="0"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432175" y="5805488"/>
                        <a:ext cx="3302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980D5-4DC1-48D9-8818-BB18AEA4ACC2}"/>
              </a:ext>
            </a:extLst>
          </p:cNvPr>
          <p:cNvSpPr>
            <a:spLocks noGrp="1"/>
          </p:cNvSpPr>
          <p:nvPr>
            <p:ph type="title"/>
          </p:nvPr>
        </p:nvSpPr>
        <p:spPr>
          <a:xfrm>
            <a:off x="1981200" y="274639"/>
            <a:ext cx="8229600" cy="993775"/>
          </a:xfrm>
        </p:spPr>
        <p:txBody>
          <a:bodyPr/>
          <a:lstStyle/>
          <a:p>
            <a:pPr>
              <a:defRPr/>
            </a:pPr>
            <a:r>
              <a:rPr lang="en-GB" sz="3200" dirty="0"/>
              <a:t>Survival analysis, the theory</a:t>
            </a:r>
            <a:endParaRPr lang="en-GB" sz="3200" i="1" dirty="0"/>
          </a:p>
        </p:txBody>
      </p:sp>
      <p:sp>
        <p:nvSpPr>
          <p:cNvPr id="3" name="Content Placeholder 2">
            <a:extLst>
              <a:ext uri="{FF2B5EF4-FFF2-40B4-BE49-F238E27FC236}">
                <a16:creationId xmlns:a16="http://schemas.microsoft.com/office/drawing/2014/main" id="{CE54D400-E3A5-4AC9-B242-CD4B418F02E6}"/>
              </a:ext>
            </a:extLst>
          </p:cNvPr>
          <p:cNvSpPr>
            <a:spLocks noGrp="1"/>
          </p:cNvSpPr>
          <p:nvPr>
            <p:ph idx="1"/>
          </p:nvPr>
        </p:nvSpPr>
        <p:spPr>
          <a:xfrm>
            <a:off x="1919288" y="1700214"/>
            <a:ext cx="8229600" cy="4897437"/>
          </a:xfrm>
        </p:spPr>
        <p:txBody>
          <a:bodyPr/>
          <a:lstStyle/>
          <a:p>
            <a:pPr algn="ctr">
              <a:defRPr/>
            </a:pPr>
            <a:r>
              <a:rPr lang="en-GB" sz="2800" b="1" i="1" dirty="0"/>
              <a:t>Cox Regression</a:t>
            </a:r>
          </a:p>
          <a:p>
            <a:pPr>
              <a:defRPr/>
            </a:pPr>
            <a:endParaRPr lang="en-GB" sz="2800" b="1" i="1" dirty="0"/>
          </a:p>
          <a:p>
            <a:pPr>
              <a:defRPr/>
            </a:pPr>
            <a:r>
              <a:rPr lang="en-GB" sz="2000" dirty="0"/>
              <a:t>We can compare survival in different subgroups by plotting the Kaplan-Meier estimators of the group-specific survivor functions and applying sample significance tests (such as the log-rank test).</a:t>
            </a:r>
          </a:p>
          <a:p>
            <a:pPr>
              <a:defRPr/>
            </a:pPr>
            <a:endParaRPr lang="en-GB" sz="2000" dirty="0"/>
          </a:p>
          <a:p>
            <a:pPr>
              <a:defRPr/>
            </a:pPr>
            <a:r>
              <a:rPr lang="en-GB" sz="2000" dirty="0"/>
              <a:t>However. When there are several explanatory variables, in particular when some of these are continuous, it is much more useful to use a regression method such as Cox regression. Here the hazard function for individuals </a:t>
            </a:r>
            <a:r>
              <a:rPr lang="en-GB" sz="2000" i="1" dirty="0" err="1"/>
              <a:t>i</a:t>
            </a:r>
            <a:r>
              <a:rPr lang="en-GB" sz="2000" dirty="0"/>
              <a:t> modelled as </a:t>
            </a:r>
          </a:p>
          <a:p>
            <a:pPr>
              <a:defRPr/>
            </a:pPr>
            <a:endParaRPr lang="en-GB" sz="2000" dirty="0"/>
          </a:p>
          <a:p>
            <a:pPr>
              <a:defRPr/>
            </a:pPr>
            <a:endParaRPr lang="en-GB" sz="2000" dirty="0"/>
          </a:p>
          <a:p>
            <a:pPr>
              <a:defRPr/>
            </a:pPr>
            <a:r>
              <a:rPr lang="en-GB" sz="2000" dirty="0"/>
              <a:t>Where           is the </a:t>
            </a:r>
            <a:r>
              <a:rPr lang="en-GB" sz="2000" i="1" dirty="0"/>
              <a:t>baseline hazard function, </a:t>
            </a:r>
            <a:r>
              <a:rPr lang="en-GB" sz="2000" dirty="0"/>
              <a:t>    are regression coefficients        </a:t>
            </a:r>
          </a:p>
          <a:p>
            <a:pPr>
              <a:defRPr/>
            </a:pPr>
            <a:endParaRPr lang="en-GB" sz="2000" dirty="0"/>
          </a:p>
          <a:p>
            <a:pPr>
              <a:defRPr/>
            </a:pPr>
            <a:endParaRPr lang="en-GB" sz="2000" b="1" i="1" dirty="0"/>
          </a:p>
        </p:txBody>
      </p:sp>
      <p:sp>
        <p:nvSpPr>
          <p:cNvPr id="65540"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cs typeface="Arial" panose="020B0604020202020204" pitchFamily="34" charset="0"/>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cs typeface="Arial" panose="020B0604020202020204" pitchFamily="34"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cs typeface="Arial" panose="020B0604020202020204" pitchFamily="34"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cs typeface="Arial" panose="020B0604020202020204" pitchFamily="34"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cs typeface="Arial" panose="020B0604020202020204" pitchFamily="34"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cs typeface="Arial" panose="020B0604020202020204" pitchFamily="34"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buClrTx/>
              <a:buSzTx/>
              <a:buFontTx/>
              <a:buNone/>
            </a:pPr>
            <a:fld id="{1BBA1FC0-B7DF-47D2-8220-47680C965C32}" type="slidenum">
              <a:rPr lang="en-GB" altLang="en-US" sz="1200">
                <a:solidFill>
                  <a:srgbClr val="FFFFFF"/>
                </a:solidFill>
                <a:latin typeface="Arial" panose="020B0604020202020204" pitchFamily="34" charset="0"/>
              </a:rPr>
              <a:pPr fontAlgn="base">
                <a:spcBef>
                  <a:spcPct val="0"/>
                </a:spcBef>
                <a:spcAft>
                  <a:spcPct val="0"/>
                </a:spcAft>
                <a:buClrTx/>
                <a:buSzTx/>
                <a:buFontTx/>
                <a:buNone/>
              </a:pPr>
              <a:t>61</a:t>
            </a:fld>
            <a:endParaRPr lang="en-GB" altLang="en-US" sz="1200">
              <a:solidFill>
                <a:srgbClr val="FFFFFF"/>
              </a:solidFill>
              <a:latin typeface="Arial" panose="020B0604020202020204" pitchFamily="34" charset="0"/>
            </a:endParaRPr>
          </a:p>
        </p:txBody>
      </p:sp>
      <p:graphicFrame>
        <p:nvGraphicFramePr>
          <p:cNvPr id="65541" name="Object 4"/>
          <p:cNvGraphicFramePr>
            <a:graphicFrameLocks noChangeAspect="1"/>
          </p:cNvGraphicFramePr>
          <p:nvPr/>
        </p:nvGraphicFramePr>
        <p:xfrm>
          <a:off x="2965450" y="5516563"/>
          <a:ext cx="2806700" cy="355600"/>
        </p:xfrm>
        <a:graphic>
          <a:graphicData uri="http://schemas.openxmlformats.org/presentationml/2006/ole">
            <mc:AlternateContent xmlns:mc="http://schemas.openxmlformats.org/markup-compatibility/2006">
              <mc:Choice xmlns:v="urn:schemas-microsoft-com:vml" Requires="v">
                <p:oleObj spid="_x0000_s65598" name="Equation" r:id="rId3" imgW="2806700" imgH="355600" progId="Equation.DSMT4">
                  <p:embed/>
                </p:oleObj>
              </mc:Choice>
              <mc:Fallback>
                <p:oleObj name="Equation" r:id="rId3" imgW="2806700" imgH="3556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65450" y="5516563"/>
                        <a:ext cx="28067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5542" name="Object 5"/>
          <p:cNvGraphicFramePr>
            <a:graphicFrameLocks noChangeAspect="1"/>
          </p:cNvGraphicFramePr>
          <p:nvPr/>
        </p:nvGraphicFramePr>
        <p:xfrm>
          <a:off x="3071813" y="6092825"/>
          <a:ext cx="558800" cy="330200"/>
        </p:xfrm>
        <a:graphic>
          <a:graphicData uri="http://schemas.openxmlformats.org/presentationml/2006/ole">
            <mc:AlternateContent xmlns:mc="http://schemas.openxmlformats.org/markup-compatibility/2006">
              <mc:Choice xmlns:v="urn:schemas-microsoft-com:vml" Requires="v">
                <p:oleObj spid="_x0000_s65599" name="Equation" r:id="rId5" imgW="558800" imgH="330200" progId="Equation.DSMT4">
                  <p:embed/>
                </p:oleObj>
              </mc:Choice>
              <mc:Fallback>
                <p:oleObj name="Equation" r:id="rId5" imgW="558800" imgH="3302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71813" y="6092825"/>
                        <a:ext cx="5588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5543" name="Object 6"/>
          <p:cNvGraphicFramePr>
            <a:graphicFrameLocks noChangeAspect="1"/>
          </p:cNvGraphicFramePr>
          <p:nvPr/>
        </p:nvGraphicFramePr>
        <p:xfrm>
          <a:off x="6456363" y="6092825"/>
          <a:ext cx="215900" cy="279400"/>
        </p:xfrm>
        <a:graphic>
          <a:graphicData uri="http://schemas.openxmlformats.org/presentationml/2006/ole">
            <mc:AlternateContent xmlns:mc="http://schemas.openxmlformats.org/markup-compatibility/2006">
              <mc:Choice xmlns:v="urn:schemas-microsoft-com:vml" Requires="v">
                <p:oleObj spid="_x0000_s65600" name="Equation" r:id="rId7" imgW="215806" imgH="279279" progId="Equation.DSMT4">
                  <p:embed/>
                </p:oleObj>
              </mc:Choice>
              <mc:Fallback>
                <p:oleObj name="Equation" r:id="rId7" imgW="215806" imgH="279279"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56363" y="6092825"/>
                        <a:ext cx="2159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8AD2F-5B20-40B5-9B48-F7FDA99996B7}"/>
              </a:ext>
            </a:extLst>
          </p:cNvPr>
          <p:cNvSpPr>
            <a:spLocks noGrp="1"/>
          </p:cNvSpPr>
          <p:nvPr>
            <p:ph type="title"/>
          </p:nvPr>
        </p:nvSpPr>
        <p:spPr>
          <a:xfrm>
            <a:off x="1981200" y="274639"/>
            <a:ext cx="8229600" cy="706437"/>
          </a:xfrm>
        </p:spPr>
        <p:txBody>
          <a:bodyPr/>
          <a:lstStyle/>
          <a:p>
            <a:pPr>
              <a:defRPr/>
            </a:pPr>
            <a:r>
              <a:rPr lang="en-GB" sz="3200" dirty="0"/>
              <a:t>Survival analysis, the theory</a:t>
            </a:r>
          </a:p>
        </p:txBody>
      </p:sp>
      <p:sp>
        <p:nvSpPr>
          <p:cNvPr id="3" name="Content Placeholder 2">
            <a:extLst>
              <a:ext uri="{FF2B5EF4-FFF2-40B4-BE49-F238E27FC236}">
                <a16:creationId xmlns:a16="http://schemas.microsoft.com/office/drawing/2014/main" id="{2661F5AF-146D-4205-9BDC-FECD0B67EB4D}"/>
              </a:ext>
            </a:extLst>
          </p:cNvPr>
          <p:cNvSpPr>
            <a:spLocks noGrp="1"/>
          </p:cNvSpPr>
          <p:nvPr>
            <p:ph idx="1"/>
          </p:nvPr>
        </p:nvSpPr>
        <p:spPr>
          <a:xfrm>
            <a:off x="1703388" y="1125538"/>
            <a:ext cx="8507412" cy="5327650"/>
          </a:xfrm>
        </p:spPr>
        <p:txBody>
          <a:bodyPr/>
          <a:lstStyle/>
          <a:p>
            <a:pPr>
              <a:defRPr/>
            </a:pPr>
            <a:r>
              <a:rPr lang="en-GB" sz="2000" dirty="0"/>
              <a:t>And      covariates.</a:t>
            </a:r>
          </a:p>
          <a:p>
            <a:pPr>
              <a:defRPr/>
            </a:pPr>
            <a:endParaRPr lang="en-GB" sz="2000" dirty="0"/>
          </a:p>
          <a:p>
            <a:pPr>
              <a:defRPr/>
            </a:pPr>
            <a:r>
              <a:rPr lang="en-GB" sz="2000" dirty="0"/>
              <a:t>The baseline hazard is the hazard when all covariates are zero, and this quantity is left unspecified</a:t>
            </a:r>
          </a:p>
          <a:p>
            <a:pPr>
              <a:defRPr/>
            </a:pPr>
            <a:endParaRPr lang="en-GB" sz="2000" dirty="0"/>
          </a:p>
          <a:p>
            <a:pPr>
              <a:defRPr/>
            </a:pPr>
            <a:r>
              <a:rPr lang="en-GB" sz="2000" dirty="0"/>
              <a:t>This nonparametric treatment of the baseline hazard combined with a parametric representation of the effects of covariates gives rise to the term </a:t>
            </a:r>
            <a:r>
              <a:rPr lang="en-GB" sz="2000" b="1" i="1" dirty="0" err="1"/>
              <a:t>semiparametric</a:t>
            </a:r>
            <a:r>
              <a:rPr lang="en-GB" sz="2000" b="1" i="1" dirty="0"/>
              <a:t> </a:t>
            </a:r>
            <a:r>
              <a:rPr lang="en-GB" sz="2000" dirty="0"/>
              <a:t>model.</a:t>
            </a:r>
          </a:p>
          <a:p>
            <a:pPr>
              <a:defRPr/>
            </a:pPr>
            <a:endParaRPr lang="en-GB" sz="2000" dirty="0"/>
          </a:p>
          <a:p>
            <a:pPr>
              <a:defRPr/>
            </a:pPr>
            <a:r>
              <a:rPr lang="en-GB" sz="2000" dirty="0"/>
              <a:t>The main assumption of the model is that the hazard of any individual </a:t>
            </a:r>
            <a:r>
              <a:rPr lang="en-GB" sz="2000" i="1" dirty="0" err="1"/>
              <a:t>i</a:t>
            </a:r>
            <a:r>
              <a:rPr lang="en-GB" sz="2000" i="1" dirty="0"/>
              <a:t> </a:t>
            </a:r>
            <a:r>
              <a:rPr lang="en-GB" sz="2000" dirty="0"/>
              <a:t>is a time constant multiple of the hazard function of any individual </a:t>
            </a:r>
            <a:r>
              <a:rPr lang="en-GB" sz="2000" i="1" dirty="0"/>
              <a:t>j, </a:t>
            </a:r>
          </a:p>
          <a:p>
            <a:pPr>
              <a:defRPr/>
            </a:pPr>
            <a:endParaRPr lang="en-GB" sz="2000" i="1" dirty="0"/>
          </a:p>
          <a:p>
            <a:pPr>
              <a:defRPr/>
            </a:pPr>
            <a:r>
              <a:rPr lang="en-GB" sz="2000" dirty="0"/>
              <a:t>The factor being </a:t>
            </a:r>
          </a:p>
          <a:p>
            <a:pPr>
              <a:defRPr/>
            </a:pPr>
            <a:endParaRPr lang="en-GB" sz="2000" dirty="0"/>
          </a:p>
          <a:p>
            <a:pPr>
              <a:defRPr/>
            </a:pPr>
            <a:r>
              <a:rPr lang="en-GB" sz="2000" dirty="0"/>
              <a:t>The hazard ratio or incident rate ratio.    </a:t>
            </a:r>
          </a:p>
        </p:txBody>
      </p:sp>
      <p:sp>
        <p:nvSpPr>
          <p:cNvPr id="66564"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cs typeface="Arial" panose="020B0604020202020204" pitchFamily="34" charset="0"/>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cs typeface="Arial" panose="020B0604020202020204" pitchFamily="34"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cs typeface="Arial" panose="020B0604020202020204" pitchFamily="34"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cs typeface="Arial" panose="020B0604020202020204" pitchFamily="34"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cs typeface="Arial" panose="020B0604020202020204" pitchFamily="34"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cs typeface="Arial" panose="020B0604020202020204" pitchFamily="34"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buClrTx/>
              <a:buSzTx/>
              <a:buFontTx/>
              <a:buNone/>
            </a:pPr>
            <a:fld id="{643E1CEF-55E5-427F-9E3E-2F983945C185}" type="slidenum">
              <a:rPr lang="en-GB" altLang="en-US" sz="1200">
                <a:solidFill>
                  <a:srgbClr val="FFFFFF"/>
                </a:solidFill>
                <a:latin typeface="Arial" panose="020B0604020202020204" pitchFamily="34" charset="0"/>
              </a:rPr>
              <a:pPr fontAlgn="base">
                <a:spcBef>
                  <a:spcPct val="0"/>
                </a:spcBef>
                <a:spcAft>
                  <a:spcPct val="0"/>
                </a:spcAft>
                <a:buClrTx/>
                <a:buSzTx/>
                <a:buFontTx/>
                <a:buNone/>
              </a:pPr>
              <a:t>62</a:t>
            </a:fld>
            <a:endParaRPr lang="en-GB" altLang="en-US" sz="1200">
              <a:solidFill>
                <a:srgbClr val="FFFFFF"/>
              </a:solidFill>
              <a:latin typeface="Arial" panose="020B0604020202020204" pitchFamily="34" charset="0"/>
            </a:endParaRPr>
          </a:p>
        </p:txBody>
      </p:sp>
      <p:graphicFrame>
        <p:nvGraphicFramePr>
          <p:cNvPr id="66565" name="Object 4"/>
          <p:cNvGraphicFramePr>
            <a:graphicFrameLocks noChangeAspect="1"/>
          </p:cNvGraphicFramePr>
          <p:nvPr/>
        </p:nvGraphicFramePr>
        <p:xfrm>
          <a:off x="2640013" y="1196975"/>
          <a:ext cx="266700" cy="368300"/>
        </p:xfrm>
        <a:graphic>
          <a:graphicData uri="http://schemas.openxmlformats.org/presentationml/2006/ole">
            <mc:AlternateContent xmlns:mc="http://schemas.openxmlformats.org/markup-compatibility/2006">
              <mc:Choice xmlns:v="urn:schemas-microsoft-com:vml" Requires="v">
                <p:oleObj spid="_x0000_s66603" name="Equation" r:id="rId3" imgW="266584" imgH="368140" progId="Equation.DSMT4">
                  <p:embed/>
                </p:oleObj>
              </mc:Choice>
              <mc:Fallback>
                <p:oleObj name="Equation" r:id="rId3" imgW="266584" imgH="36814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0013" y="1196975"/>
                        <a:ext cx="2667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6566" name="Object 5"/>
          <p:cNvGraphicFramePr>
            <a:graphicFrameLocks noChangeAspect="1"/>
          </p:cNvGraphicFramePr>
          <p:nvPr/>
        </p:nvGraphicFramePr>
        <p:xfrm>
          <a:off x="3863975" y="5300663"/>
          <a:ext cx="2209800" cy="393700"/>
        </p:xfrm>
        <a:graphic>
          <a:graphicData uri="http://schemas.openxmlformats.org/presentationml/2006/ole">
            <mc:AlternateContent xmlns:mc="http://schemas.openxmlformats.org/markup-compatibility/2006">
              <mc:Choice xmlns:v="urn:schemas-microsoft-com:vml" Requires="v">
                <p:oleObj spid="_x0000_s66604" name="Equation" r:id="rId5" imgW="2209800" imgH="393700" progId="Equation.DSMT4">
                  <p:embed/>
                </p:oleObj>
              </mc:Choice>
              <mc:Fallback>
                <p:oleObj name="Equation" r:id="rId5" imgW="2209800" imgH="3937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63975" y="5300663"/>
                        <a:ext cx="22098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5022F-F42A-40B3-A046-1644F25CC6D9}"/>
              </a:ext>
            </a:extLst>
          </p:cNvPr>
          <p:cNvSpPr>
            <a:spLocks noGrp="1"/>
          </p:cNvSpPr>
          <p:nvPr>
            <p:ph type="title"/>
          </p:nvPr>
        </p:nvSpPr>
        <p:spPr>
          <a:xfrm>
            <a:off x="1981200" y="274639"/>
            <a:ext cx="8229600" cy="706437"/>
          </a:xfrm>
        </p:spPr>
        <p:txBody>
          <a:bodyPr/>
          <a:lstStyle/>
          <a:p>
            <a:pPr>
              <a:defRPr/>
            </a:pPr>
            <a:r>
              <a:rPr lang="en-GB" sz="3200" dirty="0"/>
              <a:t>Survival analysis, the theory</a:t>
            </a:r>
          </a:p>
        </p:txBody>
      </p:sp>
      <p:sp>
        <p:nvSpPr>
          <p:cNvPr id="3" name="Content Placeholder 2">
            <a:extLst>
              <a:ext uri="{FF2B5EF4-FFF2-40B4-BE49-F238E27FC236}">
                <a16:creationId xmlns:a16="http://schemas.microsoft.com/office/drawing/2014/main" id="{3B22D668-D0D5-4BBE-9CF5-43C20D44DB10}"/>
              </a:ext>
            </a:extLst>
          </p:cNvPr>
          <p:cNvSpPr>
            <a:spLocks noGrp="1"/>
          </p:cNvSpPr>
          <p:nvPr>
            <p:ph idx="1"/>
          </p:nvPr>
        </p:nvSpPr>
        <p:spPr>
          <a:xfrm>
            <a:off x="1631950" y="1125539"/>
            <a:ext cx="8578850" cy="5000625"/>
          </a:xfrm>
        </p:spPr>
        <p:txBody>
          <a:bodyPr/>
          <a:lstStyle/>
          <a:p>
            <a:pPr>
              <a:defRPr/>
            </a:pPr>
            <a:r>
              <a:rPr lang="en-GB" sz="2000" dirty="0"/>
              <a:t>This property is called the proportional hazard assumption</a:t>
            </a:r>
          </a:p>
          <a:p>
            <a:pPr>
              <a:defRPr/>
            </a:pPr>
            <a:endParaRPr lang="en-GB" sz="2000" dirty="0"/>
          </a:p>
          <a:p>
            <a:pPr>
              <a:defRPr/>
            </a:pPr>
            <a:r>
              <a:rPr lang="en-GB" sz="2000" dirty="0"/>
              <a:t>The </a:t>
            </a:r>
            <a:r>
              <a:rPr lang="en-GB" sz="2000" dirty="0" err="1"/>
              <a:t>exponentiated</a:t>
            </a:r>
            <a:r>
              <a:rPr lang="en-GB" sz="2000" dirty="0"/>
              <a:t> regression can therefore be interpreted as hazard ratios when the corresponding explanatory variable increases by one unit if all other covariates remain constant.</a:t>
            </a:r>
          </a:p>
          <a:p>
            <a:pPr>
              <a:defRPr/>
            </a:pPr>
            <a:endParaRPr lang="en-GB" sz="2000" dirty="0"/>
          </a:p>
          <a:p>
            <a:pPr>
              <a:defRPr/>
            </a:pPr>
            <a:r>
              <a:rPr lang="en-GB" sz="2000" dirty="0"/>
              <a:t>Integrating the hazard function the hazard function gives the cumulative hazard function</a:t>
            </a:r>
          </a:p>
          <a:p>
            <a:pPr>
              <a:defRPr/>
            </a:pPr>
            <a:endParaRPr lang="en-GB" sz="2000" dirty="0"/>
          </a:p>
          <a:p>
            <a:pPr>
              <a:defRPr/>
            </a:pPr>
            <a:endParaRPr lang="en-GB" sz="2000" dirty="0"/>
          </a:p>
          <a:p>
            <a:pPr>
              <a:defRPr/>
            </a:pPr>
            <a:r>
              <a:rPr lang="en-GB" sz="2000" dirty="0"/>
              <a:t>Where             is the integral of            The survival curve may be obtained from        </a:t>
            </a:r>
          </a:p>
          <a:p>
            <a:pPr>
              <a:defRPr/>
            </a:pPr>
            <a:r>
              <a:rPr lang="en-GB" sz="2000" dirty="0"/>
              <a:t>            using equation [3].</a:t>
            </a:r>
          </a:p>
          <a:p>
            <a:pPr>
              <a:defRPr/>
            </a:pPr>
            <a:endParaRPr lang="en-GB" sz="2000" dirty="0"/>
          </a:p>
          <a:p>
            <a:pPr>
              <a:defRPr/>
            </a:pPr>
            <a:r>
              <a:rPr lang="en-GB" sz="2000" dirty="0"/>
              <a:t>This leads to Kaplan-Meier estimator when there are no covariates.</a:t>
            </a:r>
          </a:p>
          <a:p>
            <a:pPr>
              <a:defRPr/>
            </a:pPr>
            <a:endParaRPr lang="en-GB" sz="2000" dirty="0"/>
          </a:p>
        </p:txBody>
      </p:sp>
      <p:sp>
        <p:nvSpPr>
          <p:cNvPr id="6758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cs typeface="Arial" panose="020B0604020202020204" pitchFamily="34" charset="0"/>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cs typeface="Arial" panose="020B0604020202020204" pitchFamily="34"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cs typeface="Arial" panose="020B0604020202020204" pitchFamily="34"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cs typeface="Arial" panose="020B0604020202020204" pitchFamily="34"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cs typeface="Arial" panose="020B0604020202020204" pitchFamily="34"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cs typeface="Arial" panose="020B0604020202020204" pitchFamily="34"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buClrTx/>
              <a:buSzTx/>
              <a:buFontTx/>
              <a:buNone/>
            </a:pPr>
            <a:fld id="{7CA451E3-B544-4224-B627-2B7AFCE4560C}" type="slidenum">
              <a:rPr lang="en-GB" altLang="en-US" sz="1200">
                <a:solidFill>
                  <a:srgbClr val="FFFFFF"/>
                </a:solidFill>
                <a:latin typeface="Arial" panose="020B0604020202020204" pitchFamily="34" charset="0"/>
              </a:rPr>
              <a:pPr fontAlgn="base">
                <a:spcBef>
                  <a:spcPct val="0"/>
                </a:spcBef>
                <a:spcAft>
                  <a:spcPct val="0"/>
                </a:spcAft>
                <a:buClrTx/>
                <a:buSzTx/>
                <a:buFontTx/>
                <a:buNone/>
              </a:pPr>
              <a:t>63</a:t>
            </a:fld>
            <a:endParaRPr lang="en-GB" altLang="en-US" sz="1200">
              <a:solidFill>
                <a:srgbClr val="FFFFFF"/>
              </a:solidFill>
              <a:latin typeface="Arial" panose="020B0604020202020204" pitchFamily="34" charset="0"/>
            </a:endParaRPr>
          </a:p>
        </p:txBody>
      </p:sp>
      <p:graphicFrame>
        <p:nvGraphicFramePr>
          <p:cNvPr id="67589" name="Object 4"/>
          <p:cNvGraphicFramePr>
            <a:graphicFrameLocks noChangeAspect="1"/>
          </p:cNvGraphicFramePr>
          <p:nvPr/>
        </p:nvGraphicFramePr>
        <p:xfrm>
          <a:off x="2814638" y="4005263"/>
          <a:ext cx="3035300" cy="355600"/>
        </p:xfrm>
        <a:graphic>
          <a:graphicData uri="http://schemas.openxmlformats.org/presentationml/2006/ole">
            <mc:AlternateContent xmlns:mc="http://schemas.openxmlformats.org/markup-compatibility/2006">
              <mc:Choice xmlns:v="urn:schemas-microsoft-com:vml" Requires="v">
                <p:oleObj spid="_x0000_s67665" name="Equation" r:id="rId3" imgW="3035300" imgH="355600" progId="Equation.DSMT4">
                  <p:embed/>
                </p:oleObj>
              </mc:Choice>
              <mc:Fallback>
                <p:oleObj name="Equation" r:id="rId3" imgW="3035300" imgH="3556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4638" y="4005263"/>
                        <a:ext cx="30353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590" name="Object 5"/>
          <p:cNvGraphicFramePr>
            <a:graphicFrameLocks noChangeAspect="1"/>
          </p:cNvGraphicFramePr>
          <p:nvPr/>
        </p:nvGraphicFramePr>
        <p:xfrm>
          <a:off x="2782888" y="4652963"/>
          <a:ext cx="673100" cy="330200"/>
        </p:xfrm>
        <a:graphic>
          <a:graphicData uri="http://schemas.openxmlformats.org/presentationml/2006/ole">
            <mc:AlternateContent xmlns:mc="http://schemas.openxmlformats.org/markup-compatibility/2006">
              <mc:Choice xmlns:v="urn:schemas-microsoft-com:vml" Requires="v">
                <p:oleObj spid="_x0000_s67666" name="Equation" r:id="rId5" imgW="672808" imgH="330057" progId="Equation.DSMT4">
                  <p:embed/>
                </p:oleObj>
              </mc:Choice>
              <mc:Fallback>
                <p:oleObj name="Equation" r:id="rId5" imgW="672808" imgH="330057"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82888" y="4652963"/>
                        <a:ext cx="6731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591" name="Object 6"/>
          <p:cNvGraphicFramePr>
            <a:graphicFrameLocks noChangeAspect="1"/>
          </p:cNvGraphicFramePr>
          <p:nvPr/>
        </p:nvGraphicFramePr>
        <p:xfrm>
          <a:off x="5232400" y="4652963"/>
          <a:ext cx="609600" cy="330200"/>
        </p:xfrm>
        <a:graphic>
          <a:graphicData uri="http://schemas.openxmlformats.org/presentationml/2006/ole">
            <mc:AlternateContent xmlns:mc="http://schemas.openxmlformats.org/markup-compatibility/2006">
              <mc:Choice xmlns:v="urn:schemas-microsoft-com:vml" Requires="v">
                <p:oleObj spid="_x0000_s67667" name="Equation" r:id="rId7" imgW="609600" imgH="330200" progId="Equation.DSMT4">
                  <p:embed/>
                </p:oleObj>
              </mc:Choice>
              <mc:Fallback>
                <p:oleObj name="Equation" r:id="rId7" imgW="609600" imgH="330200"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32400" y="4652963"/>
                        <a:ext cx="6096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592" name="Object 7"/>
          <p:cNvGraphicFramePr>
            <a:graphicFrameLocks noChangeAspect="1"/>
          </p:cNvGraphicFramePr>
          <p:nvPr/>
        </p:nvGraphicFramePr>
        <p:xfrm>
          <a:off x="2135188" y="5013325"/>
          <a:ext cx="596900" cy="304800"/>
        </p:xfrm>
        <a:graphic>
          <a:graphicData uri="http://schemas.openxmlformats.org/presentationml/2006/ole">
            <mc:AlternateContent xmlns:mc="http://schemas.openxmlformats.org/markup-compatibility/2006">
              <mc:Choice xmlns:v="urn:schemas-microsoft-com:vml" Requires="v">
                <p:oleObj spid="_x0000_s67668" name="Equation" r:id="rId9" imgW="596641" imgH="304668" progId="Equation.DSMT4">
                  <p:embed/>
                </p:oleObj>
              </mc:Choice>
              <mc:Fallback>
                <p:oleObj name="Equation" r:id="rId9" imgW="596641" imgH="304668" progId="Equation.DSMT4">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35188" y="5013325"/>
                        <a:ext cx="5969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081A4-5C28-4458-9447-812829D8448F}"/>
              </a:ext>
            </a:extLst>
          </p:cNvPr>
          <p:cNvSpPr>
            <a:spLocks noGrp="1"/>
          </p:cNvSpPr>
          <p:nvPr>
            <p:ph type="title"/>
          </p:nvPr>
        </p:nvSpPr>
        <p:spPr>
          <a:xfrm>
            <a:off x="1981200" y="274639"/>
            <a:ext cx="8229600" cy="777875"/>
          </a:xfrm>
        </p:spPr>
        <p:txBody>
          <a:bodyPr/>
          <a:lstStyle/>
          <a:p>
            <a:pPr>
              <a:defRPr/>
            </a:pPr>
            <a:r>
              <a:rPr lang="en-GB" sz="3200" dirty="0"/>
              <a:t>Survival analysis, the theory</a:t>
            </a:r>
          </a:p>
        </p:txBody>
      </p:sp>
      <p:sp>
        <p:nvSpPr>
          <p:cNvPr id="3" name="Content Placeholder 2">
            <a:extLst>
              <a:ext uri="{FF2B5EF4-FFF2-40B4-BE49-F238E27FC236}">
                <a16:creationId xmlns:a16="http://schemas.microsoft.com/office/drawing/2014/main" id="{A8472E85-BDC9-46F2-BF74-1FC90264FDB7}"/>
              </a:ext>
            </a:extLst>
          </p:cNvPr>
          <p:cNvSpPr>
            <a:spLocks noGrp="1"/>
          </p:cNvSpPr>
          <p:nvPr>
            <p:ph idx="1"/>
          </p:nvPr>
        </p:nvSpPr>
        <p:spPr>
          <a:xfrm>
            <a:off x="1703388" y="1196975"/>
            <a:ext cx="8507412" cy="4929188"/>
          </a:xfrm>
        </p:spPr>
        <p:txBody>
          <a:bodyPr/>
          <a:lstStyle/>
          <a:p>
            <a:pPr>
              <a:defRPr/>
            </a:pPr>
            <a:r>
              <a:rPr lang="en-GB" sz="2000" dirty="0"/>
              <a:t>It follows from equation [3] that the survival curve for a Cox model is given by</a:t>
            </a:r>
          </a:p>
          <a:p>
            <a:pPr>
              <a:defRPr/>
            </a:pPr>
            <a:endParaRPr lang="en-GB" sz="2000" dirty="0"/>
          </a:p>
          <a:p>
            <a:pPr>
              <a:defRPr/>
            </a:pPr>
            <a:endParaRPr lang="en-GB" sz="2000" dirty="0"/>
          </a:p>
          <a:p>
            <a:pPr>
              <a:defRPr/>
            </a:pPr>
            <a:r>
              <a:rPr lang="en-GB" sz="2000" dirty="0"/>
              <a:t>The log of the cumulative hazard function predicted by the Cox model is given by:</a:t>
            </a:r>
          </a:p>
          <a:p>
            <a:pPr>
              <a:defRPr/>
            </a:pPr>
            <a:endParaRPr lang="en-GB" sz="2000" dirty="0"/>
          </a:p>
          <a:p>
            <a:pPr>
              <a:defRPr/>
            </a:pPr>
            <a:endParaRPr lang="en-GB" sz="2000" dirty="0"/>
          </a:p>
          <a:p>
            <a:pPr>
              <a:defRPr/>
            </a:pPr>
            <a:r>
              <a:rPr lang="en-GB" sz="2000" dirty="0"/>
              <a:t>So the log cumulative hazard functions of any two subjects </a:t>
            </a:r>
            <a:r>
              <a:rPr lang="en-GB" sz="2000" i="1" dirty="0" err="1"/>
              <a:t>i</a:t>
            </a:r>
            <a:r>
              <a:rPr lang="en-GB" sz="2000" dirty="0"/>
              <a:t> and </a:t>
            </a:r>
            <a:r>
              <a:rPr lang="en-GB" sz="2000" i="1" dirty="0"/>
              <a:t>j </a:t>
            </a:r>
            <a:r>
              <a:rPr lang="en-GB" sz="2000" dirty="0"/>
              <a:t>are parallel with constant difference given by</a:t>
            </a:r>
          </a:p>
          <a:p>
            <a:pPr>
              <a:defRPr/>
            </a:pPr>
            <a:endParaRPr lang="en-GB" sz="2000" dirty="0"/>
          </a:p>
          <a:p>
            <a:pPr>
              <a:defRPr/>
            </a:pPr>
            <a:r>
              <a:rPr lang="en-GB" sz="2000" dirty="0"/>
              <a:t>Stratified Cox regression can be used to relax the assumption of proportional hazards for a categorical predictor.  </a:t>
            </a:r>
          </a:p>
        </p:txBody>
      </p:sp>
      <p:sp>
        <p:nvSpPr>
          <p:cNvPr id="68612"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cs typeface="Arial" panose="020B0604020202020204" pitchFamily="34" charset="0"/>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cs typeface="Arial" panose="020B0604020202020204" pitchFamily="34"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cs typeface="Arial" panose="020B0604020202020204" pitchFamily="34"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cs typeface="Arial" panose="020B0604020202020204" pitchFamily="34"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cs typeface="Arial" panose="020B0604020202020204" pitchFamily="34"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cs typeface="Arial" panose="020B0604020202020204" pitchFamily="34"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buClrTx/>
              <a:buSzTx/>
              <a:buFontTx/>
              <a:buNone/>
            </a:pPr>
            <a:fld id="{1D1ECEE1-6F32-45E0-B1CC-C6BE1C3CA3DC}" type="slidenum">
              <a:rPr lang="en-GB" altLang="en-US" sz="1200">
                <a:solidFill>
                  <a:srgbClr val="FFFFFF"/>
                </a:solidFill>
                <a:latin typeface="Arial" panose="020B0604020202020204" pitchFamily="34" charset="0"/>
              </a:rPr>
              <a:pPr fontAlgn="base">
                <a:spcBef>
                  <a:spcPct val="0"/>
                </a:spcBef>
                <a:spcAft>
                  <a:spcPct val="0"/>
                </a:spcAft>
                <a:buClrTx/>
                <a:buSzTx/>
                <a:buFontTx/>
                <a:buNone/>
              </a:pPr>
              <a:t>64</a:t>
            </a:fld>
            <a:endParaRPr lang="en-GB" altLang="en-US" sz="1200">
              <a:solidFill>
                <a:srgbClr val="FFFFFF"/>
              </a:solidFill>
              <a:latin typeface="Arial" panose="020B0604020202020204" pitchFamily="34" charset="0"/>
            </a:endParaRPr>
          </a:p>
        </p:txBody>
      </p:sp>
      <p:graphicFrame>
        <p:nvGraphicFramePr>
          <p:cNvPr id="68613" name="Object 4"/>
          <p:cNvGraphicFramePr>
            <a:graphicFrameLocks noChangeAspect="1"/>
          </p:cNvGraphicFramePr>
          <p:nvPr/>
        </p:nvGraphicFramePr>
        <p:xfrm>
          <a:off x="3648075" y="1700213"/>
          <a:ext cx="2438400" cy="393700"/>
        </p:xfrm>
        <a:graphic>
          <a:graphicData uri="http://schemas.openxmlformats.org/presentationml/2006/ole">
            <mc:AlternateContent xmlns:mc="http://schemas.openxmlformats.org/markup-compatibility/2006">
              <mc:Choice xmlns:v="urn:schemas-microsoft-com:vml" Requires="v">
                <p:oleObj spid="_x0000_s68670" name="Equation" r:id="rId3" imgW="2438400" imgH="393700" progId="Equation.DSMT4">
                  <p:embed/>
                </p:oleObj>
              </mc:Choice>
              <mc:Fallback>
                <p:oleObj name="Equation" r:id="rId3" imgW="2438400" imgH="3937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48075" y="1700213"/>
                        <a:ext cx="24384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8614" name="Object 5"/>
          <p:cNvGraphicFramePr>
            <a:graphicFrameLocks noChangeAspect="1"/>
          </p:cNvGraphicFramePr>
          <p:nvPr/>
        </p:nvGraphicFramePr>
        <p:xfrm>
          <a:off x="3216275" y="3068638"/>
          <a:ext cx="3683000" cy="355600"/>
        </p:xfrm>
        <a:graphic>
          <a:graphicData uri="http://schemas.openxmlformats.org/presentationml/2006/ole">
            <mc:AlternateContent xmlns:mc="http://schemas.openxmlformats.org/markup-compatibility/2006">
              <mc:Choice xmlns:v="urn:schemas-microsoft-com:vml" Requires="v">
                <p:oleObj spid="_x0000_s68671" name="Equation" r:id="rId5" imgW="3683000" imgH="355600" progId="Equation.DSMT4">
                  <p:embed/>
                </p:oleObj>
              </mc:Choice>
              <mc:Fallback>
                <p:oleObj name="Equation" r:id="rId5" imgW="3683000" imgH="3556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16275" y="3068638"/>
                        <a:ext cx="36830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8615" name="Object 6"/>
          <p:cNvGraphicFramePr>
            <a:graphicFrameLocks noChangeAspect="1"/>
          </p:cNvGraphicFramePr>
          <p:nvPr/>
        </p:nvGraphicFramePr>
        <p:xfrm>
          <a:off x="5519738" y="4076700"/>
          <a:ext cx="1193800" cy="393700"/>
        </p:xfrm>
        <a:graphic>
          <a:graphicData uri="http://schemas.openxmlformats.org/presentationml/2006/ole">
            <mc:AlternateContent xmlns:mc="http://schemas.openxmlformats.org/markup-compatibility/2006">
              <mc:Choice xmlns:v="urn:schemas-microsoft-com:vml" Requires="v">
                <p:oleObj spid="_x0000_s68672" name="Equation" r:id="rId7" imgW="1193800" imgH="393700" progId="Equation.DSMT4">
                  <p:embed/>
                </p:oleObj>
              </mc:Choice>
              <mc:Fallback>
                <p:oleObj name="Equation" r:id="rId7" imgW="1193800" imgH="393700"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19738" y="4076700"/>
                        <a:ext cx="11938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noChangeArrowheads="1"/>
          </p:cNvSpPr>
          <p:nvPr>
            <p:ph type="title"/>
          </p:nvPr>
        </p:nvSpPr>
        <p:spPr>
          <a:xfrm>
            <a:off x="1981200" y="274639"/>
            <a:ext cx="8229600" cy="777875"/>
          </a:xfrm>
        </p:spPr>
        <p:txBody>
          <a:bodyPr/>
          <a:lstStyle/>
          <a:p>
            <a:pPr eaLnBrk="1" hangingPunct="1"/>
            <a:r>
              <a:rPr lang="en-GB" altLang="en-GB" sz="3200"/>
              <a:t>Practical exercise</a:t>
            </a:r>
          </a:p>
        </p:txBody>
      </p:sp>
      <p:sp>
        <p:nvSpPr>
          <p:cNvPr id="3" name="Content Placeholder 2">
            <a:extLst>
              <a:ext uri="{FF2B5EF4-FFF2-40B4-BE49-F238E27FC236}">
                <a16:creationId xmlns:a16="http://schemas.microsoft.com/office/drawing/2014/main" id="{F8632404-5349-42FB-817B-85171BCD2180}"/>
              </a:ext>
            </a:extLst>
          </p:cNvPr>
          <p:cNvSpPr>
            <a:spLocks noGrp="1"/>
          </p:cNvSpPr>
          <p:nvPr>
            <p:ph idx="1"/>
          </p:nvPr>
        </p:nvSpPr>
        <p:spPr>
          <a:xfrm>
            <a:off x="1981200" y="1268414"/>
            <a:ext cx="8229600" cy="5329237"/>
          </a:xfrm>
        </p:spPr>
        <p:txBody>
          <a:bodyPr rtlCol="0">
            <a:normAutofit lnSpcReduction="10000"/>
          </a:bodyPr>
          <a:lstStyle/>
          <a:p>
            <a:pPr eaLnBrk="1" fontAlgn="auto" hangingPunct="1">
              <a:spcAft>
                <a:spcPts val="0"/>
              </a:spcAft>
              <a:defRPr/>
            </a:pPr>
            <a:r>
              <a:rPr lang="en-GB" sz="2000" dirty="0">
                <a:cs typeface="+mn-cs"/>
              </a:rPr>
              <a:t>In this exercise, we are going to analyse data on heroin addicts in two different clinics receiving methadone maintenance treatment to help overcome their addiction.</a:t>
            </a:r>
          </a:p>
          <a:p>
            <a:pPr eaLnBrk="1" fontAlgn="auto" hangingPunct="1">
              <a:spcAft>
                <a:spcPts val="0"/>
              </a:spcAft>
              <a:defRPr/>
            </a:pPr>
            <a:endParaRPr lang="en-GB" sz="2000" dirty="0">
              <a:cs typeface="+mn-cs"/>
            </a:endParaRPr>
          </a:p>
          <a:p>
            <a:pPr eaLnBrk="1" fontAlgn="auto" hangingPunct="1">
              <a:spcAft>
                <a:spcPts val="0"/>
              </a:spcAft>
              <a:defRPr/>
            </a:pPr>
            <a:r>
              <a:rPr lang="en-GB" sz="2000" dirty="0">
                <a:cs typeface="+mn-cs"/>
              </a:rPr>
              <a:t>Early dropout is an important problem with this treatment. We will therefore analyse the time from admission to termination of treatment (in days), given as the variable “time” in the data set. </a:t>
            </a:r>
          </a:p>
          <a:p>
            <a:pPr eaLnBrk="1" fontAlgn="auto" hangingPunct="1">
              <a:spcAft>
                <a:spcPts val="0"/>
              </a:spcAft>
              <a:defRPr/>
            </a:pPr>
            <a:endParaRPr lang="en-GB" sz="2000" dirty="0">
              <a:cs typeface="+mn-cs"/>
            </a:endParaRPr>
          </a:p>
          <a:p>
            <a:pPr eaLnBrk="1" fontAlgn="auto" hangingPunct="1">
              <a:spcAft>
                <a:spcPts val="0"/>
              </a:spcAft>
              <a:defRPr/>
            </a:pPr>
            <a:r>
              <a:rPr lang="en-GB" sz="2000" dirty="0">
                <a:cs typeface="+mn-cs"/>
              </a:rPr>
              <a:t>For patients still in treatment when these data were collected, their </a:t>
            </a:r>
            <a:r>
              <a:rPr lang="en-GB" sz="2000" b="1" i="1" dirty="0">
                <a:cs typeface="+mn-cs"/>
              </a:rPr>
              <a:t>time</a:t>
            </a:r>
            <a:r>
              <a:rPr lang="en-GB" sz="2000" dirty="0">
                <a:cs typeface="+mn-cs"/>
              </a:rPr>
              <a:t> is the time from admission to the time of data collection.</a:t>
            </a:r>
          </a:p>
          <a:p>
            <a:pPr eaLnBrk="1" fontAlgn="auto" hangingPunct="1">
              <a:spcAft>
                <a:spcPts val="0"/>
              </a:spcAft>
              <a:defRPr/>
            </a:pPr>
            <a:endParaRPr lang="en-GB" sz="2000" dirty="0">
              <a:cs typeface="+mn-cs"/>
            </a:endParaRPr>
          </a:p>
          <a:p>
            <a:pPr eaLnBrk="1" fontAlgn="auto" hangingPunct="1">
              <a:spcAft>
                <a:spcPts val="0"/>
              </a:spcAft>
              <a:defRPr/>
            </a:pPr>
            <a:r>
              <a:rPr lang="en-GB" sz="2000" dirty="0">
                <a:cs typeface="+mn-cs"/>
              </a:rPr>
              <a:t>The variable “status” is an indicator for whether “time” refers to drop out (1) an event of interest, or end of study (0), hence censored, event not observed.</a:t>
            </a:r>
          </a:p>
          <a:p>
            <a:pPr eaLnBrk="1" fontAlgn="auto" hangingPunct="1">
              <a:spcAft>
                <a:spcPts val="0"/>
              </a:spcAft>
              <a:defRPr/>
            </a:pPr>
            <a:endParaRPr lang="en-GB" sz="2000" dirty="0">
              <a:cs typeface="+mn-cs"/>
            </a:endParaRPr>
          </a:p>
          <a:p>
            <a:pPr eaLnBrk="1" fontAlgn="auto" hangingPunct="1">
              <a:spcAft>
                <a:spcPts val="0"/>
              </a:spcAft>
              <a:defRPr/>
            </a:pPr>
            <a:r>
              <a:rPr lang="en-GB" sz="2000" dirty="0">
                <a:cs typeface="+mn-cs"/>
              </a:rPr>
              <a:t>Possible explanatory variables for retention in treatment are:</a:t>
            </a:r>
          </a:p>
          <a:p>
            <a:pPr eaLnBrk="1" fontAlgn="auto" hangingPunct="1">
              <a:spcAft>
                <a:spcPts val="0"/>
              </a:spcAft>
              <a:defRPr/>
            </a:pPr>
            <a:endParaRPr lang="en-GB" sz="2000" dirty="0">
              <a:cs typeface="+mn-cs"/>
            </a:endParaRPr>
          </a:p>
        </p:txBody>
      </p:sp>
      <p:sp>
        <p:nvSpPr>
          <p:cNvPr id="6963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4630F8C5-B761-4955-A9B5-9F1DD35328E6}" type="slidenum">
              <a:rPr lang="en-GB" altLang="en-US" sz="1200">
                <a:latin typeface="Arial" panose="020B0604020202020204" pitchFamily="34" charset="0"/>
                <a:cs typeface="Arial" panose="020B0604020202020204" pitchFamily="34" charset="0"/>
              </a:rPr>
              <a:pPr fontAlgn="base">
                <a:spcBef>
                  <a:spcPct val="0"/>
                </a:spcBef>
                <a:spcAft>
                  <a:spcPct val="0"/>
                </a:spcAft>
              </a:pPr>
              <a:t>65</a:t>
            </a:fld>
            <a:endParaRPr lang="en-GB" altLang="en-US" sz="1200">
              <a:latin typeface="Arial" panose="020B0604020202020204" pitchFamily="34" charset="0"/>
              <a:cs typeface="Arial" panose="020B0604020202020204" pitchFamily="34"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noChangeArrowheads="1"/>
          </p:cNvSpPr>
          <p:nvPr>
            <p:ph type="title"/>
          </p:nvPr>
        </p:nvSpPr>
        <p:spPr>
          <a:xfrm>
            <a:off x="1981200" y="274639"/>
            <a:ext cx="8229600" cy="777875"/>
          </a:xfrm>
        </p:spPr>
        <p:txBody>
          <a:bodyPr/>
          <a:lstStyle/>
          <a:p>
            <a:pPr eaLnBrk="1" hangingPunct="1"/>
            <a:r>
              <a:rPr lang="en-GB" altLang="en-GB" sz="3200"/>
              <a:t>Practical exercise</a:t>
            </a:r>
          </a:p>
        </p:txBody>
      </p:sp>
      <p:sp>
        <p:nvSpPr>
          <p:cNvPr id="3" name="Content Placeholder 2">
            <a:extLst>
              <a:ext uri="{FF2B5EF4-FFF2-40B4-BE49-F238E27FC236}">
                <a16:creationId xmlns:a16="http://schemas.microsoft.com/office/drawing/2014/main" id="{5196BF0B-2588-4C83-8A35-095C7190BDE2}"/>
              </a:ext>
            </a:extLst>
          </p:cNvPr>
          <p:cNvSpPr>
            <a:spLocks noGrp="1"/>
          </p:cNvSpPr>
          <p:nvPr>
            <p:ph idx="1"/>
          </p:nvPr>
        </p:nvSpPr>
        <p:spPr>
          <a:xfrm>
            <a:off x="1981200" y="1052513"/>
            <a:ext cx="8229600" cy="5073650"/>
          </a:xfrm>
        </p:spPr>
        <p:txBody>
          <a:bodyPr rtlCol="0">
            <a:normAutofit/>
          </a:bodyPr>
          <a:lstStyle/>
          <a:p>
            <a:pPr eaLnBrk="1" fontAlgn="auto" hangingPunct="1">
              <a:spcAft>
                <a:spcPts val="0"/>
              </a:spcAft>
              <a:defRPr/>
            </a:pPr>
            <a:r>
              <a:rPr lang="en-GB" sz="2000" dirty="0">
                <a:cs typeface="+mn-cs"/>
              </a:rPr>
              <a:t>Maximum methadone dose and a prison record (1=yes, 0=no) as well as which of the two clinics the addict was treated in. </a:t>
            </a:r>
          </a:p>
          <a:p>
            <a:pPr eaLnBrk="1" fontAlgn="auto" hangingPunct="1">
              <a:spcAft>
                <a:spcPts val="0"/>
              </a:spcAft>
              <a:defRPr/>
            </a:pPr>
            <a:endParaRPr lang="en-GB" sz="2000" dirty="0">
              <a:cs typeface="+mn-cs"/>
            </a:endParaRPr>
          </a:p>
          <a:p>
            <a:pPr eaLnBrk="1" fontAlgn="auto" hangingPunct="1">
              <a:spcAft>
                <a:spcPts val="0"/>
              </a:spcAft>
              <a:defRPr/>
            </a:pPr>
            <a:r>
              <a:rPr lang="en-GB" sz="2000" dirty="0">
                <a:cs typeface="+mn-cs"/>
              </a:rPr>
              <a:t>These variables are called “dose”, “prison”, and “clinic”, respectively. Open the data </a:t>
            </a:r>
            <a:r>
              <a:rPr lang="en-GB" sz="2000" dirty="0" err="1">
                <a:cs typeface="+mn-cs"/>
              </a:rPr>
              <a:t>heroin.dta</a:t>
            </a:r>
            <a:r>
              <a:rPr lang="en-GB" sz="2000" dirty="0">
                <a:cs typeface="+mn-cs"/>
              </a:rPr>
              <a:t>  depending on your version of </a:t>
            </a:r>
            <a:r>
              <a:rPr lang="en-GB" sz="2000" dirty="0" err="1">
                <a:cs typeface="+mn-cs"/>
              </a:rPr>
              <a:t>stata</a:t>
            </a:r>
            <a:r>
              <a:rPr lang="en-GB" sz="2000" dirty="0">
                <a:cs typeface="+mn-cs"/>
              </a:rPr>
              <a:t>.</a:t>
            </a:r>
          </a:p>
          <a:p>
            <a:pPr eaLnBrk="1" fontAlgn="auto" hangingPunct="1">
              <a:spcAft>
                <a:spcPts val="0"/>
              </a:spcAft>
              <a:defRPr/>
            </a:pPr>
            <a:endParaRPr lang="en-GB" sz="2000" dirty="0">
              <a:cs typeface="+mn-cs"/>
            </a:endParaRPr>
          </a:p>
          <a:p>
            <a:pPr eaLnBrk="1" fontAlgn="auto" hangingPunct="1">
              <a:spcAft>
                <a:spcPts val="0"/>
              </a:spcAft>
              <a:defRPr/>
            </a:pPr>
            <a:r>
              <a:rPr lang="en-GB" sz="2000" dirty="0">
                <a:cs typeface="+mn-cs"/>
              </a:rPr>
              <a:t>These data were first analysed by </a:t>
            </a:r>
            <a:r>
              <a:rPr lang="en-GB" sz="2000" dirty="0" err="1">
                <a:cs typeface="+mn-cs"/>
              </a:rPr>
              <a:t>Calplehorn</a:t>
            </a:r>
            <a:r>
              <a:rPr lang="en-GB" sz="2000" dirty="0">
                <a:cs typeface="+mn-cs"/>
              </a:rPr>
              <a:t> and Bell (1991) and also appear in Hand et al. (1994).</a:t>
            </a:r>
          </a:p>
          <a:p>
            <a:pPr eaLnBrk="1" fontAlgn="auto" hangingPunct="1">
              <a:spcAft>
                <a:spcPts val="0"/>
              </a:spcAft>
              <a:defRPr/>
            </a:pPr>
            <a:endParaRPr lang="en-GB" sz="2000" dirty="0">
              <a:cs typeface="+mn-cs"/>
            </a:endParaRPr>
          </a:p>
          <a:p>
            <a:pPr eaLnBrk="1" fontAlgn="auto" hangingPunct="1">
              <a:spcAft>
                <a:spcPts val="0"/>
              </a:spcAft>
              <a:defRPr/>
            </a:pPr>
            <a:r>
              <a:rPr lang="en-GB" sz="2000" dirty="0">
                <a:cs typeface="+mn-cs"/>
              </a:rPr>
              <a:t>The data can be described as </a:t>
            </a:r>
            <a:r>
              <a:rPr lang="en-GB" sz="2000" b="1" i="1" dirty="0">
                <a:cs typeface="+mn-cs"/>
              </a:rPr>
              <a:t>survival data, </a:t>
            </a:r>
            <a:r>
              <a:rPr lang="en-GB" sz="2000" dirty="0">
                <a:cs typeface="+mn-cs"/>
              </a:rPr>
              <a:t>although the ‘end point’ is not death in this case, but drop out from treatment. </a:t>
            </a:r>
          </a:p>
          <a:p>
            <a:pPr eaLnBrk="1" fontAlgn="auto" hangingPunct="1">
              <a:spcAft>
                <a:spcPts val="0"/>
              </a:spcAft>
              <a:defRPr/>
            </a:pPr>
            <a:endParaRPr lang="en-GB" sz="2000" dirty="0">
              <a:cs typeface="+mn-cs"/>
            </a:endParaRPr>
          </a:p>
          <a:p>
            <a:pPr eaLnBrk="1" fontAlgn="auto" hangingPunct="1">
              <a:spcAft>
                <a:spcPts val="0"/>
              </a:spcAft>
              <a:defRPr/>
            </a:pPr>
            <a:r>
              <a:rPr lang="en-GB" sz="2000" dirty="0">
                <a:cs typeface="+mn-cs"/>
              </a:rPr>
              <a:t>Sometimes the end point (or event) in survival data is referred to as </a:t>
            </a:r>
            <a:r>
              <a:rPr lang="en-GB" sz="2000" b="1" i="1" dirty="0">
                <a:cs typeface="+mn-cs"/>
              </a:rPr>
              <a:t>failure. </a:t>
            </a:r>
            <a:endParaRPr lang="en-GB" sz="2000" dirty="0">
              <a:cs typeface="+mn-cs"/>
            </a:endParaRPr>
          </a:p>
        </p:txBody>
      </p:sp>
      <p:sp>
        <p:nvSpPr>
          <p:cNvPr id="7066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EB83BE33-60A5-4C00-8A59-EFAE01951445}" type="slidenum">
              <a:rPr lang="en-GB" altLang="en-US" sz="1200">
                <a:latin typeface="Arial" panose="020B0604020202020204" pitchFamily="34" charset="0"/>
                <a:cs typeface="Arial" panose="020B0604020202020204" pitchFamily="34" charset="0"/>
              </a:rPr>
              <a:pPr fontAlgn="base">
                <a:spcBef>
                  <a:spcPct val="0"/>
                </a:spcBef>
                <a:spcAft>
                  <a:spcPct val="0"/>
                </a:spcAft>
              </a:pPr>
              <a:t>66</a:t>
            </a:fld>
            <a:endParaRPr lang="en-GB" altLang="en-US" sz="1200">
              <a:latin typeface="Arial" panose="020B0604020202020204" pitchFamily="34" charset="0"/>
              <a:cs typeface="Arial" panose="020B0604020202020204" pitchFamily="34"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p:cNvSpPr>
            <a:spLocks noGrp="1" noChangeArrowheads="1"/>
          </p:cNvSpPr>
          <p:nvPr>
            <p:ph type="title"/>
          </p:nvPr>
        </p:nvSpPr>
        <p:spPr>
          <a:xfrm>
            <a:off x="1981200" y="274639"/>
            <a:ext cx="8229600" cy="706437"/>
          </a:xfrm>
        </p:spPr>
        <p:txBody>
          <a:bodyPr/>
          <a:lstStyle/>
          <a:p>
            <a:pPr eaLnBrk="1" hangingPunct="1"/>
            <a:r>
              <a:rPr lang="en-GB" altLang="en-GB" sz="3200"/>
              <a:t>Practical exercise</a:t>
            </a:r>
          </a:p>
        </p:txBody>
      </p:sp>
      <p:sp>
        <p:nvSpPr>
          <p:cNvPr id="3" name="Content Placeholder 2">
            <a:extLst>
              <a:ext uri="{FF2B5EF4-FFF2-40B4-BE49-F238E27FC236}">
                <a16:creationId xmlns:a16="http://schemas.microsoft.com/office/drawing/2014/main" id="{52EDE707-3AE7-48EF-8261-E81FCE2FA8E0}"/>
              </a:ext>
            </a:extLst>
          </p:cNvPr>
          <p:cNvSpPr>
            <a:spLocks noGrp="1"/>
          </p:cNvSpPr>
          <p:nvPr>
            <p:ph idx="1"/>
          </p:nvPr>
        </p:nvSpPr>
        <p:spPr>
          <a:xfrm>
            <a:off x="1703388" y="1125538"/>
            <a:ext cx="8507412" cy="5327650"/>
          </a:xfrm>
        </p:spPr>
        <p:txBody>
          <a:bodyPr rtlCol="0">
            <a:normAutofit/>
          </a:bodyPr>
          <a:lstStyle/>
          <a:p>
            <a:pPr eaLnBrk="1" fontAlgn="auto" hangingPunct="1">
              <a:spcAft>
                <a:spcPts val="0"/>
              </a:spcAft>
              <a:defRPr/>
            </a:pPr>
            <a:r>
              <a:rPr lang="en-GB" sz="2000" dirty="0">
                <a:cs typeface="+mn-cs"/>
              </a:rPr>
              <a:t>Before fitting any model in </a:t>
            </a:r>
            <a:r>
              <a:rPr lang="en-GB" sz="2000" dirty="0" err="1">
                <a:cs typeface="+mn-cs"/>
              </a:rPr>
              <a:t>stata</a:t>
            </a:r>
            <a:r>
              <a:rPr lang="en-GB" sz="2000" dirty="0">
                <a:cs typeface="+mn-cs"/>
              </a:rPr>
              <a:t>, we need to declare the data as being of the survival form by using “</a:t>
            </a:r>
            <a:r>
              <a:rPr lang="en-GB" sz="2000" dirty="0" err="1">
                <a:cs typeface="+mn-cs"/>
              </a:rPr>
              <a:t>st</a:t>
            </a:r>
            <a:r>
              <a:rPr lang="en-GB" sz="2000" dirty="0">
                <a:cs typeface="+mn-cs"/>
              </a:rPr>
              <a:t>” (standing for survival time) using the “</a:t>
            </a:r>
            <a:r>
              <a:rPr lang="en-GB" sz="2000" dirty="0" err="1">
                <a:cs typeface="+mn-cs"/>
              </a:rPr>
              <a:t>stset</a:t>
            </a:r>
            <a:r>
              <a:rPr lang="en-GB" sz="2000" dirty="0">
                <a:cs typeface="+mn-cs"/>
              </a:rPr>
              <a:t>” command</a:t>
            </a:r>
          </a:p>
          <a:p>
            <a:pPr eaLnBrk="1" fontAlgn="auto" hangingPunct="1">
              <a:spcAft>
                <a:spcPts val="0"/>
              </a:spcAft>
              <a:defRPr/>
            </a:pPr>
            <a:endParaRPr lang="en-GB" sz="2000" dirty="0">
              <a:cs typeface="+mn-cs"/>
            </a:endParaRPr>
          </a:p>
          <a:p>
            <a:pPr eaLnBrk="1" fontAlgn="auto" hangingPunct="1">
              <a:spcAft>
                <a:spcPts val="0"/>
              </a:spcAft>
              <a:defRPr/>
            </a:pPr>
            <a:r>
              <a:rPr lang="en-GB" sz="2000" dirty="0" err="1">
                <a:cs typeface="+mn-cs"/>
              </a:rPr>
              <a:t>stset</a:t>
            </a:r>
            <a:r>
              <a:rPr lang="en-GB" sz="2000" dirty="0">
                <a:cs typeface="+mn-cs"/>
              </a:rPr>
              <a:t> time, failure(status)</a:t>
            </a:r>
          </a:p>
          <a:p>
            <a:pPr eaLnBrk="1" fontAlgn="auto" hangingPunct="1">
              <a:spcAft>
                <a:spcPts val="0"/>
              </a:spcAft>
              <a:defRPr/>
            </a:pPr>
            <a:endParaRPr lang="en-GB" sz="2000" dirty="0">
              <a:cs typeface="+mn-cs"/>
            </a:endParaRPr>
          </a:p>
          <a:p>
            <a:pPr eaLnBrk="1" fontAlgn="auto" hangingPunct="1">
              <a:spcAft>
                <a:spcPts val="0"/>
              </a:spcAft>
              <a:defRPr/>
            </a:pPr>
            <a:r>
              <a:rPr lang="en-GB" sz="2000" dirty="0">
                <a:cs typeface="+mn-cs"/>
              </a:rPr>
              <a:t>Looking at the summary data after declaring in </a:t>
            </a:r>
            <a:r>
              <a:rPr lang="en-GB" sz="2000" dirty="0" err="1">
                <a:cs typeface="+mn-cs"/>
              </a:rPr>
              <a:t>stata</a:t>
            </a:r>
            <a:r>
              <a:rPr lang="en-GB" sz="2000" dirty="0">
                <a:cs typeface="+mn-cs"/>
              </a:rPr>
              <a:t>, we use the command:</a:t>
            </a:r>
          </a:p>
          <a:p>
            <a:pPr eaLnBrk="1" fontAlgn="auto" hangingPunct="1">
              <a:spcAft>
                <a:spcPts val="0"/>
              </a:spcAft>
              <a:defRPr/>
            </a:pPr>
            <a:endParaRPr lang="en-GB" sz="2000" dirty="0">
              <a:cs typeface="+mn-cs"/>
            </a:endParaRPr>
          </a:p>
          <a:p>
            <a:pPr eaLnBrk="1" fontAlgn="auto" hangingPunct="1">
              <a:spcAft>
                <a:spcPts val="0"/>
              </a:spcAft>
              <a:defRPr/>
            </a:pPr>
            <a:r>
              <a:rPr lang="en-GB" sz="2000" dirty="0" err="1">
                <a:cs typeface="+mn-cs"/>
              </a:rPr>
              <a:t>stsum</a:t>
            </a:r>
            <a:endParaRPr lang="en-GB" sz="2000" dirty="0">
              <a:cs typeface="+mn-cs"/>
            </a:endParaRPr>
          </a:p>
          <a:p>
            <a:pPr eaLnBrk="1" fontAlgn="auto" hangingPunct="1">
              <a:spcAft>
                <a:spcPts val="0"/>
              </a:spcAft>
              <a:defRPr/>
            </a:pPr>
            <a:endParaRPr lang="en-GB" sz="2000" dirty="0">
              <a:cs typeface="+mn-cs"/>
            </a:endParaRPr>
          </a:p>
          <a:p>
            <a:pPr eaLnBrk="1" fontAlgn="auto" hangingPunct="1">
              <a:spcAft>
                <a:spcPts val="0"/>
              </a:spcAft>
              <a:defRPr/>
            </a:pPr>
            <a:r>
              <a:rPr lang="en-GB" sz="2000" dirty="0">
                <a:cs typeface="+mn-cs"/>
              </a:rPr>
              <a:t> There are 238 subjects with a median survival time of 504 days. The lower quartile survival time was 212 days and upper quartile time is 821 days.</a:t>
            </a:r>
          </a:p>
          <a:p>
            <a:pPr eaLnBrk="1" fontAlgn="auto" hangingPunct="1">
              <a:spcAft>
                <a:spcPts val="0"/>
              </a:spcAft>
              <a:defRPr/>
            </a:pPr>
            <a:endParaRPr lang="en-GB" sz="2000" dirty="0">
              <a:cs typeface="+mn-cs"/>
            </a:endParaRPr>
          </a:p>
          <a:p>
            <a:pPr eaLnBrk="1" fontAlgn="auto" hangingPunct="1">
              <a:spcAft>
                <a:spcPts val="0"/>
              </a:spcAft>
              <a:defRPr/>
            </a:pPr>
            <a:r>
              <a:rPr lang="en-GB" sz="2000" dirty="0">
                <a:cs typeface="+mn-cs"/>
              </a:rPr>
              <a:t>Total person time at risk is 95812 days.</a:t>
            </a:r>
          </a:p>
        </p:txBody>
      </p:sp>
      <p:sp>
        <p:nvSpPr>
          <p:cNvPr id="7168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AAA52DD5-DCB0-45EE-8F4F-B7D073109A80}" type="slidenum">
              <a:rPr lang="en-GB" altLang="en-US" sz="1200">
                <a:latin typeface="Arial" panose="020B0604020202020204" pitchFamily="34" charset="0"/>
                <a:cs typeface="Arial" panose="020B0604020202020204" pitchFamily="34" charset="0"/>
              </a:rPr>
              <a:pPr fontAlgn="base">
                <a:spcBef>
                  <a:spcPct val="0"/>
                </a:spcBef>
                <a:spcAft>
                  <a:spcPct val="0"/>
                </a:spcAft>
              </a:pPr>
              <a:t>67</a:t>
            </a:fld>
            <a:endParaRPr lang="en-GB" altLang="en-US" sz="1200">
              <a:latin typeface="Arial" panose="020B0604020202020204" pitchFamily="34" charset="0"/>
              <a:cs typeface="Arial" panose="020B0604020202020204" pitchFamily="34"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p:cNvSpPr>
            <a:spLocks noGrp="1" noChangeArrowheads="1"/>
          </p:cNvSpPr>
          <p:nvPr>
            <p:ph type="title"/>
          </p:nvPr>
        </p:nvSpPr>
        <p:spPr>
          <a:xfrm>
            <a:off x="1981200" y="274639"/>
            <a:ext cx="8229600" cy="777875"/>
          </a:xfrm>
        </p:spPr>
        <p:txBody>
          <a:bodyPr/>
          <a:lstStyle/>
          <a:p>
            <a:pPr eaLnBrk="1" hangingPunct="1"/>
            <a:r>
              <a:rPr lang="en-GB" altLang="en-GB" sz="3200"/>
              <a:t>Practical exercise</a:t>
            </a:r>
          </a:p>
        </p:txBody>
      </p:sp>
      <p:sp>
        <p:nvSpPr>
          <p:cNvPr id="3" name="Content Placeholder 2">
            <a:extLst>
              <a:ext uri="{FF2B5EF4-FFF2-40B4-BE49-F238E27FC236}">
                <a16:creationId xmlns:a16="http://schemas.microsoft.com/office/drawing/2014/main" id="{143EF343-EB44-4B11-8547-F9A75E4FDE8D}"/>
              </a:ext>
            </a:extLst>
          </p:cNvPr>
          <p:cNvSpPr>
            <a:spLocks noGrp="1"/>
          </p:cNvSpPr>
          <p:nvPr>
            <p:ph idx="1"/>
          </p:nvPr>
        </p:nvSpPr>
        <p:spPr>
          <a:xfrm>
            <a:off x="1806575" y="1052514"/>
            <a:ext cx="8578850" cy="5000625"/>
          </a:xfrm>
        </p:spPr>
        <p:txBody>
          <a:bodyPr rtlCol="0"/>
          <a:lstStyle/>
          <a:p>
            <a:pPr eaLnBrk="1" fontAlgn="auto" hangingPunct="1">
              <a:spcAft>
                <a:spcPts val="0"/>
              </a:spcAft>
              <a:defRPr/>
            </a:pPr>
            <a:r>
              <a:rPr lang="en-GB" sz="2000" dirty="0">
                <a:cs typeface="+mn-cs"/>
              </a:rPr>
              <a:t>If the incident rate (i.e. hazard function) could be assumed to constant, it would be estimated as 0.0016 per day or 1.6 per 1000 persons per day, which would correspond to 0.0015656*365.25=0.57 per year or 570 per 1000 persons per year . </a:t>
            </a:r>
          </a:p>
          <a:p>
            <a:pPr eaLnBrk="1" fontAlgn="auto" hangingPunct="1">
              <a:spcAft>
                <a:spcPts val="0"/>
              </a:spcAft>
              <a:defRPr/>
            </a:pPr>
            <a:endParaRPr lang="en-GB" sz="2000" dirty="0">
              <a:cs typeface="+mn-cs"/>
            </a:endParaRPr>
          </a:p>
          <a:p>
            <a:pPr eaLnBrk="1" fontAlgn="auto" hangingPunct="1">
              <a:spcAft>
                <a:spcPts val="0"/>
              </a:spcAft>
              <a:defRPr/>
            </a:pPr>
            <a:r>
              <a:rPr lang="en-GB" sz="1200" b="1" dirty="0" err="1">
                <a:latin typeface="Courier New" pitchFamily="49" charset="0"/>
                <a:cs typeface="Courier New" pitchFamily="49" charset="0"/>
              </a:rPr>
              <a:t>stsum</a:t>
            </a:r>
            <a:endParaRPr lang="en-GB" sz="1200" b="1" dirty="0">
              <a:latin typeface="Courier New" pitchFamily="49" charset="0"/>
              <a:cs typeface="Courier New" pitchFamily="49" charset="0"/>
            </a:endParaRPr>
          </a:p>
          <a:p>
            <a:pPr eaLnBrk="1" fontAlgn="auto" hangingPunct="1">
              <a:spcAft>
                <a:spcPts val="0"/>
              </a:spcAft>
              <a:defRPr/>
            </a:pPr>
            <a:endParaRPr lang="en-GB" sz="1200" dirty="0">
              <a:latin typeface="Courier New" pitchFamily="49" charset="0"/>
              <a:cs typeface="Courier New" pitchFamily="49" charset="0"/>
            </a:endParaRPr>
          </a:p>
          <a:p>
            <a:pPr eaLnBrk="1" fontAlgn="auto" hangingPunct="1">
              <a:spcAft>
                <a:spcPts val="0"/>
              </a:spcAft>
              <a:defRPr/>
            </a:pPr>
            <a:r>
              <a:rPr lang="en-GB" sz="1200" dirty="0">
                <a:latin typeface="Courier New" pitchFamily="49" charset="0"/>
                <a:cs typeface="Courier New" pitchFamily="49" charset="0"/>
              </a:rPr>
              <a:t>         failure _d:  status</a:t>
            </a:r>
          </a:p>
          <a:p>
            <a:pPr eaLnBrk="1" fontAlgn="auto" hangingPunct="1">
              <a:spcAft>
                <a:spcPts val="0"/>
              </a:spcAft>
              <a:defRPr/>
            </a:pPr>
            <a:r>
              <a:rPr lang="en-GB" sz="1200" dirty="0">
                <a:latin typeface="Courier New" pitchFamily="49" charset="0"/>
                <a:cs typeface="Courier New" pitchFamily="49" charset="0"/>
              </a:rPr>
              <a:t>   analysis time _t:  time</a:t>
            </a:r>
          </a:p>
          <a:p>
            <a:pPr eaLnBrk="1" fontAlgn="auto" hangingPunct="1">
              <a:spcAft>
                <a:spcPts val="0"/>
              </a:spcAft>
              <a:defRPr/>
            </a:pPr>
            <a:endParaRPr lang="en-GB" sz="1200" dirty="0">
              <a:latin typeface="Courier New" pitchFamily="49" charset="0"/>
              <a:cs typeface="Courier New" pitchFamily="49" charset="0"/>
            </a:endParaRPr>
          </a:p>
          <a:p>
            <a:pPr eaLnBrk="1" fontAlgn="auto" hangingPunct="1">
              <a:spcAft>
                <a:spcPts val="0"/>
              </a:spcAft>
              <a:defRPr/>
            </a:pPr>
            <a:r>
              <a:rPr lang="en-GB" sz="1200" dirty="0">
                <a:latin typeface="Courier New" pitchFamily="49" charset="0"/>
                <a:cs typeface="Courier New" pitchFamily="49" charset="0"/>
              </a:rPr>
              <a:t>         |               incidence       no. of    |------ Survival time -----|</a:t>
            </a:r>
          </a:p>
          <a:p>
            <a:pPr eaLnBrk="1" fontAlgn="auto" hangingPunct="1">
              <a:spcAft>
                <a:spcPts val="0"/>
              </a:spcAft>
              <a:defRPr/>
            </a:pPr>
            <a:r>
              <a:rPr lang="en-GB" sz="1200" dirty="0">
                <a:latin typeface="Courier New" pitchFamily="49" charset="0"/>
                <a:cs typeface="Courier New" pitchFamily="49" charset="0"/>
              </a:rPr>
              <a:t>         | time at risk     rate        subjects        25%       50%       75%</a:t>
            </a:r>
          </a:p>
          <a:p>
            <a:pPr eaLnBrk="1" fontAlgn="auto" hangingPunct="1">
              <a:spcAft>
                <a:spcPts val="0"/>
              </a:spcAft>
              <a:defRPr/>
            </a:pPr>
            <a:r>
              <a:rPr lang="en-GB" sz="1200" dirty="0">
                <a:latin typeface="Courier New" pitchFamily="49" charset="0"/>
                <a:cs typeface="Courier New" pitchFamily="49" charset="0"/>
              </a:rPr>
              <a:t>---------+---------------------------------------------------------------------</a:t>
            </a:r>
          </a:p>
          <a:p>
            <a:pPr eaLnBrk="1" fontAlgn="auto" hangingPunct="1">
              <a:spcAft>
                <a:spcPts val="0"/>
              </a:spcAft>
              <a:defRPr/>
            </a:pPr>
            <a:r>
              <a:rPr lang="en-GB" sz="1200" dirty="0">
                <a:latin typeface="Courier New" pitchFamily="49" charset="0"/>
                <a:cs typeface="Courier New" pitchFamily="49" charset="0"/>
              </a:rPr>
              <a:t>   total |        </a:t>
            </a:r>
            <a:r>
              <a:rPr lang="en-GB" sz="1200" b="1" dirty="0">
                <a:latin typeface="Courier New" pitchFamily="49" charset="0"/>
                <a:cs typeface="Courier New" pitchFamily="49" charset="0"/>
              </a:rPr>
              <a:t>95812   .0015656           238        212       504       821</a:t>
            </a:r>
          </a:p>
          <a:p>
            <a:pPr eaLnBrk="1" fontAlgn="auto" hangingPunct="1">
              <a:spcAft>
                <a:spcPts val="0"/>
              </a:spcAft>
              <a:defRPr/>
            </a:pPr>
            <a:endParaRPr lang="en-GB" sz="1200" dirty="0">
              <a:latin typeface="Courier New" pitchFamily="49" charset="0"/>
              <a:cs typeface="Courier New" pitchFamily="49" charset="0"/>
            </a:endParaRPr>
          </a:p>
          <a:p>
            <a:pPr marL="0" indent="0" eaLnBrk="1" fontAlgn="auto" hangingPunct="1">
              <a:spcAft>
                <a:spcPts val="0"/>
              </a:spcAft>
              <a:buNone/>
              <a:defRPr/>
            </a:pPr>
            <a:endParaRPr lang="en-GB" sz="1200" dirty="0">
              <a:latin typeface="Courier New" pitchFamily="49" charset="0"/>
              <a:cs typeface="Courier New" pitchFamily="49" charset="0"/>
            </a:endParaRPr>
          </a:p>
          <a:p>
            <a:pPr eaLnBrk="1" fontAlgn="auto" hangingPunct="1">
              <a:spcAft>
                <a:spcPts val="0"/>
              </a:spcAft>
              <a:buFont typeface="Wingdings" panose="05000000000000000000" pitchFamily="2" charset="2"/>
              <a:buChar char="§"/>
              <a:defRPr/>
            </a:pPr>
            <a:endParaRPr lang="en-GB" sz="2000" dirty="0">
              <a:latin typeface="Courier New" pitchFamily="49" charset="0"/>
              <a:cs typeface="Courier New" pitchFamily="49" charset="0"/>
            </a:endParaRPr>
          </a:p>
          <a:p>
            <a:pPr eaLnBrk="1" fontAlgn="auto" hangingPunct="1">
              <a:spcAft>
                <a:spcPts val="0"/>
              </a:spcAft>
              <a:defRPr/>
            </a:pPr>
            <a:endParaRPr lang="en-GB" sz="1200" dirty="0">
              <a:latin typeface="Courier New" pitchFamily="49" charset="0"/>
              <a:cs typeface="Courier New" pitchFamily="49" charset="0"/>
            </a:endParaRPr>
          </a:p>
        </p:txBody>
      </p:sp>
      <p:sp>
        <p:nvSpPr>
          <p:cNvPr id="72708"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F95FFC4A-412D-45FB-9E4F-445DC23998A6}" type="slidenum">
              <a:rPr lang="en-GB" altLang="en-US" sz="1200">
                <a:latin typeface="Arial" panose="020B0604020202020204" pitchFamily="34" charset="0"/>
                <a:cs typeface="Arial" panose="020B0604020202020204" pitchFamily="34" charset="0"/>
              </a:rPr>
              <a:pPr fontAlgn="base">
                <a:spcBef>
                  <a:spcPct val="0"/>
                </a:spcBef>
                <a:spcAft>
                  <a:spcPct val="0"/>
                </a:spcAft>
              </a:pPr>
              <a:t>68</a:t>
            </a:fld>
            <a:endParaRPr lang="en-GB" altLang="en-US" sz="1200">
              <a:latin typeface="Arial" panose="020B0604020202020204" pitchFamily="34" charset="0"/>
              <a:cs typeface="Arial" panose="020B0604020202020204" pitchFamily="34"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p:cNvSpPr>
            <a:spLocks noGrp="1" noChangeArrowheads="1"/>
          </p:cNvSpPr>
          <p:nvPr>
            <p:ph type="title"/>
          </p:nvPr>
        </p:nvSpPr>
        <p:spPr>
          <a:xfrm>
            <a:off x="1981200" y="274639"/>
            <a:ext cx="8229600" cy="777875"/>
          </a:xfrm>
        </p:spPr>
        <p:txBody>
          <a:bodyPr/>
          <a:lstStyle/>
          <a:p>
            <a:pPr eaLnBrk="1" hangingPunct="1"/>
            <a:r>
              <a:rPr lang="en-GB" altLang="en-GB" sz="3200"/>
              <a:t>Practical exercise</a:t>
            </a:r>
          </a:p>
        </p:txBody>
      </p:sp>
      <p:sp>
        <p:nvSpPr>
          <p:cNvPr id="3" name="Content Placeholder 2">
            <a:extLst>
              <a:ext uri="{FF2B5EF4-FFF2-40B4-BE49-F238E27FC236}">
                <a16:creationId xmlns:a16="http://schemas.microsoft.com/office/drawing/2014/main" id="{143EF343-EB44-4B11-8547-F9A75E4FDE8D}"/>
              </a:ext>
            </a:extLst>
          </p:cNvPr>
          <p:cNvSpPr>
            <a:spLocks noGrp="1"/>
          </p:cNvSpPr>
          <p:nvPr>
            <p:ph idx="1"/>
          </p:nvPr>
        </p:nvSpPr>
        <p:spPr>
          <a:xfrm>
            <a:off x="1806575" y="1052514"/>
            <a:ext cx="8578850" cy="5000625"/>
          </a:xfrm>
        </p:spPr>
        <p:txBody>
          <a:bodyPr rtlCol="0">
            <a:normAutofit/>
          </a:bodyPr>
          <a:lstStyle/>
          <a:p>
            <a:pPr eaLnBrk="1" fontAlgn="auto" hangingPunct="1">
              <a:spcAft>
                <a:spcPts val="0"/>
              </a:spcAft>
              <a:defRPr/>
            </a:pPr>
            <a:r>
              <a:rPr lang="en-GB" sz="2200" dirty="0">
                <a:cs typeface="+mn-cs"/>
              </a:rPr>
              <a:t>The lower quartile of survival time—also known as the 25th percentile—is the time by which 25% of the study population has experienced the event (e.g., death, relapse, failure), and 75% are still surviving.</a:t>
            </a:r>
          </a:p>
          <a:p>
            <a:pPr eaLnBrk="1" fontAlgn="auto" hangingPunct="1">
              <a:spcAft>
                <a:spcPts val="0"/>
              </a:spcAft>
              <a:defRPr/>
            </a:pPr>
            <a:endParaRPr lang="en-GB" sz="2200" dirty="0">
              <a:cs typeface="+mn-cs"/>
            </a:endParaRPr>
          </a:p>
          <a:p>
            <a:pPr eaLnBrk="1" fontAlgn="auto" hangingPunct="1">
              <a:spcAft>
                <a:spcPts val="0"/>
              </a:spcAft>
              <a:defRPr/>
            </a:pPr>
            <a:r>
              <a:rPr lang="en-GB" sz="2200" dirty="0">
                <a:cs typeface="+mn-cs"/>
              </a:rPr>
              <a:t>The upper quartile of survival time—also called the 75th percentile—is the time by which 75% of the study population has experienced the event, and 25% remain event-free.</a:t>
            </a:r>
          </a:p>
          <a:p>
            <a:pPr eaLnBrk="1" fontAlgn="auto" hangingPunct="1">
              <a:spcAft>
                <a:spcPts val="0"/>
              </a:spcAft>
              <a:defRPr/>
            </a:pPr>
            <a:endParaRPr lang="en-GB" sz="2200" dirty="0">
              <a:cs typeface="+mn-cs"/>
            </a:endParaRPr>
          </a:p>
          <a:p>
            <a:pPr eaLnBrk="1" fontAlgn="auto" hangingPunct="1">
              <a:spcAft>
                <a:spcPts val="0"/>
              </a:spcAft>
              <a:defRPr/>
            </a:pPr>
            <a:r>
              <a:rPr lang="en-GB" sz="2200" dirty="0">
                <a:cs typeface="+mn-cs"/>
              </a:rPr>
              <a:t>Median survival time is the point at which 50% of the study population has experienced the event (e.g., death, relapse, failure), and 50% are still event-free. It’s a central summary measure in survival analysis, especially when the data are skewed or censored.</a:t>
            </a:r>
            <a:endParaRPr lang="en-GB" sz="2200" dirty="0">
              <a:latin typeface="Courier New" pitchFamily="49" charset="0"/>
              <a:cs typeface="Courier New" pitchFamily="49" charset="0"/>
            </a:endParaRPr>
          </a:p>
          <a:p>
            <a:pPr marL="0" indent="0" eaLnBrk="1" fontAlgn="auto" hangingPunct="1">
              <a:spcAft>
                <a:spcPts val="0"/>
              </a:spcAft>
              <a:buNone/>
              <a:defRPr/>
            </a:pPr>
            <a:endParaRPr lang="en-GB" sz="2200" dirty="0">
              <a:latin typeface="Courier New" pitchFamily="49" charset="0"/>
              <a:cs typeface="Courier New" pitchFamily="49" charset="0"/>
            </a:endParaRPr>
          </a:p>
          <a:p>
            <a:pPr eaLnBrk="1" fontAlgn="auto" hangingPunct="1">
              <a:spcAft>
                <a:spcPts val="0"/>
              </a:spcAft>
              <a:buFont typeface="Wingdings" panose="05000000000000000000" pitchFamily="2" charset="2"/>
              <a:buChar char="§"/>
              <a:defRPr/>
            </a:pPr>
            <a:endParaRPr lang="en-GB" sz="2200" dirty="0">
              <a:latin typeface="Courier New" pitchFamily="49" charset="0"/>
              <a:cs typeface="Courier New" pitchFamily="49" charset="0"/>
            </a:endParaRPr>
          </a:p>
          <a:p>
            <a:pPr eaLnBrk="1" fontAlgn="auto" hangingPunct="1">
              <a:spcAft>
                <a:spcPts val="0"/>
              </a:spcAft>
              <a:defRPr/>
            </a:pPr>
            <a:endParaRPr lang="en-GB" sz="2200" dirty="0">
              <a:latin typeface="Courier New" pitchFamily="49" charset="0"/>
              <a:cs typeface="Courier New" pitchFamily="49" charset="0"/>
            </a:endParaRPr>
          </a:p>
        </p:txBody>
      </p:sp>
      <p:sp>
        <p:nvSpPr>
          <p:cNvPr id="73732"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BB7F6059-3E82-4F33-AA09-BABDA3E14AEB}" type="slidenum">
              <a:rPr lang="en-GB" altLang="en-US" sz="1200">
                <a:latin typeface="Arial" panose="020B0604020202020204" pitchFamily="34" charset="0"/>
                <a:cs typeface="Arial" panose="020B0604020202020204" pitchFamily="34" charset="0"/>
              </a:rPr>
              <a:pPr fontAlgn="base">
                <a:spcBef>
                  <a:spcPct val="0"/>
                </a:spcBef>
                <a:spcAft>
                  <a:spcPct val="0"/>
                </a:spcAft>
              </a:pPr>
              <a:t>69</a:t>
            </a:fld>
            <a:endParaRPr lang="en-GB" altLang="en-US" sz="1200">
              <a:latin typeface="Arial" panose="020B0604020202020204" pitchFamily="34" charset="0"/>
              <a:cs typeface="Arial" panose="020B0604020202020204" pitchFamily="34"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p:cNvSpPr>
            <a:spLocks noGrp="1" noChangeArrowheads="1"/>
          </p:cNvSpPr>
          <p:nvPr>
            <p:ph type="title"/>
          </p:nvPr>
        </p:nvSpPr>
        <p:spPr>
          <a:xfrm>
            <a:off x="1981200" y="274639"/>
            <a:ext cx="8229600" cy="777875"/>
          </a:xfrm>
        </p:spPr>
        <p:txBody>
          <a:bodyPr/>
          <a:lstStyle/>
          <a:p>
            <a:pPr eaLnBrk="1" hangingPunct="1"/>
            <a:r>
              <a:rPr lang="en-GB" altLang="en-GB" sz="3200"/>
              <a:t>Practical exercise</a:t>
            </a:r>
          </a:p>
        </p:txBody>
      </p:sp>
      <p:sp>
        <p:nvSpPr>
          <p:cNvPr id="74755" name="Content Placeholder 2"/>
          <p:cNvSpPr>
            <a:spLocks noGrp="1" noChangeArrowheads="1"/>
          </p:cNvSpPr>
          <p:nvPr>
            <p:ph idx="1"/>
          </p:nvPr>
        </p:nvSpPr>
        <p:spPr>
          <a:xfrm>
            <a:off x="1703388" y="1268413"/>
            <a:ext cx="8507412" cy="4857750"/>
          </a:xfrm>
        </p:spPr>
        <p:txBody>
          <a:bodyPr/>
          <a:lstStyle/>
          <a:p>
            <a:pPr eaLnBrk="1" hangingPunct="1"/>
            <a:r>
              <a:rPr lang="en-GB" altLang="en-GB"/>
              <a:t>Overall survival using Life-table approach with 30 days interval</a:t>
            </a:r>
          </a:p>
          <a:p>
            <a:pPr eaLnBrk="1" hangingPunct="1"/>
            <a:endParaRPr lang="en-GB" altLang="en-GB"/>
          </a:p>
        </p:txBody>
      </p:sp>
      <p:sp>
        <p:nvSpPr>
          <p:cNvPr id="7475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1881B761-AF26-4FD0-AE2A-9EA4AFFEEBB1}" type="slidenum">
              <a:rPr lang="en-GB" altLang="en-US" sz="1200">
                <a:latin typeface="Arial" panose="020B0604020202020204" pitchFamily="34" charset="0"/>
                <a:cs typeface="Arial" panose="020B0604020202020204" pitchFamily="34" charset="0"/>
              </a:rPr>
              <a:pPr fontAlgn="base">
                <a:spcBef>
                  <a:spcPct val="0"/>
                </a:spcBef>
                <a:spcAft>
                  <a:spcPct val="0"/>
                </a:spcAft>
              </a:pPr>
              <a:t>70</a:t>
            </a:fld>
            <a:endParaRPr lang="en-GB" altLang="en-US" sz="1200">
              <a:latin typeface="Arial" panose="020B0604020202020204" pitchFamily="34" charset="0"/>
              <a:cs typeface="Arial" panose="020B0604020202020204" pitchFamily="34" charset="0"/>
            </a:endParaRPr>
          </a:p>
        </p:txBody>
      </p:sp>
      <p:pic>
        <p:nvPicPr>
          <p:cNvPr id="74757"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71813" y="2420939"/>
            <a:ext cx="5116512"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p:cNvSpPr>
            <a:spLocks noGrp="1" noChangeArrowheads="1"/>
          </p:cNvSpPr>
          <p:nvPr>
            <p:ph type="title"/>
          </p:nvPr>
        </p:nvSpPr>
        <p:spPr>
          <a:xfrm>
            <a:off x="1981200" y="274638"/>
            <a:ext cx="8229600" cy="633412"/>
          </a:xfrm>
        </p:spPr>
        <p:txBody>
          <a:bodyPr/>
          <a:lstStyle/>
          <a:p>
            <a:pPr eaLnBrk="1" hangingPunct="1"/>
            <a:r>
              <a:rPr lang="en-GB" altLang="en-GB" sz="3200"/>
              <a:t>Practical exercise</a:t>
            </a:r>
          </a:p>
        </p:txBody>
      </p:sp>
      <p:sp>
        <p:nvSpPr>
          <p:cNvPr id="75779" name="Content Placeholder 2"/>
          <p:cNvSpPr>
            <a:spLocks noGrp="1" noChangeArrowheads="1"/>
          </p:cNvSpPr>
          <p:nvPr>
            <p:ph idx="1"/>
          </p:nvPr>
        </p:nvSpPr>
        <p:spPr>
          <a:xfrm>
            <a:off x="1631950" y="1052513"/>
            <a:ext cx="8578850" cy="5073650"/>
          </a:xfrm>
        </p:spPr>
        <p:txBody>
          <a:bodyPr/>
          <a:lstStyle/>
          <a:p>
            <a:pPr eaLnBrk="1" hangingPunct="1"/>
            <a:r>
              <a:rPr lang="en-GB" altLang="en-GB"/>
              <a:t>Life table survival curves for different prisons</a:t>
            </a:r>
          </a:p>
          <a:p>
            <a:pPr eaLnBrk="1" hangingPunct="1"/>
            <a:endParaRPr lang="en-GB" altLang="en-GB"/>
          </a:p>
        </p:txBody>
      </p:sp>
      <p:sp>
        <p:nvSpPr>
          <p:cNvPr id="7578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88C7EAAB-56D1-48AC-A2E7-AF7F7F04321E}" type="slidenum">
              <a:rPr lang="en-GB" altLang="en-US" sz="1200">
                <a:latin typeface="Arial" panose="020B0604020202020204" pitchFamily="34" charset="0"/>
                <a:cs typeface="Arial" panose="020B0604020202020204" pitchFamily="34" charset="0"/>
              </a:rPr>
              <a:pPr fontAlgn="base">
                <a:spcBef>
                  <a:spcPct val="0"/>
                </a:spcBef>
                <a:spcAft>
                  <a:spcPct val="0"/>
                </a:spcAft>
              </a:pPr>
              <a:t>71</a:t>
            </a:fld>
            <a:endParaRPr lang="en-GB" altLang="en-US" sz="1200">
              <a:latin typeface="Arial" panose="020B0604020202020204" pitchFamily="34" charset="0"/>
              <a:cs typeface="Arial" panose="020B0604020202020204" pitchFamily="34" charset="0"/>
            </a:endParaRPr>
          </a:p>
        </p:txBody>
      </p:sp>
      <p:pic>
        <p:nvPicPr>
          <p:cNvPr id="75781"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66988" y="1865314"/>
            <a:ext cx="6265862"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p:cNvSpPr>
            <a:spLocks noGrp="1" noChangeArrowheads="1"/>
          </p:cNvSpPr>
          <p:nvPr>
            <p:ph type="title"/>
          </p:nvPr>
        </p:nvSpPr>
        <p:spPr>
          <a:xfrm>
            <a:off x="1981200" y="274638"/>
            <a:ext cx="8229600" cy="850900"/>
          </a:xfrm>
        </p:spPr>
        <p:txBody>
          <a:bodyPr/>
          <a:lstStyle/>
          <a:p>
            <a:pPr eaLnBrk="1" hangingPunct="1"/>
            <a:r>
              <a:rPr lang="en-GB" altLang="en-GB" sz="3200"/>
              <a:t>Practical exercise</a:t>
            </a:r>
          </a:p>
        </p:txBody>
      </p:sp>
      <p:sp>
        <p:nvSpPr>
          <p:cNvPr id="76803" name="Content Placeholder 2"/>
          <p:cNvSpPr>
            <a:spLocks noGrp="1" noChangeArrowheads="1"/>
          </p:cNvSpPr>
          <p:nvPr>
            <p:ph idx="1"/>
          </p:nvPr>
        </p:nvSpPr>
        <p:spPr>
          <a:xfrm>
            <a:off x="1703388" y="1196975"/>
            <a:ext cx="8507412" cy="4929188"/>
          </a:xfrm>
        </p:spPr>
        <p:txBody>
          <a:bodyPr/>
          <a:lstStyle/>
          <a:p>
            <a:pPr eaLnBrk="1" hangingPunct="1"/>
            <a:r>
              <a:rPr lang="en-GB" altLang="en-GB"/>
              <a:t>Life table survival curves for different clinics</a:t>
            </a:r>
          </a:p>
          <a:p>
            <a:pPr eaLnBrk="1" hangingPunct="1"/>
            <a:endParaRPr lang="en-GB" altLang="en-GB"/>
          </a:p>
        </p:txBody>
      </p:sp>
      <p:sp>
        <p:nvSpPr>
          <p:cNvPr id="7680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525B184D-BB2B-419F-8282-7D5419BA3F20}" type="slidenum">
              <a:rPr lang="en-GB" altLang="en-US" sz="1200">
                <a:latin typeface="Arial" panose="020B0604020202020204" pitchFamily="34" charset="0"/>
                <a:cs typeface="Arial" panose="020B0604020202020204" pitchFamily="34" charset="0"/>
              </a:rPr>
              <a:pPr fontAlgn="base">
                <a:spcBef>
                  <a:spcPct val="0"/>
                </a:spcBef>
                <a:spcAft>
                  <a:spcPct val="0"/>
                </a:spcAft>
              </a:pPr>
              <a:t>72</a:t>
            </a:fld>
            <a:endParaRPr lang="en-GB" altLang="en-US" sz="1200">
              <a:latin typeface="Arial" panose="020B0604020202020204" pitchFamily="34" charset="0"/>
              <a:cs typeface="Arial" panose="020B0604020202020204" pitchFamily="34" charset="0"/>
            </a:endParaRPr>
          </a:p>
        </p:txBody>
      </p:sp>
      <p:pic>
        <p:nvPicPr>
          <p:cNvPr id="7680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82888" y="1773239"/>
            <a:ext cx="5116512"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1"/>
          <p:cNvSpPr>
            <a:spLocks noGrp="1" noChangeArrowheads="1"/>
          </p:cNvSpPr>
          <p:nvPr>
            <p:ph type="title"/>
          </p:nvPr>
        </p:nvSpPr>
        <p:spPr>
          <a:xfrm>
            <a:off x="1981200" y="274639"/>
            <a:ext cx="8229600" cy="777875"/>
          </a:xfrm>
        </p:spPr>
        <p:txBody>
          <a:bodyPr/>
          <a:lstStyle/>
          <a:p>
            <a:pPr eaLnBrk="1" hangingPunct="1"/>
            <a:r>
              <a:rPr lang="en-GB" altLang="en-GB"/>
              <a:t>Practical exercise</a:t>
            </a:r>
          </a:p>
        </p:txBody>
      </p:sp>
      <p:sp>
        <p:nvSpPr>
          <p:cNvPr id="3" name="Content Placeholder 2">
            <a:extLst>
              <a:ext uri="{FF2B5EF4-FFF2-40B4-BE49-F238E27FC236}">
                <a16:creationId xmlns:a16="http://schemas.microsoft.com/office/drawing/2014/main" id="{8B479308-400F-4502-A3D8-1FF99584A5E5}"/>
              </a:ext>
            </a:extLst>
          </p:cNvPr>
          <p:cNvSpPr>
            <a:spLocks noGrp="1"/>
          </p:cNvSpPr>
          <p:nvPr>
            <p:ph idx="1"/>
          </p:nvPr>
        </p:nvSpPr>
        <p:spPr>
          <a:xfrm>
            <a:off x="1774826" y="1125539"/>
            <a:ext cx="8435975" cy="5000625"/>
          </a:xfrm>
        </p:spPr>
        <p:txBody>
          <a:bodyPr rtlCol="0">
            <a:normAutofit fontScale="55000" lnSpcReduction="20000"/>
          </a:bodyPr>
          <a:lstStyle/>
          <a:p>
            <a:pPr eaLnBrk="1" fontAlgn="auto" hangingPunct="1">
              <a:spcAft>
                <a:spcPts val="0"/>
              </a:spcAft>
              <a:defRPr/>
            </a:pPr>
            <a:r>
              <a:rPr lang="en-GB" dirty="0">
                <a:cs typeface="+mn-cs"/>
              </a:rPr>
              <a:t>Summary values</a:t>
            </a:r>
          </a:p>
          <a:p>
            <a:pPr eaLnBrk="1" fontAlgn="auto" hangingPunct="1">
              <a:spcAft>
                <a:spcPts val="0"/>
              </a:spcAft>
              <a:defRPr/>
            </a:pPr>
            <a:r>
              <a:rPr lang="en-GB" dirty="0">
                <a:latin typeface="Courier New" pitchFamily="49" charset="0"/>
                <a:cs typeface="Courier New" pitchFamily="49" charset="0"/>
              </a:rPr>
              <a:t> </a:t>
            </a:r>
            <a:r>
              <a:rPr lang="en-GB" sz="1200" dirty="0" err="1">
                <a:latin typeface="Courier New" pitchFamily="49" charset="0"/>
                <a:cs typeface="Courier New" pitchFamily="49" charset="0"/>
              </a:rPr>
              <a:t>stci</a:t>
            </a:r>
            <a:endParaRPr lang="en-GB" sz="1200" dirty="0">
              <a:latin typeface="Courier New" pitchFamily="49" charset="0"/>
              <a:cs typeface="Courier New" pitchFamily="49" charset="0"/>
            </a:endParaRPr>
          </a:p>
          <a:p>
            <a:pPr eaLnBrk="1" fontAlgn="auto" hangingPunct="1">
              <a:spcAft>
                <a:spcPts val="0"/>
              </a:spcAft>
              <a:defRPr/>
            </a:pPr>
            <a:endParaRPr lang="en-GB" sz="1200" dirty="0">
              <a:latin typeface="Courier New" pitchFamily="49" charset="0"/>
              <a:cs typeface="Courier New" pitchFamily="49" charset="0"/>
            </a:endParaRPr>
          </a:p>
          <a:p>
            <a:pPr eaLnBrk="1" fontAlgn="auto" hangingPunct="1">
              <a:spcAft>
                <a:spcPts val="0"/>
              </a:spcAft>
              <a:defRPr/>
            </a:pPr>
            <a:r>
              <a:rPr lang="en-GB" sz="1200" dirty="0">
                <a:latin typeface="Courier New" pitchFamily="49" charset="0"/>
                <a:cs typeface="Courier New" pitchFamily="49" charset="0"/>
              </a:rPr>
              <a:t>         failure _d:  status</a:t>
            </a:r>
          </a:p>
          <a:p>
            <a:pPr eaLnBrk="1" fontAlgn="auto" hangingPunct="1">
              <a:spcAft>
                <a:spcPts val="0"/>
              </a:spcAft>
              <a:defRPr/>
            </a:pPr>
            <a:r>
              <a:rPr lang="en-GB" sz="1200" dirty="0">
                <a:latin typeface="Courier New" pitchFamily="49" charset="0"/>
                <a:cs typeface="Courier New" pitchFamily="49" charset="0"/>
              </a:rPr>
              <a:t>   analysis time _t:  time</a:t>
            </a:r>
          </a:p>
          <a:p>
            <a:pPr eaLnBrk="1" fontAlgn="auto" hangingPunct="1">
              <a:spcAft>
                <a:spcPts val="0"/>
              </a:spcAft>
              <a:defRPr/>
            </a:pPr>
            <a:endParaRPr lang="en-GB" sz="1200" dirty="0">
              <a:latin typeface="Courier New" pitchFamily="49" charset="0"/>
              <a:cs typeface="Courier New" pitchFamily="49" charset="0"/>
            </a:endParaRPr>
          </a:p>
          <a:p>
            <a:pPr eaLnBrk="1" fontAlgn="auto" hangingPunct="1">
              <a:spcAft>
                <a:spcPts val="0"/>
              </a:spcAft>
              <a:defRPr/>
            </a:pPr>
            <a:r>
              <a:rPr lang="en-GB" sz="1200" dirty="0">
                <a:latin typeface="Courier New" pitchFamily="49" charset="0"/>
                <a:cs typeface="Courier New" pitchFamily="49" charset="0"/>
              </a:rPr>
              <a:t>             |    no. of </a:t>
            </a:r>
          </a:p>
          <a:p>
            <a:pPr eaLnBrk="1" fontAlgn="auto" hangingPunct="1">
              <a:spcAft>
                <a:spcPts val="0"/>
              </a:spcAft>
              <a:defRPr/>
            </a:pPr>
            <a:r>
              <a:rPr lang="en-GB" sz="1200" dirty="0">
                <a:latin typeface="Courier New" pitchFamily="49" charset="0"/>
                <a:cs typeface="Courier New" pitchFamily="49" charset="0"/>
              </a:rPr>
              <a:t>             |  subjects         50%     Std. Err.     [95% Conf. Interval]</a:t>
            </a:r>
          </a:p>
          <a:p>
            <a:pPr eaLnBrk="1" fontAlgn="auto" hangingPunct="1">
              <a:spcAft>
                <a:spcPts val="0"/>
              </a:spcAft>
              <a:defRPr/>
            </a:pPr>
            <a:r>
              <a:rPr lang="en-GB" sz="1200" dirty="0">
                <a:latin typeface="Courier New" pitchFamily="49" charset="0"/>
                <a:cs typeface="Courier New" pitchFamily="49" charset="0"/>
              </a:rPr>
              <a:t>-------------+-------------------------------------------------------------</a:t>
            </a:r>
          </a:p>
          <a:p>
            <a:pPr eaLnBrk="1" fontAlgn="auto" hangingPunct="1">
              <a:spcAft>
                <a:spcPts val="0"/>
              </a:spcAft>
              <a:defRPr/>
            </a:pPr>
            <a:r>
              <a:rPr lang="en-GB" sz="1200" dirty="0">
                <a:latin typeface="Courier New" pitchFamily="49" charset="0"/>
                <a:cs typeface="Courier New" pitchFamily="49" charset="0"/>
              </a:rPr>
              <a:t>       total |       238         504      33.24933          394        550</a:t>
            </a:r>
          </a:p>
          <a:p>
            <a:pPr marL="0" indent="0" eaLnBrk="1" fontAlgn="auto" hangingPunct="1">
              <a:spcAft>
                <a:spcPts val="0"/>
              </a:spcAft>
              <a:buNone/>
              <a:defRPr/>
            </a:pPr>
            <a:endParaRPr lang="en-GB" dirty="0">
              <a:latin typeface="Courier New" pitchFamily="49" charset="0"/>
              <a:cs typeface="Courier New" pitchFamily="49" charset="0"/>
            </a:endParaRPr>
          </a:p>
          <a:p>
            <a:pPr eaLnBrk="1" fontAlgn="auto" hangingPunct="1">
              <a:spcAft>
                <a:spcPts val="0"/>
              </a:spcAft>
              <a:defRPr/>
            </a:pPr>
            <a:r>
              <a:rPr lang="en-GB" sz="1200" dirty="0" err="1">
                <a:latin typeface="Courier New" pitchFamily="49" charset="0"/>
                <a:cs typeface="Courier New" pitchFamily="49" charset="0"/>
              </a:rPr>
              <a:t>stci</a:t>
            </a:r>
            <a:r>
              <a:rPr lang="en-GB" sz="1200" dirty="0">
                <a:latin typeface="Courier New" pitchFamily="49" charset="0"/>
                <a:cs typeface="Courier New" pitchFamily="49" charset="0"/>
              </a:rPr>
              <a:t>, by(prison)</a:t>
            </a:r>
          </a:p>
          <a:p>
            <a:pPr eaLnBrk="1" fontAlgn="auto" hangingPunct="1">
              <a:spcAft>
                <a:spcPts val="0"/>
              </a:spcAft>
              <a:defRPr/>
            </a:pPr>
            <a:endParaRPr lang="en-GB" sz="1200" dirty="0">
              <a:latin typeface="Courier New" pitchFamily="49" charset="0"/>
              <a:cs typeface="Courier New" pitchFamily="49" charset="0"/>
            </a:endParaRPr>
          </a:p>
          <a:p>
            <a:pPr eaLnBrk="1" fontAlgn="auto" hangingPunct="1">
              <a:spcAft>
                <a:spcPts val="0"/>
              </a:spcAft>
              <a:defRPr/>
            </a:pPr>
            <a:r>
              <a:rPr lang="en-GB" sz="1200" dirty="0">
                <a:latin typeface="Courier New" pitchFamily="49" charset="0"/>
                <a:cs typeface="Courier New" pitchFamily="49" charset="0"/>
              </a:rPr>
              <a:t>         failure _d:  status</a:t>
            </a:r>
          </a:p>
          <a:p>
            <a:pPr eaLnBrk="1" fontAlgn="auto" hangingPunct="1">
              <a:spcAft>
                <a:spcPts val="0"/>
              </a:spcAft>
              <a:defRPr/>
            </a:pPr>
            <a:r>
              <a:rPr lang="en-GB" sz="1200" dirty="0">
                <a:latin typeface="Courier New" pitchFamily="49" charset="0"/>
                <a:cs typeface="Courier New" pitchFamily="49" charset="0"/>
              </a:rPr>
              <a:t>   analysis time _t:  time</a:t>
            </a:r>
          </a:p>
          <a:p>
            <a:pPr eaLnBrk="1" fontAlgn="auto" hangingPunct="1">
              <a:spcAft>
                <a:spcPts val="0"/>
              </a:spcAft>
              <a:defRPr/>
            </a:pPr>
            <a:endParaRPr lang="en-GB" sz="1200" dirty="0">
              <a:latin typeface="Courier New" pitchFamily="49" charset="0"/>
              <a:cs typeface="Courier New" pitchFamily="49" charset="0"/>
            </a:endParaRPr>
          </a:p>
          <a:p>
            <a:pPr eaLnBrk="1" fontAlgn="auto" hangingPunct="1">
              <a:spcAft>
                <a:spcPts val="0"/>
              </a:spcAft>
              <a:defRPr/>
            </a:pPr>
            <a:r>
              <a:rPr lang="en-GB" sz="1200" dirty="0">
                <a:latin typeface="Courier New" pitchFamily="49" charset="0"/>
                <a:cs typeface="Courier New" pitchFamily="49" charset="0"/>
              </a:rPr>
              <a:t>             |    no. of </a:t>
            </a:r>
          </a:p>
          <a:p>
            <a:pPr eaLnBrk="1" fontAlgn="auto" hangingPunct="1">
              <a:spcAft>
                <a:spcPts val="0"/>
              </a:spcAft>
              <a:defRPr/>
            </a:pPr>
            <a:r>
              <a:rPr lang="en-GB" sz="1200" dirty="0">
                <a:latin typeface="Courier New" pitchFamily="49" charset="0"/>
                <a:cs typeface="Courier New" pitchFamily="49" charset="0"/>
              </a:rPr>
              <a:t>prison       |  subjects         50%     Std. Err.     [95% Conf. Interval]</a:t>
            </a:r>
          </a:p>
          <a:p>
            <a:pPr eaLnBrk="1" fontAlgn="auto" hangingPunct="1">
              <a:spcAft>
                <a:spcPts val="0"/>
              </a:spcAft>
              <a:defRPr/>
            </a:pPr>
            <a:r>
              <a:rPr lang="en-GB" sz="1200" dirty="0">
                <a:latin typeface="Courier New" pitchFamily="49" charset="0"/>
                <a:cs typeface="Courier New" pitchFamily="49" charset="0"/>
              </a:rPr>
              <a:t>-------------+-------------------------------------------------------------</a:t>
            </a:r>
          </a:p>
          <a:p>
            <a:pPr eaLnBrk="1" fontAlgn="auto" hangingPunct="1">
              <a:spcAft>
                <a:spcPts val="0"/>
              </a:spcAft>
              <a:defRPr/>
            </a:pPr>
            <a:r>
              <a:rPr lang="en-GB" sz="1200" dirty="0">
                <a:latin typeface="Courier New" pitchFamily="49" charset="0"/>
                <a:cs typeface="Courier New" pitchFamily="49" charset="0"/>
              </a:rPr>
              <a:t>           0 |       127         523      39.21973          452        612</a:t>
            </a:r>
          </a:p>
          <a:p>
            <a:pPr eaLnBrk="1" fontAlgn="auto" hangingPunct="1">
              <a:spcAft>
                <a:spcPts val="0"/>
              </a:spcAft>
              <a:defRPr/>
            </a:pPr>
            <a:r>
              <a:rPr lang="en-GB" sz="1200" dirty="0">
                <a:latin typeface="Courier New" pitchFamily="49" charset="0"/>
                <a:cs typeface="Courier New" pitchFamily="49" charset="0"/>
              </a:rPr>
              <a:t>           1 |       111         394      76.79186          262        550</a:t>
            </a:r>
          </a:p>
          <a:p>
            <a:pPr eaLnBrk="1" fontAlgn="auto" hangingPunct="1">
              <a:spcAft>
                <a:spcPts val="0"/>
              </a:spcAft>
              <a:defRPr/>
            </a:pPr>
            <a:r>
              <a:rPr lang="en-GB" sz="1200" dirty="0">
                <a:latin typeface="Courier New" pitchFamily="49" charset="0"/>
                <a:cs typeface="Courier New" pitchFamily="49" charset="0"/>
              </a:rPr>
              <a:t>-------------+-------------------------------------------------------------</a:t>
            </a:r>
          </a:p>
          <a:p>
            <a:pPr eaLnBrk="1" fontAlgn="auto" hangingPunct="1">
              <a:spcAft>
                <a:spcPts val="0"/>
              </a:spcAft>
              <a:defRPr/>
            </a:pPr>
            <a:r>
              <a:rPr lang="en-GB" sz="1200" dirty="0">
                <a:latin typeface="Courier New" pitchFamily="49" charset="0"/>
                <a:cs typeface="Courier New" pitchFamily="49" charset="0"/>
              </a:rPr>
              <a:t>       total |       238         504      33.24933          394        550</a:t>
            </a:r>
          </a:p>
          <a:p>
            <a:pPr eaLnBrk="1" fontAlgn="auto" hangingPunct="1">
              <a:spcAft>
                <a:spcPts val="0"/>
              </a:spcAft>
              <a:defRPr/>
            </a:pPr>
            <a:endParaRPr lang="en-GB" sz="1200" dirty="0">
              <a:latin typeface="Courier New" pitchFamily="49" charset="0"/>
              <a:cs typeface="Courier New" pitchFamily="49" charset="0"/>
            </a:endParaRPr>
          </a:p>
        </p:txBody>
      </p:sp>
      <p:sp>
        <p:nvSpPr>
          <p:cNvPr id="77828"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29DE54FB-058C-4D57-AB9A-784D1DB3C182}" type="slidenum">
              <a:rPr lang="en-GB" altLang="en-US" sz="1200">
                <a:latin typeface="Arial" panose="020B0604020202020204" pitchFamily="34" charset="0"/>
                <a:cs typeface="Arial" panose="020B0604020202020204" pitchFamily="34" charset="0"/>
              </a:rPr>
              <a:pPr fontAlgn="base">
                <a:spcBef>
                  <a:spcPct val="0"/>
                </a:spcBef>
                <a:spcAft>
                  <a:spcPct val="0"/>
                </a:spcAft>
              </a:pPr>
              <a:t>73</a:t>
            </a:fld>
            <a:endParaRPr lang="en-GB" altLang="en-US" sz="1200">
              <a:latin typeface="Arial" panose="020B0604020202020204" pitchFamily="34" charset="0"/>
              <a:cs typeface="Arial" panose="020B0604020202020204" pitchFamily="34"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p:cNvSpPr>
            <a:spLocks noGrp="1" noChangeArrowheads="1"/>
          </p:cNvSpPr>
          <p:nvPr>
            <p:ph type="title"/>
          </p:nvPr>
        </p:nvSpPr>
        <p:spPr>
          <a:xfrm>
            <a:off x="1981200" y="274639"/>
            <a:ext cx="8229600" cy="777875"/>
          </a:xfrm>
        </p:spPr>
        <p:txBody>
          <a:bodyPr/>
          <a:lstStyle/>
          <a:p>
            <a:pPr eaLnBrk="1" hangingPunct="1"/>
            <a:r>
              <a:rPr lang="en-GB" altLang="en-GB" sz="3200"/>
              <a:t>Practical exercise</a:t>
            </a:r>
          </a:p>
        </p:txBody>
      </p:sp>
      <p:sp>
        <p:nvSpPr>
          <p:cNvPr id="78851" name="Content Placeholder 2"/>
          <p:cNvSpPr>
            <a:spLocks noGrp="1" noChangeArrowheads="1"/>
          </p:cNvSpPr>
          <p:nvPr>
            <p:ph idx="1"/>
          </p:nvPr>
        </p:nvSpPr>
        <p:spPr>
          <a:xfrm>
            <a:off x="1703388" y="1196975"/>
            <a:ext cx="8507412" cy="4929188"/>
          </a:xfrm>
        </p:spPr>
        <p:txBody>
          <a:bodyPr/>
          <a:lstStyle/>
          <a:p>
            <a:pPr eaLnBrk="1" hangingPunct="1"/>
            <a:r>
              <a:rPr lang="en-GB" altLang="en-GB"/>
              <a:t>Different clinics</a:t>
            </a:r>
          </a:p>
          <a:p>
            <a:pPr eaLnBrk="1" hangingPunct="1"/>
            <a:r>
              <a:rPr lang="en-GB" altLang="en-GB" sz="2000"/>
              <a:t> stci, by(clinic)</a:t>
            </a:r>
          </a:p>
          <a:p>
            <a:pPr eaLnBrk="1" hangingPunct="1"/>
            <a:endParaRPr lang="en-GB" altLang="en-GB" sz="2000"/>
          </a:p>
          <a:p>
            <a:pPr eaLnBrk="1" hangingPunct="1"/>
            <a:r>
              <a:rPr lang="en-GB" altLang="en-GB" sz="1200">
                <a:latin typeface="Courier New" panose="02070309020205020404" pitchFamily="49" charset="0"/>
                <a:cs typeface="Courier New" panose="02070309020205020404" pitchFamily="49" charset="0"/>
              </a:rPr>
              <a:t>         failure _d:  status</a:t>
            </a:r>
          </a:p>
          <a:p>
            <a:pPr eaLnBrk="1" hangingPunct="1"/>
            <a:r>
              <a:rPr lang="en-GB" altLang="en-GB" sz="1200">
                <a:latin typeface="Courier New" panose="02070309020205020404" pitchFamily="49" charset="0"/>
                <a:cs typeface="Courier New" panose="02070309020205020404" pitchFamily="49" charset="0"/>
              </a:rPr>
              <a:t>   analysis time _t:  time</a:t>
            </a:r>
          </a:p>
          <a:p>
            <a:pPr eaLnBrk="1" hangingPunct="1"/>
            <a:endParaRPr lang="en-GB" altLang="en-GB" sz="1200">
              <a:latin typeface="Courier New" panose="02070309020205020404" pitchFamily="49" charset="0"/>
              <a:cs typeface="Courier New" panose="02070309020205020404" pitchFamily="49" charset="0"/>
            </a:endParaRPr>
          </a:p>
          <a:p>
            <a:pPr eaLnBrk="1" hangingPunct="1"/>
            <a:r>
              <a:rPr lang="en-GB" altLang="en-GB" sz="1200">
                <a:latin typeface="Courier New" panose="02070309020205020404" pitchFamily="49" charset="0"/>
                <a:cs typeface="Courier New" panose="02070309020205020404" pitchFamily="49" charset="0"/>
              </a:rPr>
              <a:t>             |    no. of </a:t>
            </a:r>
          </a:p>
          <a:p>
            <a:pPr eaLnBrk="1" hangingPunct="1"/>
            <a:r>
              <a:rPr lang="en-GB" altLang="en-GB" sz="1200">
                <a:latin typeface="Courier New" panose="02070309020205020404" pitchFamily="49" charset="0"/>
                <a:cs typeface="Courier New" panose="02070309020205020404" pitchFamily="49" charset="0"/>
              </a:rPr>
              <a:t>clinic       |  subjects         50%     Std. Err.     [95% Conf. Interval]</a:t>
            </a:r>
          </a:p>
          <a:p>
            <a:pPr eaLnBrk="1" hangingPunct="1"/>
            <a:r>
              <a:rPr lang="en-GB" altLang="en-GB" sz="1200">
                <a:latin typeface="Courier New" panose="02070309020205020404" pitchFamily="49" charset="0"/>
                <a:cs typeface="Courier New" panose="02070309020205020404" pitchFamily="49" charset="0"/>
              </a:rPr>
              <a:t>-------------+-------------------------------------------------------------</a:t>
            </a:r>
          </a:p>
          <a:p>
            <a:pPr eaLnBrk="1" hangingPunct="1"/>
            <a:r>
              <a:rPr lang="en-GB" altLang="en-GB" sz="1200">
                <a:latin typeface="Courier New" panose="02070309020205020404" pitchFamily="49" charset="0"/>
                <a:cs typeface="Courier New" panose="02070309020205020404" pitchFamily="49" charset="0"/>
              </a:rPr>
              <a:t>           1 |       163         428      48.58948          341        512</a:t>
            </a:r>
          </a:p>
          <a:p>
            <a:pPr eaLnBrk="1" hangingPunct="1"/>
            <a:r>
              <a:rPr lang="en-GB" altLang="en-GB" sz="1200">
                <a:latin typeface="Courier New" panose="02070309020205020404" pitchFamily="49" charset="0"/>
                <a:cs typeface="Courier New" panose="02070309020205020404" pitchFamily="49" charset="0"/>
              </a:rPr>
              <a:t>           2 |        75           .             .          661          .</a:t>
            </a:r>
          </a:p>
          <a:p>
            <a:pPr eaLnBrk="1" hangingPunct="1"/>
            <a:r>
              <a:rPr lang="en-GB" altLang="en-GB" sz="1200">
                <a:latin typeface="Courier New" panose="02070309020205020404" pitchFamily="49" charset="0"/>
                <a:cs typeface="Courier New" panose="02070309020205020404" pitchFamily="49" charset="0"/>
              </a:rPr>
              <a:t>-------------+-------------------------------------------------------------</a:t>
            </a:r>
          </a:p>
          <a:p>
            <a:pPr eaLnBrk="1" hangingPunct="1"/>
            <a:r>
              <a:rPr lang="en-GB" altLang="en-GB" sz="1200">
                <a:latin typeface="Courier New" panose="02070309020205020404" pitchFamily="49" charset="0"/>
                <a:cs typeface="Courier New" panose="02070309020205020404" pitchFamily="49" charset="0"/>
              </a:rPr>
              <a:t>       total |       238         504      33.24933          394        550</a:t>
            </a:r>
          </a:p>
          <a:p>
            <a:pPr eaLnBrk="1" hangingPunct="1"/>
            <a:endParaRPr lang="en-GB" altLang="en-GB" sz="1200">
              <a:latin typeface="Courier New" panose="02070309020205020404" pitchFamily="49" charset="0"/>
              <a:cs typeface="Courier New" panose="02070309020205020404" pitchFamily="49" charset="0"/>
            </a:endParaRPr>
          </a:p>
          <a:p>
            <a:pPr eaLnBrk="1" hangingPunct="1"/>
            <a:endParaRPr lang="en-GB" altLang="en-GB" sz="2000"/>
          </a:p>
        </p:txBody>
      </p:sp>
      <p:sp>
        <p:nvSpPr>
          <p:cNvPr id="78852"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1FA6C909-E893-46B3-B42F-8AB193900263}" type="slidenum">
              <a:rPr lang="en-GB" altLang="en-US" sz="1200">
                <a:latin typeface="Arial" panose="020B0604020202020204" pitchFamily="34" charset="0"/>
                <a:cs typeface="Arial" panose="020B0604020202020204" pitchFamily="34" charset="0"/>
              </a:rPr>
              <a:pPr fontAlgn="base">
                <a:spcBef>
                  <a:spcPct val="0"/>
                </a:spcBef>
                <a:spcAft>
                  <a:spcPct val="0"/>
                </a:spcAft>
              </a:pPr>
              <a:t>74</a:t>
            </a:fld>
            <a:endParaRPr lang="en-GB" altLang="en-US" sz="1200">
              <a:latin typeface="Arial" panose="020B0604020202020204" pitchFamily="34" charset="0"/>
              <a:cs typeface="Arial" panose="020B0604020202020204" pitchFamily="34"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1"/>
          <p:cNvSpPr>
            <a:spLocks noGrp="1" noChangeArrowheads="1"/>
          </p:cNvSpPr>
          <p:nvPr>
            <p:ph type="title"/>
          </p:nvPr>
        </p:nvSpPr>
        <p:spPr>
          <a:xfrm>
            <a:off x="1981200" y="274639"/>
            <a:ext cx="8229600" cy="706437"/>
          </a:xfrm>
        </p:spPr>
        <p:txBody>
          <a:bodyPr/>
          <a:lstStyle/>
          <a:p>
            <a:pPr eaLnBrk="1" hangingPunct="1"/>
            <a:r>
              <a:rPr lang="en-GB" altLang="en-GB" sz="3200"/>
              <a:t>Practical exercise</a:t>
            </a:r>
          </a:p>
        </p:txBody>
      </p:sp>
      <p:sp>
        <p:nvSpPr>
          <p:cNvPr id="79875" name="Content Placeholder 2"/>
          <p:cNvSpPr>
            <a:spLocks noGrp="1" noChangeArrowheads="1"/>
          </p:cNvSpPr>
          <p:nvPr>
            <p:ph idx="1"/>
          </p:nvPr>
        </p:nvSpPr>
        <p:spPr>
          <a:xfrm>
            <a:off x="1703389" y="1196975"/>
            <a:ext cx="8713787" cy="4929188"/>
          </a:xfrm>
        </p:spPr>
        <p:txBody>
          <a:bodyPr/>
          <a:lstStyle/>
          <a:p>
            <a:pPr eaLnBrk="1" hangingPunct="1"/>
            <a:r>
              <a:rPr lang="en-GB" altLang="en-GB"/>
              <a:t>Kaplan-Meier for different prisons</a:t>
            </a:r>
          </a:p>
          <a:p>
            <a:pPr eaLnBrk="1" hangingPunct="1"/>
            <a:endParaRPr lang="en-GB" altLang="en-GB"/>
          </a:p>
        </p:txBody>
      </p:sp>
      <p:sp>
        <p:nvSpPr>
          <p:cNvPr id="7987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DE0BB1FA-C815-490E-8EEA-E06CE360AA52}" type="slidenum">
              <a:rPr lang="en-GB" altLang="en-US" sz="1200">
                <a:latin typeface="Arial" panose="020B0604020202020204" pitchFamily="34" charset="0"/>
                <a:cs typeface="Arial" panose="020B0604020202020204" pitchFamily="34" charset="0"/>
              </a:rPr>
              <a:pPr fontAlgn="base">
                <a:spcBef>
                  <a:spcPct val="0"/>
                </a:spcBef>
                <a:spcAft>
                  <a:spcPct val="0"/>
                </a:spcAft>
              </a:pPr>
              <a:t>75</a:t>
            </a:fld>
            <a:endParaRPr lang="en-GB" altLang="en-US" sz="1200">
              <a:latin typeface="Arial" panose="020B0604020202020204" pitchFamily="34" charset="0"/>
              <a:cs typeface="Arial" panose="020B0604020202020204" pitchFamily="34" charset="0"/>
            </a:endParaRPr>
          </a:p>
        </p:txBody>
      </p:sp>
      <p:pic>
        <p:nvPicPr>
          <p:cNvPr id="79877"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27351" y="1844676"/>
            <a:ext cx="5116513"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noChangeArrowheads="1"/>
          </p:cNvSpPr>
          <p:nvPr>
            <p:ph type="title"/>
          </p:nvPr>
        </p:nvSpPr>
        <p:spPr>
          <a:xfrm>
            <a:off x="1981200" y="274639"/>
            <a:ext cx="8229600" cy="706437"/>
          </a:xfrm>
        </p:spPr>
        <p:txBody>
          <a:bodyPr/>
          <a:lstStyle/>
          <a:p>
            <a:pPr eaLnBrk="1" hangingPunct="1"/>
            <a:r>
              <a:rPr lang="en-GB" altLang="en-GB" sz="3200"/>
              <a:t>Practical exercise</a:t>
            </a:r>
          </a:p>
        </p:txBody>
      </p:sp>
      <p:sp>
        <p:nvSpPr>
          <p:cNvPr id="80899" name="Content Placeholder 2"/>
          <p:cNvSpPr>
            <a:spLocks noGrp="1" noChangeArrowheads="1"/>
          </p:cNvSpPr>
          <p:nvPr>
            <p:ph idx="1"/>
          </p:nvPr>
        </p:nvSpPr>
        <p:spPr>
          <a:xfrm>
            <a:off x="1703389" y="1196975"/>
            <a:ext cx="8713787" cy="4929188"/>
          </a:xfrm>
        </p:spPr>
        <p:txBody>
          <a:bodyPr/>
          <a:lstStyle/>
          <a:p>
            <a:pPr eaLnBrk="1" hangingPunct="1"/>
            <a:r>
              <a:rPr lang="en-GB" altLang="en-GB"/>
              <a:t>Kaplan-Meier for different clinics</a:t>
            </a:r>
          </a:p>
          <a:p>
            <a:pPr eaLnBrk="1" hangingPunct="1"/>
            <a:endParaRPr lang="en-GB" altLang="en-GB"/>
          </a:p>
        </p:txBody>
      </p:sp>
      <p:sp>
        <p:nvSpPr>
          <p:cNvPr id="8090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6CE5CDAC-B004-4F07-8D49-93939890BA40}" type="slidenum">
              <a:rPr lang="en-GB" altLang="en-US" sz="1200">
                <a:latin typeface="Arial" panose="020B0604020202020204" pitchFamily="34" charset="0"/>
                <a:cs typeface="Arial" panose="020B0604020202020204" pitchFamily="34" charset="0"/>
              </a:rPr>
              <a:pPr fontAlgn="base">
                <a:spcBef>
                  <a:spcPct val="0"/>
                </a:spcBef>
                <a:spcAft>
                  <a:spcPct val="0"/>
                </a:spcAft>
              </a:pPr>
              <a:t>76</a:t>
            </a:fld>
            <a:endParaRPr lang="en-GB" altLang="en-US" sz="1200">
              <a:latin typeface="Arial" panose="020B0604020202020204" pitchFamily="34" charset="0"/>
              <a:cs typeface="Arial" panose="020B0604020202020204" pitchFamily="34" charset="0"/>
            </a:endParaRPr>
          </a:p>
        </p:txBody>
      </p:sp>
      <p:pic>
        <p:nvPicPr>
          <p:cNvPr id="80901"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27351" y="1844676"/>
            <a:ext cx="5116513"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65929-1E45-410C-A998-F06BFFAE88BD}"/>
              </a:ext>
            </a:extLst>
          </p:cNvPr>
          <p:cNvSpPr>
            <a:spLocks noGrp="1"/>
          </p:cNvSpPr>
          <p:nvPr>
            <p:ph type="title"/>
          </p:nvPr>
        </p:nvSpPr>
        <p:spPr>
          <a:xfrm>
            <a:off x="1981200" y="274638"/>
            <a:ext cx="8229600" cy="850900"/>
          </a:xfrm>
        </p:spPr>
        <p:txBody>
          <a:bodyPr rtlCol="0">
            <a:normAutofit fontScale="90000"/>
          </a:bodyPr>
          <a:lstStyle/>
          <a:p>
            <a:pPr eaLnBrk="1" fontAlgn="auto" hangingPunct="1">
              <a:spcAft>
                <a:spcPts val="0"/>
              </a:spcAft>
              <a:defRPr/>
            </a:pPr>
            <a:r>
              <a:rPr lang="en-GB" sz="3200" dirty="0"/>
              <a:t>Practical exercise</a:t>
            </a:r>
            <a:br>
              <a:rPr lang="en-GB" sz="3200" dirty="0"/>
            </a:br>
            <a:r>
              <a:rPr lang="en-GB" sz="3200" dirty="0"/>
              <a:t>Log-rank test, prisons</a:t>
            </a:r>
          </a:p>
        </p:txBody>
      </p:sp>
      <p:sp>
        <p:nvSpPr>
          <p:cNvPr id="3" name="Content Placeholder 2">
            <a:extLst>
              <a:ext uri="{FF2B5EF4-FFF2-40B4-BE49-F238E27FC236}">
                <a16:creationId xmlns:a16="http://schemas.microsoft.com/office/drawing/2014/main" id="{EDEA42B1-491A-4BD3-8E80-E84784881AB1}"/>
              </a:ext>
            </a:extLst>
          </p:cNvPr>
          <p:cNvSpPr>
            <a:spLocks noGrp="1"/>
          </p:cNvSpPr>
          <p:nvPr>
            <p:ph idx="1"/>
          </p:nvPr>
        </p:nvSpPr>
        <p:spPr>
          <a:xfrm>
            <a:off x="1981200" y="1600201"/>
            <a:ext cx="8229600" cy="4924425"/>
          </a:xfrm>
        </p:spPr>
        <p:txBody>
          <a:bodyPr rtlCol="0">
            <a:normAutofit fontScale="92500" lnSpcReduction="20000"/>
          </a:bodyPr>
          <a:lstStyle/>
          <a:p>
            <a:pPr eaLnBrk="1" fontAlgn="auto" hangingPunct="1">
              <a:spcAft>
                <a:spcPts val="0"/>
              </a:spcAft>
              <a:defRPr/>
            </a:pPr>
            <a:r>
              <a:rPr lang="en-GB" sz="1400" dirty="0" err="1">
                <a:latin typeface="Courier New" pitchFamily="49" charset="0"/>
                <a:cs typeface="Courier New" pitchFamily="49" charset="0"/>
              </a:rPr>
              <a:t>sts</a:t>
            </a:r>
            <a:r>
              <a:rPr lang="en-GB" sz="1400" dirty="0">
                <a:latin typeface="Courier New" pitchFamily="49" charset="0"/>
                <a:cs typeface="Courier New" pitchFamily="49" charset="0"/>
              </a:rPr>
              <a:t> test prison</a:t>
            </a:r>
          </a:p>
          <a:p>
            <a:pPr eaLnBrk="1" fontAlgn="auto" hangingPunct="1">
              <a:spcAft>
                <a:spcPts val="0"/>
              </a:spcAft>
              <a:defRPr/>
            </a:pPr>
            <a:endParaRPr lang="en-GB" sz="1400" dirty="0">
              <a:latin typeface="Courier New" pitchFamily="49" charset="0"/>
              <a:cs typeface="Courier New" pitchFamily="49" charset="0"/>
            </a:endParaRPr>
          </a:p>
          <a:p>
            <a:pPr eaLnBrk="1" fontAlgn="auto" hangingPunct="1">
              <a:spcAft>
                <a:spcPts val="0"/>
              </a:spcAft>
              <a:defRPr/>
            </a:pPr>
            <a:r>
              <a:rPr lang="en-GB" sz="1400" dirty="0">
                <a:latin typeface="Courier New" pitchFamily="49" charset="0"/>
                <a:cs typeface="Courier New" pitchFamily="49" charset="0"/>
              </a:rPr>
              <a:t>         failure _d:  status</a:t>
            </a:r>
          </a:p>
          <a:p>
            <a:pPr eaLnBrk="1" fontAlgn="auto" hangingPunct="1">
              <a:spcAft>
                <a:spcPts val="0"/>
              </a:spcAft>
              <a:defRPr/>
            </a:pPr>
            <a:r>
              <a:rPr lang="en-GB" sz="1400" dirty="0">
                <a:latin typeface="Courier New" pitchFamily="49" charset="0"/>
                <a:cs typeface="Courier New" pitchFamily="49" charset="0"/>
              </a:rPr>
              <a:t>   analysis time _t:  time</a:t>
            </a:r>
          </a:p>
          <a:p>
            <a:pPr eaLnBrk="1" fontAlgn="auto" hangingPunct="1">
              <a:spcAft>
                <a:spcPts val="0"/>
              </a:spcAft>
              <a:defRPr/>
            </a:pPr>
            <a:endParaRPr lang="en-GB" sz="1400" dirty="0">
              <a:latin typeface="Courier New" pitchFamily="49" charset="0"/>
              <a:cs typeface="Courier New" pitchFamily="49" charset="0"/>
            </a:endParaRPr>
          </a:p>
          <a:p>
            <a:pPr eaLnBrk="1" fontAlgn="auto" hangingPunct="1">
              <a:spcAft>
                <a:spcPts val="0"/>
              </a:spcAft>
              <a:defRPr/>
            </a:pPr>
            <a:endParaRPr lang="en-GB" sz="1400" dirty="0">
              <a:latin typeface="Courier New" pitchFamily="49" charset="0"/>
              <a:cs typeface="Courier New" pitchFamily="49" charset="0"/>
            </a:endParaRPr>
          </a:p>
          <a:p>
            <a:pPr eaLnBrk="1" fontAlgn="auto" hangingPunct="1">
              <a:spcAft>
                <a:spcPts val="0"/>
              </a:spcAft>
              <a:defRPr/>
            </a:pPr>
            <a:r>
              <a:rPr lang="en-GB" sz="1400" dirty="0">
                <a:latin typeface="Courier New" pitchFamily="49" charset="0"/>
                <a:cs typeface="Courier New" pitchFamily="49" charset="0"/>
              </a:rPr>
              <a:t>Log-rank test for equality of survivor functions</a:t>
            </a:r>
          </a:p>
          <a:p>
            <a:pPr eaLnBrk="1" fontAlgn="auto" hangingPunct="1">
              <a:spcAft>
                <a:spcPts val="0"/>
              </a:spcAft>
              <a:defRPr/>
            </a:pPr>
            <a:endParaRPr lang="en-GB" sz="1400" dirty="0">
              <a:latin typeface="Courier New" pitchFamily="49" charset="0"/>
              <a:cs typeface="Courier New" pitchFamily="49" charset="0"/>
            </a:endParaRPr>
          </a:p>
          <a:p>
            <a:pPr eaLnBrk="1" fontAlgn="auto" hangingPunct="1">
              <a:spcAft>
                <a:spcPts val="0"/>
              </a:spcAft>
              <a:defRPr/>
            </a:pPr>
            <a:r>
              <a:rPr lang="en-GB" sz="1400" dirty="0">
                <a:latin typeface="Courier New" pitchFamily="49" charset="0"/>
                <a:cs typeface="Courier New" pitchFamily="49" charset="0"/>
              </a:rPr>
              <a:t>       |   Events         </a:t>
            </a:r>
            <a:r>
              <a:rPr lang="en-GB" sz="1400" dirty="0" err="1">
                <a:latin typeface="Courier New" pitchFamily="49" charset="0"/>
                <a:cs typeface="Courier New" pitchFamily="49" charset="0"/>
              </a:rPr>
              <a:t>Events</a:t>
            </a:r>
            <a:endParaRPr lang="en-GB" sz="1400" dirty="0">
              <a:latin typeface="Courier New" pitchFamily="49" charset="0"/>
              <a:cs typeface="Courier New" pitchFamily="49" charset="0"/>
            </a:endParaRPr>
          </a:p>
          <a:p>
            <a:pPr eaLnBrk="1" fontAlgn="auto" hangingPunct="1">
              <a:spcAft>
                <a:spcPts val="0"/>
              </a:spcAft>
              <a:defRPr/>
            </a:pPr>
            <a:r>
              <a:rPr lang="en-GB" sz="1400" dirty="0">
                <a:latin typeface="Courier New" pitchFamily="49" charset="0"/>
                <a:cs typeface="Courier New" pitchFamily="49" charset="0"/>
              </a:rPr>
              <a:t>prison |  observed       expected</a:t>
            </a:r>
          </a:p>
          <a:p>
            <a:pPr eaLnBrk="1" fontAlgn="auto" hangingPunct="1">
              <a:spcAft>
                <a:spcPts val="0"/>
              </a:spcAft>
              <a:defRPr/>
            </a:pPr>
            <a:r>
              <a:rPr lang="en-GB" sz="1400" dirty="0">
                <a:latin typeface="Courier New" pitchFamily="49" charset="0"/>
                <a:cs typeface="Courier New" pitchFamily="49" charset="0"/>
              </a:rPr>
              <a:t>-------+-------------------------</a:t>
            </a:r>
          </a:p>
          <a:p>
            <a:pPr eaLnBrk="1" fontAlgn="auto" hangingPunct="1">
              <a:spcAft>
                <a:spcPts val="0"/>
              </a:spcAft>
              <a:defRPr/>
            </a:pPr>
            <a:r>
              <a:rPr lang="en-GB" sz="1400" dirty="0">
                <a:latin typeface="Courier New" pitchFamily="49" charset="0"/>
                <a:cs typeface="Courier New" pitchFamily="49" charset="0"/>
              </a:rPr>
              <a:t>0      |        81          87.75</a:t>
            </a:r>
          </a:p>
          <a:p>
            <a:pPr eaLnBrk="1" fontAlgn="auto" hangingPunct="1">
              <a:spcAft>
                <a:spcPts val="0"/>
              </a:spcAft>
              <a:defRPr/>
            </a:pPr>
            <a:r>
              <a:rPr lang="en-GB" sz="1400" dirty="0">
                <a:latin typeface="Courier New" pitchFamily="49" charset="0"/>
                <a:cs typeface="Courier New" pitchFamily="49" charset="0"/>
              </a:rPr>
              <a:t>1      |        69          62.25</a:t>
            </a:r>
          </a:p>
          <a:p>
            <a:pPr eaLnBrk="1" fontAlgn="auto" hangingPunct="1">
              <a:spcAft>
                <a:spcPts val="0"/>
              </a:spcAft>
              <a:defRPr/>
            </a:pPr>
            <a:r>
              <a:rPr lang="en-GB" sz="1400" dirty="0">
                <a:latin typeface="Courier New" pitchFamily="49" charset="0"/>
                <a:cs typeface="Courier New" pitchFamily="49" charset="0"/>
              </a:rPr>
              <a:t>-------+-------------------------</a:t>
            </a:r>
          </a:p>
          <a:p>
            <a:pPr eaLnBrk="1" fontAlgn="auto" hangingPunct="1">
              <a:spcAft>
                <a:spcPts val="0"/>
              </a:spcAft>
              <a:defRPr/>
            </a:pPr>
            <a:r>
              <a:rPr lang="en-GB" sz="1400" dirty="0">
                <a:latin typeface="Courier New" pitchFamily="49" charset="0"/>
                <a:cs typeface="Courier New" pitchFamily="49" charset="0"/>
              </a:rPr>
              <a:t>Total  |       150         150.00</a:t>
            </a:r>
          </a:p>
          <a:p>
            <a:pPr eaLnBrk="1" fontAlgn="auto" hangingPunct="1">
              <a:spcAft>
                <a:spcPts val="0"/>
              </a:spcAft>
              <a:defRPr/>
            </a:pPr>
            <a:endParaRPr lang="en-GB" sz="1400" dirty="0">
              <a:latin typeface="Courier New" pitchFamily="49" charset="0"/>
              <a:cs typeface="Courier New" pitchFamily="49" charset="0"/>
            </a:endParaRPr>
          </a:p>
          <a:p>
            <a:pPr eaLnBrk="1" fontAlgn="auto" hangingPunct="1">
              <a:spcAft>
                <a:spcPts val="0"/>
              </a:spcAft>
              <a:defRPr/>
            </a:pPr>
            <a:r>
              <a:rPr lang="en-GB" sz="1400" dirty="0">
                <a:latin typeface="Courier New" pitchFamily="49" charset="0"/>
                <a:cs typeface="Courier New" pitchFamily="49" charset="0"/>
              </a:rPr>
              <a:t>             chi2(1) =       1.26</a:t>
            </a:r>
          </a:p>
          <a:p>
            <a:pPr eaLnBrk="1" fontAlgn="auto" hangingPunct="1">
              <a:spcAft>
                <a:spcPts val="0"/>
              </a:spcAft>
              <a:defRPr/>
            </a:pPr>
            <a:r>
              <a:rPr lang="en-GB" sz="1400" dirty="0">
                <a:latin typeface="Courier New" pitchFamily="49" charset="0"/>
                <a:cs typeface="Courier New" pitchFamily="49" charset="0"/>
              </a:rPr>
              <a:t>             </a:t>
            </a:r>
            <a:r>
              <a:rPr lang="en-GB" sz="1400" dirty="0" err="1">
                <a:latin typeface="Courier New" pitchFamily="49" charset="0"/>
                <a:cs typeface="Courier New" pitchFamily="49" charset="0"/>
              </a:rPr>
              <a:t>Pr</a:t>
            </a:r>
            <a:r>
              <a:rPr lang="en-GB" sz="1400" dirty="0">
                <a:latin typeface="Courier New" pitchFamily="49" charset="0"/>
                <a:cs typeface="Courier New" pitchFamily="49" charset="0"/>
              </a:rPr>
              <a:t>&gt;chi2 =     0.2617</a:t>
            </a:r>
          </a:p>
          <a:p>
            <a:pPr eaLnBrk="1" fontAlgn="auto" hangingPunct="1">
              <a:spcAft>
                <a:spcPts val="0"/>
              </a:spcAft>
              <a:defRPr/>
            </a:pPr>
            <a:endParaRPr lang="en-GB" sz="1400" dirty="0">
              <a:latin typeface="Courier New" pitchFamily="49" charset="0"/>
              <a:cs typeface="Courier New" pitchFamily="49" charset="0"/>
            </a:endParaRPr>
          </a:p>
        </p:txBody>
      </p:sp>
      <p:sp>
        <p:nvSpPr>
          <p:cNvPr id="8192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3315DEB1-F4EC-44F2-9BAE-3ECD8A2EE3B6}" type="slidenum">
              <a:rPr lang="en-GB" altLang="en-US" sz="1200">
                <a:latin typeface="Arial" panose="020B0604020202020204" pitchFamily="34" charset="0"/>
                <a:cs typeface="Arial" panose="020B0604020202020204" pitchFamily="34" charset="0"/>
              </a:rPr>
              <a:pPr fontAlgn="base">
                <a:spcBef>
                  <a:spcPct val="0"/>
                </a:spcBef>
                <a:spcAft>
                  <a:spcPct val="0"/>
                </a:spcAft>
              </a:pPr>
              <a:t>77</a:t>
            </a:fld>
            <a:endParaRPr lang="en-GB" altLang="en-US" sz="1200">
              <a:latin typeface="Arial" panose="020B0604020202020204" pitchFamily="34" charset="0"/>
              <a:cs typeface="Arial" panose="020B0604020202020204" pitchFamily="34"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6219D-9AF3-481B-925B-F5EF7A2D3E99}"/>
              </a:ext>
            </a:extLst>
          </p:cNvPr>
          <p:cNvSpPr>
            <a:spLocks noGrp="1"/>
          </p:cNvSpPr>
          <p:nvPr>
            <p:ph type="title"/>
          </p:nvPr>
        </p:nvSpPr>
        <p:spPr>
          <a:xfrm>
            <a:off x="1981200" y="274639"/>
            <a:ext cx="8229600" cy="922337"/>
          </a:xfrm>
        </p:spPr>
        <p:txBody>
          <a:bodyPr rtlCol="0">
            <a:normAutofit fontScale="90000"/>
          </a:bodyPr>
          <a:lstStyle/>
          <a:p>
            <a:pPr eaLnBrk="1" fontAlgn="auto" hangingPunct="1">
              <a:spcAft>
                <a:spcPts val="0"/>
              </a:spcAft>
              <a:defRPr/>
            </a:pPr>
            <a:r>
              <a:rPr lang="en-GB" sz="3200" dirty="0"/>
              <a:t>Practical exercise</a:t>
            </a:r>
            <a:br>
              <a:rPr lang="en-GB" sz="3200" dirty="0"/>
            </a:br>
            <a:r>
              <a:rPr lang="en-GB" sz="3200" dirty="0"/>
              <a:t>Wilcoxon test, prisons</a:t>
            </a:r>
          </a:p>
        </p:txBody>
      </p:sp>
      <p:sp>
        <p:nvSpPr>
          <p:cNvPr id="3" name="Content Placeholder 2">
            <a:extLst>
              <a:ext uri="{FF2B5EF4-FFF2-40B4-BE49-F238E27FC236}">
                <a16:creationId xmlns:a16="http://schemas.microsoft.com/office/drawing/2014/main" id="{0BEAE9F6-15EF-4354-BE3A-04647673B3F9}"/>
              </a:ext>
            </a:extLst>
          </p:cNvPr>
          <p:cNvSpPr>
            <a:spLocks noGrp="1"/>
          </p:cNvSpPr>
          <p:nvPr>
            <p:ph idx="1"/>
          </p:nvPr>
        </p:nvSpPr>
        <p:spPr>
          <a:xfrm>
            <a:off x="2152650" y="1858964"/>
            <a:ext cx="7886700" cy="4351337"/>
          </a:xfrm>
        </p:spPr>
        <p:txBody>
          <a:bodyPr rtlCol="0">
            <a:normAutofit fontScale="85000" lnSpcReduction="20000"/>
          </a:bodyPr>
          <a:lstStyle/>
          <a:p>
            <a:pPr eaLnBrk="1" fontAlgn="auto" hangingPunct="1">
              <a:spcAft>
                <a:spcPts val="0"/>
              </a:spcAft>
              <a:defRPr/>
            </a:pPr>
            <a:r>
              <a:rPr lang="en-GB" dirty="0">
                <a:cs typeface="+mn-cs"/>
              </a:rPr>
              <a:t> </a:t>
            </a:r>
            <a:r>
              <a:rPr lang="en-GB" sz="1200" dirty="0" err="1">
                <a:latin typeface="Courier New" pitchFamily="49" charset="0"/>
                <a:cs typeface="Courier New" pitchFamily="49" charset="0"/>
              </a:rPr>
              <a:t>sts</a:t>
            </a:r>
            <a:r>
              <a:rPr lang="en-GB" sz="1200" dirty="0">
                <a:latin typeface="Courier New" pitchFamily="49" charset="0"/>
                <a:cs typeface="Courier New" pitchFamily="49" charset="0"/>
              </a:rPr>
              <a:t> test prison, </a:t>
            </a:r>
            <a:r>
              <a:rPr lang="en-GB" sz="1200" dirty="0" err="1">
                <a:latin typeface="Courier New" pitchFamily="49" charset="0"/>
                <a:cs typeface="Courier New" pitchFamily="49" charset="0"/>
              </a:rPr>
              <a:t>wilcoxon</a:t>
            </a:r>
            <a:endParaRPr lang="en-GB" sz="1200" dirty="0">
              <a:latin typeface="Courier New" pitchFamily="49" charset="0"/>
              <a:cs typeface="Courier New" pitchFamily="49" charset="0"/>
            </a:endParaRPr>
          </a:p>
          <a:p>
            <a:pPr eaLnBrk="1" fontAlgn="auto" hangingPunct="1">
              <a:spcAft>
                <a:spcPts val="0"/>
              </a:spcAft>
              <a:defRPr/>
            </a:pPr>
            <a:endParaRPr lang="en-GB" sz="1200" dirty="0">
              <a:latin typeface="Courier New" pitchFamily="49" charset="0"/>
              <a:cs typeface="Courier New" pitchFamily="49" charset="0"/>
            </a:endParaRPr>
          </a:p>
          <a:p>
            <a:pPr eaLnBrk="1" fontAlgn="auto" hangingPunct="1">
              <a:spcAft>
                <a:spcPts val="0"/>
              </a:spcAft>
              <a:defRPr/>
            </a:pPr>
            <a:r>
              <a:rPr lang="en-GB" sz="1200" dirty="0">
                <a:latin typeface="Courier New" pitchFamily="49" charset="0"/>
                <a:cs typeface="Courier New" pitchFamily="49" charset="0"/>
              </a:rPr>
              <a:t>         failure _d:  status</a:t>
            </a:r>
          </a:p>
          <a:p>
            <a:pPr eaLnBrk="1" fontAlgn="auto" hangingPunct="1">
              <a:spcAft>
                <a:spcPts val="0"/>
              </a:spcAft>
              <a:defRPr/>
            </a:pPr>
            <a:r>
              <a:rPr lang="en-GB" sz="1200" dirty="0">
                <a:latin typeface="Courier New" pitchFamily="49" charset="0"/>
                <a:cs typeface="Courier New" pitchFamily="49" charset="0"/>
              </a:rPr>
              <a:t>   analysis time _t:  time</a:t>
            </a:r>
          </a:p>
          <a:p>
            <a:pPr eaLnBrk="1" fontAlgn="auto" hangingPunct="1">
              <a:spcAft>
                <a:spcPts val="0"/>
              </a:spcAft>
              <a:defRPr/>
            </a:pPr>
            <a:endParaRPr lang="en-GB" sz="1200" dirty="0">
              <a:latin typeface="Courier New" pitchFamily="49" charset="0"/>
              <a:cs typeface="Courier New" pitchFamily="49" charset="0"/>
            </a:endParaRPr>
          </a:p>
          <a:p>
            <a:pPr eaLnBrk="1" fontAlgn="auto" hangingPunct="1">
              <a:spcAft>
                <a:spcPts val="0"/>
              </a:spcAft>
              <a:defRPr/>
            </a:pPr>
            <a:endParaRPr lang="en-GB" sz="1200" dirty="0">
              <a:cs typeface="+mn-cs"/>
            </a:endParaRPr>
          </a:p>
          <a:p>
            <a:pPr eaLnBrk="1" fontAlgn="auto" hangingPunct="1">
              <a:spcAft>
                <a:spcPts val="0"/>
              </a:spcAft>
              <a:defRPr/>
            </a:pPr>
            <a:r>
              <a:rPr lang="en-GB" sz="1200" dirty="0">
                <a:latin typeface="Courier New" pitchFamily="49" charset="0"/>
                <a:cs typeface="Courier New" pitchFamily="49" charset="0"/>
              </a:rPr>
              <a:t>Wilcoxon (</a:t>
            </a:r>
            <a:r>
              <a:rPr lang="en-GB" sz="1200" dirty="0" err="1">
                <a:latin typeface="Courier New" pitchFamily="49" charset="0"/>
                <a:cs typeface="Courier New" pitchFamily="49" charset="0"/>
              </a:rPr>
              <a:t>Breslow</a:t>
            </a:r>
            <a:r>
              <a:rPr lang="en-GB" sz="1200" dirty="0">
                <a:latin typeface="Courier New" pitchFamily="49" charset="0"/>
                <a:cs typeface="Courier New" pitchFamily="49" charset="0"/>
              </a:rPr>
              <a:t>) test for equality of survivor functions</a:t>
            </a:r>
          </a:p>
          <a:p>
            <a:pPr eaLnBrk="1" fontAlgn="auto" hangingPunct="1">
              <a:spcAft>
                <a:spcPts val="0"/>
              </a:spcAft>
              <a:defRPr/>
            </a:pPr>
            <a:endParaRPr lang="en-GB" sz="1200" dirty="0">
              <a:latin typeface="Courier New" pitchFamily="49" charset="0"/>
              <a:cs typeface="Courier New" pitchFamily="49" charset="0"/>
            </a:endParaRPr>
          </a:p>
          <a:p>
            <a:pPr eaLnBrk="1" fontAlgn="auto" hangingPunct="1">
              <a:spcAft>
                <a:spcPts val="0"/>
              </a:spcAft>
              <a:defRPr/>
            </a:pPr>
            <a:r>
              <a:rPr lang="en-GB" sz="1200" dirty="0">
                <a:latin typeface="Courier New" pitchFamily="49" charset="0"/>
                <a:cs typeface="Courier New" pitchFamily="49" charset="0"/>
              </a:rPr>
              <a:t>       |   Events         </a:t>
            </a:r>
            <a:r>
              <a:rPr lang="en-GB" sz="1200" dirty="0" err="1">
                <a:latin typeface="Courier New" pitchFamily="49" charset="0"/>
                <a:cs typeface="Courier New" pitchFamily="49" charset="0"/>
              </a:rPr>
              <a:t>Events</a:t>
            </a:r>
            <a:r>
              <a:rPr lang="en-GB" sz="1200" dirty="0">
                <a:latin typeface="Courier New" pitchFamily="49" charset="0"/>
                <a:cs typeface="Courier New" pitchFamily="49" charset="0"/>
              </a:rPr>
              <a:t>        Sum of</a:t>
            </a:r>
          </a:p>
          <a:p>
            <a:pPr eaLnBrk="1" fontAlgn="auto" hangingPunct="1">
              <a:spcAft>
                <a:spcPts val="0"/>
              </a:spcAft>
              <a:defRPr/>
            </a:pPr>
            <a:r>
              <a:rPr lang="en-GB" sz="1200" dirty="0">
                <a:latin typeface="Courier New" pitchFamily="49" charset="0"/>
                <a:cs typeface="Courier New" pitchFamily="49" charset="0"/>
              </a:rPr>
              <a:t>prison |  observed       expected        ranks</a:t>
            </a:r>
          </a:p>
          <a:p>
            <a:pPr eaLnBrk="1" fontAlgn="auto" hangingPunct="1">
              <a:spcAft>
                <a:spcPts val="0"/>
              </a:spcAft>
              <a:defRPr/>
            </a:pPr>
            <a:r>
              <a:rPr lang="en-GB" sz="1200" dirty="0">
                <a:latin typeface="Courier New" pitchFamily="49" charset="0"/>
                <a:cs typeface="Courier New" pitchFamily="49" charset="0"/>
              </a:rPr>
              <a:t>-------+--------------------------------------</a:t>
            </a:r>
          </a:p>
          <a:p>
            <a:pPr eaLnBrk="1" fontAlgn="auto" hangingPunct="1">
              <a:spcAft>
                <a:spcPts val="0"/>
              </a:spcAft>
              <a:defRPr/>
            </a:pPr>
            <a:r>
              <a:rPr lang="en-GB" sz="1200" dirty="0">
                <a:latin typeface="Courier New" pitchFamily="49" charset="0"/>
                <a:cs typeface="Courier New" pitchFamily="49" charset="0"/>
              </a:rPr>
              <a:t>0      |        81          87.75        -1434</a:t>
            </a:r>
          </a:p>
          <a:p>
            <a:pPr eaLnBrk="1" fontAlgn="auto" hangingPunct="1">
              <a:spcAft>
                <a:spcPts val="0"/>
              </a:spcAft>
              <a:defRPr/>
            </a:pPr>
            <a:r>
              <a:rPr lang="en-GB" sz="1200" dirty="0">
                <a:latin typeface="Courier New" pitchFamily="49" charset="0"/>
                <a:cs typeface="Courier New" pitchFamily="49" charset="0"/>
              </a:rPr>
              <a:t>1      |        69          62.25         1434</a:t>
            </a:r>
          </a:p>
          <a:p>
            <a:pPr eaLnBrk="1" fontAlgn="auto" hangingPunct="1">
              <a:spcAft>
                <a:spcPts val="0"/>
              </a:spcAft>
              <a:defRPr/>
            </a:pPr>
            <a:r>
              <a:rPr lang="en-GB" sz="1200" dirty="0">
                <a:latin typeface="Courier New" pitchFamily="49" charset="0"/>
                <a:cs typeface="Courier New" pitchFamily="49" charset="0"/>
              </a:rPr>
              <a:t>-------+--------------------------------------</a:t>
            </a:r>
          </a:p>
          <a:p>
            <a:pPr eaLnBrk="1" fontAlgn="auto" hangingPunct="1">
              <a:spcAft>
                <a:spcPts val="0"/>
              </a:spcAft>
              <a:defRPr/>
            </a:pPr>
            <a:r>
              <a:rPr lang="en-GB" sz="1200" dirty="0">
                <a:latin typeface="Courier New" pitchFamily="49" charset="0"/>
                <a:cs typeface="Courier New" pitchFamily="49" charset="0"/>
              </a:rPr>
              <a:t>Total  |       150         150.00            0</a:t>
            </a:r>
          </a:p>
          <a:p>
            <a:pPr eaLnBrk="1" fontAlgn="auto" hangingPunct="1">
              <a:spcAft>
                <a:spcPts val="0"/>
              </a:spcAft>
              <a:defRPr/>
            </a:pPr>
            <a:endParaRPr lang="en-GB" sz="1200" dirty="0">
              <a:latin typeface="Courier New" pitchFamily="49" charset="0"/>
              <a:cs typeface="Courier New" pitchFamily="49" charset="0"/>
            </a:endParaRPr>
          </a:p>
          <a:p>
            <a:pPr eaLnBrk="1" fontAlgn="auto" hangingPunct="1">
              <a:spcAft>
                <a:spcPts val="0"/>
              </a:spcAft>
              <a:defRPr/>
            </a:pPr>
            <a:r>
              <a:rPr lang="en-GB" sz="1200" dirty="0">
                <a:latin typeface="Courier New" pitchFamily="49" charset="0"/>
                <a:cs typeface="Courier New" pitchFamily="49" charset="0"/>
              </a:rPr>
              <a:t>             chi2(1) =       2.56</a:t>
            </a:r>
          </a:p>
          <a:p>
            <a:pPr eaLnBrk="1" fontAlgn="auto" hangingPunct="1">
              <a:spcAft>
                <a:spcPts val="0"/>
              </a:spcAft>
              <a:defRPr/>
            </a:pPr>
            <a:r>
              <a:rPr lang="en-GB" sz="1200" dirty="0">
                <a:latin typeface="Courier New" pitchFamily="49" charset="0"/>
                <a:cs typeface="Courier New" pitchFamily="49" charset="0"/>
              </a:rPr>
              <a:t>             </a:t>
            </a:r>
            <a:r>
              <a:rPr lang="en-GB" sz="1200" dirty="0" err="1">
                <a:latin typeface="Courier New" pitchFamily="49" charset="0"/>
                <a:cs typeface="Courier New" pitchFamily="49" charset="0"/>
              </a:rPr>
              <a:t>Pr</a:t>
            </a:r>
            <a:r>
              <a:rPr lang="en-GB" sz="1200" dirty="0">
                <a:latin typeface="Courier New" pitchFamily="49" charset="0"/>
                <a:cs typeface="Courier New" pitchFamily="49" charset="0"/>
              </a:rPr>
              <a:t>&gt;chi2 =     0.1096</a:t>
            </a:r>
          </a:p>
        </p:txBody>
      </p:sp>
      <p:sp>
        <p:nvSpPr>
          <p:cNvPr id="82948"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63D44BF0-08F0-403E-A688-695F587CD1FE}" type="slidenum">
              <a:rPr lang="en-GB" altLang="en-US" sz="1200">
                <a:latin typeface="Arial" panose="020B0604020202020204" pitchFamily="34" charset="0"/>
                <a:cs typeface="Arial" panose="020B0604020202020204" pitchFamily="34" charset="0"/>
              </a:rPr>
              <a:pPr fontAlgn="base">
                <a:spcBef>
                  <a:spcPct val="0"/>
                </a:spcBef>
                <a:spcAft>
                  <a:spcPct val="0"/>
                </a:spcAft>
              </a:pPr>
              <a:t>78</a:t>
            </a:fld>
            <a:endParaRPr lang="en-GB" altLang="en-US" sz="1200">
              <a:latin typeface="Arial" panose="020B0604020202020204" pitchFamily="34" charset="0"/>
              <a:cs typeface="Arial" panose="020B0604020202020204" pitchFamily="34"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7B3E7-AE03-4D6E-A8F4-A2A6B5F3D7D4}"/>
              </a:ext>
            </a:extLst>
          </p:cNvPr>
          <p:cNvSpPr>
            <a:spLocks noGrp="1"/>
          </p:cNvSpPr>
          <p:nvPr>
            <p:ph type="title"/>
          </p:nvPr>
        </p:nvSpPr>
        <p:spPr>
          <a:xfrm>
            <a:off x="1981200" y="274638"/>
            <a:ext cx="8229600" cy="850900"/>
          </a:xfrm>
        </p:spPr>
        <p:txBody>
          <a:bodyPr rtlCol="0">
            <a:normAutofit fontScale="90000"/>
          </a:bodyPr>
          <a:lstStyle/>
          <a:p>
            <a:pPr eaLnBrk="1" fontAlgn="auto" hangingPunct="1">
              <a:spcAft>
                <a:spcPts val="0"/>
              </a:spcAft>
              <a:defRPr/>
            </a:pPr>
            <a:r>
              <a:rPr lang="en-GB" sz="3200" dirty="0"/>
              <a:t>Practical exercise</a:t>
            </a:r>
            <a:br>
              <a:rPr lang="en-GB" sz="3200" dirty="0"/>
            </a:br>
            <a:r>
              <a:rPr lang="en-GB" sz="3200" dirty="0"/>
              <a:t>Log-rank test, clinics</a:t>
            </a:r>
          </a:p>
        </p:txBody>
      </p:sp>
      <p:sp>
        <p:nvSpPr>
          <p:cNvPr id="3" name="Content Placeholder 2">
            <a:extLst>
              <a:ext uri="{FF2B5EF4-FFF2-40B4-BE49-F238E27FC236}">
                <a16:creationId xmlns:a16="http://schemas.microsoft.com/office/drawing/2014/main" id="{05CB6079-A876-469B-A990-385BBB57D0CF}"/>
              </a:ext>
            </a:extLst>
          </p:cNvPr>
          <p:cNvSpPr>
            <a:spLocks noGrp="1"/>
          </p:cNvSpPr>
          <p:nvPr>
            <p:ph idx="1"/>
          </p:nvPr>
        </p:nvSpPr>
        <p:spPr>
          <a:xfrm>
            <a:off x="1981200" y="1600201"/>
            <a:ext cx="5410200" cy="4924425"/>
          </a:xfrm>
        </p:spPr>
        <p:txBody>
          <a:bodyPr rtlCol="0">
            <a:normAutofit fontScale="92500" lnSpcReduction="20000"/>
          </a:bodyPr>
          <a:lstStyle/>
          <a:p>
            <a:pPr eaLnBrk="1" fontAlgn="auto" hangingPunct="1">
              <a:spcAft>
                <a:spcPts val="0"/>
              </a:spcAft>
              <a:defRPr/>
            </a:pPr>
            <a:r>
              <a:rPr lang="en-GB" sz="1400" dirty="0" err="1">
                <a:latin typeface="Courier New" pitchFamily="49" charset="0"/>
                <a:cs typeface="Courier New" pitchFamily="49" charset="0"/>
              </a:rPr>
              <a:t>sts</a:t>
            </a:r>
            <a:r>
              <a:rPr lang="en-GB" sz="1400" dirty="0">
                <a:latin typeface="Courier New" pitchFamily="49" charset="0"/>
                <a:cs typeface="Courier New" pitchFamily="49" charset="0"/>
              </a:rPr>
              <a:t> test clinic</a:t>
            </a:r>
          </a:p>
          <a:p>
            <a:pPr eaLnBrk="1" fontAlgn="auto" hangingPunct="1">
              <a:spcAft>
                <a:spcPts val="0"/>
              </a:spcAft>
              <a:defRPr/>
            </a:pPr>
            <a:endParaRPr lang="en-GB" sz="1400" dirty="0">
              <a:latin typeface="Courier New" pitchFamily="49" charset="0"/>
              <a:cs typeface="Courier New" pitchFamily="49" charset="0"/>
            </a:endParaRPr>
          </a:p>
          <a:p>
            <a:pPr eaLnBrk="1" fontAlgn="auto" hangingPunct="1">
              <a:spcAft>
                <a:spcPts val="0"/>
              </a:spcAft>
              <a:defRPr/>
            </a:pPr>
            <a:r>
              <a:rPr lang="en-GB" sz="1400" dirty="0">
                <a:latin typeface="Courier New" pitchFamily="49" charset="0"/>
                <a:cs typeface="Courier New" pitchFamily="49" charset="0"/>
              </a:rPr>
              <a:t>         failure _d:  status</a:t>
            </a:r>
          </a:p>
          <a:p>
            <a:pPr eaLnBrk="1" fontAlgn="auto" hangingPunct="1">
              <a:spcAft>
                <a:spcPts val="0"/>
              </a:spcAft>
              <a:defRPr/>
            </a:pPr>
            <a:r>
              <a:rPr lang="en-GB" sz="1400" dirty="0">
                <a:latin typeface="Courier New" pitchFamily="49" charset="0"/>
                <a:cs typeface="Courier New" pitchFamily="49" charset="0"/>
              </a:rPr>
              <a:t>   analysis time _t:  time</a:t>
            </a:r>
          </a:p>
          <a:p>
            <a:pPr eaLnBrk="1" fontAlgn="auto" hangingPunct="1">
              <a:spcAft>
                <a:spcPts val="0"/>
              </a:spcAft>
              <a:defRPr/>
            </a:pPr>
            <a:endParaRPr lang="en-GB" sz="1400" dirty="0">
              <a:latin typeface="Courier New" pitchFamily="49" charset="0"/>
              <a:cs typeface="Courier New" pitchFamily="49" charset="0"/>
            </a:endParaRPr>
          </a:p>
          <a:p>
            <a:pPr eaLnBrk="1" fontAlgn="auto" hangingPunct="1">
              <a:spcAft>
                <a:spcPts val="0"/>
              </a:spcAft>
              <a:defRPr/>
            </a:pPr>
            <a:endParaRPr lang="en-GB" sz="1400" dirty="0">
              <a:latin typeface="Courier New" pitchFamily="49" charset="0"/>
              <a:cs typeface="Courier New" pitchFamily="49" charset="0"/>
            </a:endParaRPr>
          </a:p>
          <a:p>
            <a:pPr eaLnBrk="1" fontAlgn="auto" hangingPunct="1">
              <a:spcAft>
                <a:spcPts val="0"/>
              </a:spcAft>
              <a:defRPr/>
            </a:pPr>
            <a:r>
              <a:rPr lang="en-GB" sz="1400" dirty="0">
                <a:latin typeface="Courier New" pitchFamily="49" charset="0"/>
                <a:cs typeface="Courier New" pitchFamily="49" charset="0"/>
              </a:rPr>
              <a:t>Log-rank test for equality of survivor functions</a:t>
            </a:r>
          </a:p>
          <a:p>
            <a:pPr eaLnBrk="1" fontAlgn="auto" hangingPunct="1">
              <a:spcAft>
                <a:spcPts val="0"/>
              </a:spcAft>
              <a:defRPr/>
            </a:pPr>
            <a:endParaRPr lang="en-GB" sz="1400" dirty="0">
              <a:latin typeface="Courier New" pitchFamily="49" charset="0"/>
              <a:cs typeface="Courier New" pitchFamily="49" charset="0"/>
            </a:endParaRPr>
          </a:p>
          <a:p>
            <a:pPr eaLnBrk="1" fontAlgn="auto" hangingPunct="1">
              <a:spcAft>
                <a:spcPts val="0"/>
              </a:spcAft>
              <a:defRPr/>
            </a:pPr>
            <a:r>
              <a:rPr lang="en-GB" sz="1400" dirty="0">
                <a:latin typeface="Courier New" pitchFamily="49" charset="0"/>
                <a:cs typeface="Courier New" pitchFamily="49" charset="0"/>
              </a:rPr>
              <a:t>       |   Events         </a:t>
            </a:r>
            <a:r>
              <a:rPr lang="en-GB" sz="1400" dirty="0" err="1">
                <a:latin typeface="Courier New" pitchFamily="49" charset="0"/>
                <a:cs typeface="Courier New" pitchFamily="49" charset="0"/>
              </a:rPr>
              <a:t>Events</a:t>
            </a:r>
            <a:endParaRPr lang="en-GB" sz="1400" dirty="0">
              <a:latin typeface="Courier New" pitchFamily="49" charset="0"/>
              <a:cs typeface="Courier New" pitchFamily="49" charset="0"/>
            </a:endParaRPr>
          </a:p>
          <a:p>
            <a:pPr eaLnBrk="1" fontAlgn="auto" hangingPunct="1">
              <a:spcAft>
                <a:spcPts val="0"/>
              </a:spcAft>
              <a:defRPr/>
            </a:pPr>
            <a:r>
              <a:rPr lang="en-GB" sz="1400" dirty="0">
                <a:latin typeface="Courier New" pitchFamily="49" charset="0"/>
                <a:cs typeface="Courier New" pitchFamily="49" charset="0"/>
              </a:rPr>
              <a:t>clinic |  observed       expected</a:t>
            </a:r>
          </a:p>
          <a:p>
            <a:pPr eaLnBrk="1" fontAlgn="auto" hangingPunct="1">
              <a:spcAft>
                <a:spcPts val="0"/>
              </a:spcAft>
              <a:defRPr/>
            </a:pPr>
            <a:r>
              <a:rPr lang="en-GB" sz="1400" dirty="0">
                <a:latin typeface="Courier New" pitchFamily="49" charset="0"/>
                <a:cs typeface="Courier New" pitchFamily="49" charset="0"/>
              </a:rPr>
              <a:t>-------+-------------------------</a:t>
            </a:r>
          </a:p>
          <a:p>
            <a:pPr eaLnBrk="1" fontAlgn="auto" hangingPunct="1">
              <a:spcAft>
                <a:spcPts val="0"/>
              </a:spcAft>
              <a:defRPr/>
            </a:pPr>
            <a:r>
              <a:rPr lang="en-GB" sz="1400" dirty="0">
                <a:latin typeface="Courier New" pitchFamily="49" charset="0"/>
                <a:cs typeface="Courier New" pitchFamily="49" charset="0"/>
              </a:rPr>
              <a:t>1      |       122          90.91</a:t>
            </a:r>
          </a:p>
          <a:p>
            <a:pPr eaLnBrk="1" fontAlgn="auto" hangingPunct="1">
              <a:spcAft>
                <a:spcPts val="0"/>
              </a:spcAft>
              <a:defRPr/>
            </a:pPr>
            <a:r>
              <a:rPr lang="en-GB" sz="1400" dirty="0">
                <a:latin typeface="Courier New" pitchFamily="49" charset="0"/>
                <a:cs typeface="Courier New" pitchFamily="49" charset="0"/>
              </a:rPr>
              <a:t>2      |        28          59.09</a:t>
            </a:r>
          </a:p>
          <a:p>
            <a:pPr eaLnBrk="1" fontAlgn="auto" hangingPunct="1">
              <a:spcAft>
                <a:spcPts val="0"/>
              </a:spcAft>
              <a:defRPr/>
            </a:pPr>
            <a:r>
              <a:rPr lang="en-GB" sz="1400" dirty="0">
                <a:latin typeface="Courier New" pitchFamily="49" charset="0"/>
                <a:cs typeface="Courier New" pitchFamily="49" charset="0"/>
              </a:rPr>
              <a:t>-------+-------------------------</a:t>
            </a:r>
          </a:p>
          <a:p>
            <a:pPr eaLnBrk="1" fontAlgn="auto" hangingPunct="1">
              <a:spcAft>
                <a:spcPts val="0"/>
              </a:spcAft>
              <a:defRPr/>
            </a:pPr>
            <a:r>
              <a:rPr lang="en-GB" sz="1400" dirty="0">
                <a:latin typeface="Courier New" pitchFamily="49" charset="0"/>
                <a:cs typeface="Courier New" pitchFamily="49" charset="0"/>
              </a:rPr>
              <a:t>Total  |       150         150.00</a:t>
            </a:r>
          </a:p>
          <a:p>
            <a:pPr eaLnBrk="1" fontAlgn="auto" hangingPunct="1">
              <a:spcAft>
                <a:spcPts val="0"/>
              </a:spcAft>
              <a:defRPr/>
            </a:pPr>
            <a:endParaRPr lang="en-GB" sz="1400" dirty="0">
              <a:latin typeface="Courier New" pitchFamily="49" charset="0"/>
              <a:cs typeface="Courier New" pitchFamily="49" charset="0"/>
            </a:endParaRPr>
          </a:p>
          <a:p>
            <a:pPr eaLnBrk="1" fontAlgn="auto" hangingPunct="1">
              <a:spcAft>
                <a:spcPts val="0"/>
              </a:spcAft>
              <a:defRPr/>
            </a:pPr>
            <a:r>
              <a:rPr lang="en-GB" sz="1400" dirty="0">
                <a:latin typeface="Courier New" pitchFamily="49" charset="0"/>
                <a:cs typeface="Courier New" pitchFamily="49" charset="0"/>
              </a:rPr>
              <a:t>             chi2(1) =      27.89</a:t>
            </a:r>
          </a:p>
          <a:p>
            <a:pPr eaLnBrk="1" fontAlgn="auto" hangingPunct="1">
              <a:spcAft>
                <a:spcPts val="0"/>
              </a:spcAft>
              <a:defRPr/>
            </a:pPr>
            <a:r>
              <a:rPr lang="en-GB" sz="1400" dirty="0">
                <a:latin typeface="Courier New" pitchFamily="49" charset="0"/>
                <a:cs typeface="Courier New" pitchFamily="49" charset="0"/>
              </a:rPr>
              <a:t>             </a:t>
            </a:r>
            <a:r>
              <a:rPr lang="en-GB" sz="1400" dirty="0" err="1">
                <a:latin typeface="Courier New" pitchFamily="49" charset="0"/>
                <a:cs typeface="Courier New" pitchFamily="49" charset="0"/>
              </a:rPr>
              <a:t>Pr</a:t>
            </a:r>
            <a:r>
              <a:rPr lang="en-GB" sz="1400" dirty="0">
                <a:latin typeface="Courier New" pitchFamily="49" charset="0"/>
                <a:cs typeface="Courier New" pitchFamily="49" charset="0"/>
              </a:rPr>
              <a:t>&gt;chi2 =     0.0000</a:t>
            </a:r>
          </a:p>
          <a:p>
            <a:pPr eaLnBrk="1" fontAlgn="auto" hangingPunct="1">
              <a:spcAft>
                <a:spcPts val="0"/>
              </a:spcAft>
              <a:defRPr/>
            </a:pPr>
            <a:endParaRPr lang="en-GB" sz="1400" dirty="0">
              <a:latin typeface="Courier New" pitchFamily="49" charset="0"/>
              <a:cs typeface="Courier New" pitchFamily="49" charset="0"/>
            </a:endParaRPr>
          </a:p>
        </p:txBody>
      </p:sp>
      <p:sp>
        <p:nvSpPr>
          <p:cNvPr id="83972"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A63B8A7A-E397-41B6-B636-BE3C999508BC}" type="slidenum">
              <a:rPr lang="en-GB" altLang="en-US" sz="1200">
                <a:latin typeface="Arial" panose="020B0604020202020204" pitchFamily="34" charset="0"/>
                <a:cs typeface="Arial" panose="020B0604020202020204" pitchFamily="34" charset="0"/>
              </a:rPr>
              <a:pPr fontAlgn="base">
                <a:spcBef>
                  <a:spcPct val="0"/>
                </a:spcBef>
                <a:spcAft>
                  <a:spcPct val="0"/>
                </a:spcAft>
              </a:pPr>
              <a:t>79</a:t>
            </a:fld>
            <a:endParaRPr lang="en-GB" altLang="en-US" sz="1200">
              <a:latin typeface="Arial" panose="020B0604020202020204" pitchFamily="34" charset="0"/>
              <a:cs typeface="Arial" panose="020B0604020202020204" pitchFamily="34" charset="0"/>
            </a:endParaRPr>
          </a:p>
        </p:txBody>
      </p:sp>
      <p:sp>
        <p:nvSpPr>
          <p:cNvPr id="83973" name="TextBox 3"/>
          <p:cNvSpPr txBox="1">
            <a:spLocks noChangeArrowheads="1"/>
          </p:cNvSpPr>
          <p:nvPr/>
        </p:nvSpPr>
        <p:spPr bwMode="auto">
          <a:xfrm>
            <a:off x="8616950" y="1989138"/>
            <a:ext cx="1422400" cy="258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GB" altLang="en-US"/>
              <a:t>Results show a difference in the survival functions of the two clinics at one or more time points</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B6A8B-C23E-41B7-BF47-B695615BE011}"/>
              </a:ext>
            </a:extLst>
          </p:cNvPr>
          <p:cNvSpPr>
            <a:spLocks noGrp="1"/>
          </p:cNvSpPr>
          <p:nvPr>
            <p:ph type="title"/>
          </p:nvPr>
        </p:nvSpPr>
        <p:spPr>
          <a:xfrm>
            <a:off x="1981200" y="274638"/>
            <a:ext cx="8229600" cy="850900"/>
          </a:xfrm>
        </p:spPr>
        <p:txBody>
          <a:bodyPr rtlCol="0">
            <a:normAutofit fontScale="90000"/>
          </a:bodyPr>
          <a:lstStyle/>
          <a:p>
            <a:pPr eaLnBrk="1" fontAlgn="auto" hangingPunct="1">
              <a:spcAft>
                <a:spcPts val="0"/>
              </a:spcAft>
              <a:defRPr/>
            </a:pPr>
            <a:r>
              <a:rPr lang="en-GB" sz="3200" dirty="0"/>
              <a:t>Practical exercise</a:t>
            </a:r>
            <a:br>
              <a:rPr lang="en-GB" sz="3200" dirty="0"/>
            </a:br>
            <a:r>
              <a:rPr lang="en-GB" sz="3200" dirty="0"/>
              <a:t>Wilcoxon-rank test, clinics</a:t>
            </a:r>
          </a:p>
        </p:txBody>
      </p:sp>
      <p:sp>
        <p:nvSpPr>
          <p:cNvPr id="3" name="Content Placeholder 2">
            <a:extLst>
              <a:ext uri="{FF2B5EF4-FFF2-40B4-BE49-F238E27FC236}">
                <a16:creationId xmlns:a16="http://schemas.microsoft.com/office/drawing/2014/main" id="{525EDEE2-0A15-4921-8501-1D6E52EEA4A6}"/>
              </a:ext>
            </a:extLst>
          </p:cNvPr>
          <p:cNvSpPr>
            <a:spLocks noGrp="1"/>
          </p:cNvSpPr>
          <p:nvPr>
            <p:ph idx="1"/>
          </p:nvPr>
        </p:nvSpPr>
        <p:spPr>
          <a:xfrm>
            <a:off x="1981200" y="1600201"/>
            <a:ext cx="8229600" cy="4924425"/>
          </a:xfrm>
        </p:spPr>
        <p:txBody>
          <a:bodyPr rtlCol="0">
            <a:normAutofit fontScale="92500" lnSpcReduction="20000"/>
          </a:bodyPr>
          <a:lstStyle/>
          <a:p>
            <a:pPr eaLnBrk="1" fontAlgn="auto" hangingPunct="1">
              <a:spcAft>
                <a:spcPts val="0"/>
              </a:spcAft>
              <a:defRPr/>
            </a:pPr>
            <a:r>
              <a:rPr lang="en-GB" sz="1400" dirty="0" err="1">
                <a:latin typeface="Courier New" pitchFamily="49" charset="0"/>
                <a:cs typeface="Courier New" pitchFamily="49" charset="0"/>
              </a:rPr>
              <a:t>sts</a:t>
            </a:r>
            <a:r>
              <a:rPr lang="en-GB" sz="1400" dirty="0">
                <a:latin typeface="Courier New" pitchFamily="49" charset="0"/>
                <a:cs typeface="Courier New" pitchFamily="49" charset="0"/>
              </a:rPr>
              <a:t> test clinic, </a:t>
            </a:r>
            <a:r>
              <a:rPr lang="en-GB" sz="1400" dirty="0" err="1">
                <a:latin typeface="Courier New" pitchFamily="49" charset="0"/>
                <a:cs typeface="Courier New" pitchFamily="49" charset="0"/>
              </a:rPr>
              <a:t>wilcoxon</a:t>
            </a:r>
            <a:endParaRPr lang="en-GB" sz="1400" dirty="0">
              <a:latin typeface="Courier New" pitchFamily="49" charset="0"/>
              <a:cs typeface="Courier New" pitchFamily="49" charset="0"/>
            </a:endParaRPr>
          </a:p>
          <a:p>
            <a:pPr eaLnBrk="1" fontAlgn="auto" hangingPunct="1">
              <a:spcAft>
                <a:spcPts val="0"/>
              </a:spcAft>
              <a:defRPr/>
            </a:pPr>
            <a:endParaRPr lang="en-GB" sz="1400" dirty="0">
              <a:latin typeface="Courier New" pitchFamily="49" charset="0"/>
              <a:cs typeface="Courier New" pitchFamily="49" charset="0"/>
            </a:endParaRPr>
          </a:p>
          <a:p>
            <a:pPr eaLnBrk="1" fontAlgn="auto" hangingPunct="1">
              <a:spcAft>
                <a:spcPts val="0"/>
              </a:spcAft>
              <a:defRPr/>
            </a:pPr>
            <a:r>
              <a:rPr lang="en-GB" sz="1400" dirty="0">
                <a:latin typeface="Courier New" pitchFamily="49" charset="0"/>
                <a:cs typeface="Courier New" pitchFamily="49" charset="0"/>
              </a:rPr>
              <a:t>         failure _d:  status</a:t>
            </a:r>
          </a:p>
          <a:p>
            <a:pPr eaLnBrk="1" fontAlgn="auto" hangingPunct="1">
              <a:spcAft>
                <a:spcPts val="0"/>
              </a:spcAft>
              <a:defRPr/>
            </a:pPr>
            <a:r>
              <a:rPr lang="en-GB" sz="1400" dirty="0">
                <a:latin typeface="Courier New" pitchFamily="49" charset="0"/>
                <a:cs typeface="Courier New" pitchFamily="49" charset="0"/>
              </a:rPr>
              <a:t>   analysis time _t:  time</a:t>
            </a:r>
          </a:p>
          <a:p>
            <a:pPr eaLnBrk="1" fontAlgn="auto" hangingPunct="1">
              <a:spcAft>
                <a:spcPts val="0"/>
              </a:spcAft>
              <a:defRPr/>
            </a:pPr>
            <a:endParaRPr lang="en-GB" sz="1400" dirty="0">
              <a:latin typeface="Courier New" pitchFamily="49" charset="0"/>
              <a:cs typeface="Courier New" pitchFamily="49" charset="0"/>
            </a:endParaRPr>
          </a:p>
          <a:p>
            <a:pPr eaLnBrk="1" fontAlgn="auto" hangingPunct="1">
              <a:spcAft>
                <a:spcPts val="0"/>
              </a:spcAft>
              <a:defRPr/>
            </a:pPr>
            <a:endParaRPr lang="en-GB" sz="1400" dirty="0">
              <a:latin typeface="Courier New" pitchFamily="49" charset="0"/>
              <a:cs typeface="Courier New" pitchFamily="49" charset="0"/>
            </a:endParaRPr>
          </a:p>
          <a:p>
            <a:pPr eaLnBrk="1" fontAlgn="auto" hangingPunct="1">
              <a:spcAft>
                <a:spcPts val="0"/>
              </a:spcAft>
              <a:defRPr/>
            </a:pPr>
            <a:r>
              <a:rPr lang="en-GB" sz="1400" dirty="0">
                <a:latin typeface="Courier New" pitchFamily="49" charset="0"/>
                <a:cs typeface="Courier New" pitchFamily="49" charset="0"/>
              </a:rPr>
              <a:t>Wilcoxon (</a:t>
            </a:r>
            <a:r>
              <a:rPr lang="en-GB" sz="1400" dirty="0" err="1">
                <a:latin typeface="Courier New" pitchFamily="49" charset="0"/>
                <a:cs typeface="Courier New" pitchFamily="49" charset="0"/>
              </a:rPr>
              <a:t>Breslow</a:t>
            </a:r>
            <a:r>
              <a:rPr lang="en-GB" sz="1400" dirty="0">
                <a:latin typeface="Courier New" pitchFamily="49" charset="0"/>
                <a:cs typeface="Courier New" pitchFamily="49" charset="0"/>
              </a:rPr>
              <a:t>) test for equality of survivor functions</a:t>
            </a:r>
          </a:p>
          <a:p>
            <a:pPr eaLnBrk="1" fontAlgn="auto" hangingPunct="1">
              <a:spcAft>
                <a:spcPts val="0"/>
              </a:spcAft>
              <a:defRPr/>
            </a:pPr>
            <a:endParaRPr lang="en-GB" sz="1400" dirty="0">
              <a:latin typeface="Courier New" pitchFamily="49" charset="0"/>
              <a:cs typeface="Courier New" pitchFamily="49" charset="0"/>
            </a:endParaRPr>
          </a:p>
          <a:p>
            <a:pPr eaLnBrk="1" fontAlgn="auto" hangingPunct="1">
              <a:spcAft>
                <a:spcPts val="0"/>
              </a:spcAft>
              <a:defRPr/>
            </a:pPr>
            <a:r>
              <a:rPr lang="en-GB" sz="1400" dirty="0">
                <a:latin typeface="Courier New" pitchFamily="49" charset="0"/>
                <a:cs typeface="Courier New" pitchFamily="49" charset="0"/>
              </a:rPr>
              <a:t>       |   Events         </a:t>
            </a:r>
            <a:r>
              <a:rPr lang="en-GB" sz="1400" dirty="0" err="1">
                <a:latin typeface="Courier New" pitchFamily="49" charset="0"/>
                <a:cs typeface="Courier New" pitchFamily="49" charset="0"/>
              </a:rPr>
              <a:t>Events</a:t>
            </a:r>
            <a:r>
              <a:rPr lang="en-GB" sz="1400" dirty="0">
                <a:latin typeface="Courier New" pitchFamily="49" charset="0"/>
                <a:cs typeface="Courier New" pitchFamily="49" charset="0"/>
              </a:rPr>
              <a:t>        Sum of</a:t>
            </a:r>
          </a:p>
          <a:p>
            <a:pPr eaLnBrk="1" fontAlgn="auto" hangingPunct="1">
              <a:spcAft>
                <a:spcPts val="0"/>
              </a:spcAft>
              <a:defRPr/>
            </a:pPr>
            <a:r>
              <a:rPr lang="en-GB" sz="1400" dirty="0">
                <a:latin typeface="Courier New" pitchFamily="49" charset="0"/>
                <a:cs typeface="Courier New" pitchFamily="49" charset="0"/>
              </a:rPr>
              <a:t>clinic |  observed       expected        ranks</a:t>
            </a:r>
          </a:p>
          <a:p>
            <a:pPr eaLnBrk="1" fontAlgn="auto" hangingPunct="1">
              <a:spcAft>
                <a:spcPts val="0"/>
              </a:spcAft>
              <a:defRPr/>
            </a:pPr>
            <a:r>
              <a:rPr lang="en-GB" sz="1400" dirty="0">
                <a:latin typeface="Courier New" pitchFamily="49" charset="0"/>
                <a:cs typeface="Courier New" pitchFamily="49" charset="0"/>
              </a:rPr>
              <a:t>-------+--------------------------------------</a:t>
            </a:r>
          </a:p>
          <a:p>
            <a:pPr eaLnBrk="1" fontAlgn="auto" hangingPunct="1">
              <a:spcAft>
                <a:spcPts val="0"/>
              </a:spcAft>
              <a:defRPr/>
            </a:pPr>
            <a:r>
              <a:rPr lang="en-GB" sz="1400" dirty="0">
                <a:latin typeface="Courier New" pitchFamily="49" charset="0"/>
                <a:cs typeface="Courier New" pitchFamily="49" charset="0"/>
              </a:rPr>
              <a:t>1      |       122          90.91         2929</a:t>
            </a:r>
          </a:p>
          <a:p>
            <a:pPr eaLnBrk="1" fontAlgn="auto" hangingPunct="1">
              <a:spcAft>
                <a:spcPts val="0"/>
              </a:spcAft>
              <a:defRPr/>
            </a:pPr>
            <a:r>
              <a:rPr lang="en-GB" sz="1400" dirty="0">
                <a:latin typeface="Courier New" pitchFamily="49" charset="0"/>
                <a:cs typeface="Courier New" pitchFamily="49" charset="0"/>
              </a:rPr>
              <a:t>2      |        28          59.09        -2929</a:t>
            </a:r>
          </a:p>
          <a:p>
            <a:pPr eaLnBrk="1" fontAlgn="auto" hangingPunct="1">
              <a:spcAft>
                <a:spcPts val="0"/>
              </a:spcAft>
              <a:defRPr/>
            </a:pPr>
            <a:r>
              <a:rPr lang="en-GB" sz="1400" dirty="0">
                <a:latin typeface="Courier New" pitchFamily="49" charset="0"/>
                <a:cs typeface="Courier New" pitchFamily="49" charset="0"/>
              </a:rPr>
              <a:t>-------+--------------------------------------</a:t>
            </a:r>
          </a:p>
          <a:p>
            <a:pPr eaLnBrk="1" fontAlgn="auto" hangingPunct="1">
              <a:spcAft>
                <a:spcPts val="0"/>
              </a:spcAft>
              <a:defRPr/>
            </a:pPr>
            <a:r>
              <a:rPr lang="en-GB" sz="1400" dirty="0">
                <a:latin typeface="Courier New" pitchFamily="49" charset="0"/>
                <a:cs typeface="Courier New" pitchFamily="49" charset="0"/>
              </a:rPr>
              <a:t>Total  |       150         150.00            0</a:t>
            </a:r>
          </a:p>
          <a:p>
            <a:pPr eaLnBrk="1" fontAlgn="auto" hangingPunct="1">
              <a:spcAft>
                <a:spcPts val="0"/>
              </a:spcAft>
              <a:defRPr/>
            </a:pPr>
            <a:endParaRPr lang="en-GB" sz="1400" dirty="0">
              <a:latin typeface="Courier New" pitchFamily="49" charset="0"/>
              <a:cs typeface="Courier New" pitchFamily="49" charset="0"/>
            </a:endParaRPr>
          </a:p>
          <a:p>
            <a:pPr eaLnBrk="1" fontAlgn="auto" hangingPunct="1">
              <a:spcAft>
                <a:spcPts val="0"/>
              </a:spcAft>
              <a:defRPr/>
            </a:pPr>
            <a:r>
              <a:rPr lang="en-GB" sz="1400" dirty="0">
                <a:latin typeface="Courier New" pitchFamily="49" charset="0"/>
                <a:cs typeface="Courier New" pitchFamily="49" charset="0"/>
              </a:rPr>
              <a:t>             chi2(1) =      11.63</a:t>
            </a:r>
          </a:p>
          <a:p>
            <a:pPr eaLnBrk="1" fontAlgn="auto" hangingPunct="1">
              <a:spcAft>
                <a:spcPts val="0"/>
              </a:spcAft>
              <a:defRPr/>
            </a:pPr>
            <a:r>
              <a:rPr lang="en-GB" sz="1400" dirty="0">
                <a:latin typeface="Courier New" pitchFamily="49" charset="0"/>
                <a:cs typeface="Courier New" pitchFamily="49" charset="0"/>
              </a:rPr>
              <a:t>             </a:t>
            </a:r>
            <a:r>
              <a:rPr lang="en-GB" sz="1400" dirty="0" err="1">
                <a:latin typeface="Courier New" pitchFamily="49" charset="0"/>
                <a:cs typeface="Courier New" pitchFamily="49" charset="0"/>
              </a:rPr>
              <a:t>Pr</a:t>
            </a:r>
            <a:r>
              <a:rPr lang="en-GB" sz="1400" dirty="0">
                <a:latin typeface="Courier New" pitchFamily="49" charset="0"/>
                <a:cs typeface="Courier New" pitchFamily="49" charset="0"/>
              </a:rPr>
              <a:t>&gt;chi2 =     0.0007</a:t>
            </a:r>
          </a:p>
        </p:txBody>
      </p:sp>
      <p:sp>
        <p:nvSpPr>
          <p:cNvPr id="8499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EA787470-9840-4CD4-8036-235F1BB245BD}" type="slidenum">
              <a:rPr lang="en-GB" altLang="en-US" sz="1200">
                <a:latin typeface="Arial" panose="020B0604020202020204" pitchFamily="34" charset="0"/>
                <a:cs typeface="Arial" panose="020B0604020202020204" pitchFamily="34" charset="0"/>
              </a:rPr>
              <a:pPr fontAlgn="base">
                <a:spcBef>
                  <a:spcPct val="0"/>
                </a:spcBef>
                <a:spcAft>
                  <a:spcPct val="0"/>
                </a:spcAft>
              </a:pPr>
              <a:t>80</a:t>
            </a:fld>
            <a:endParaRPr lang="en-GB" altLang="en-US" sz="1200">
              <a:latin typeface="Arial" panose="020B0604020202020204" pitchFamily="34" charset="0"/>
              <a:cs typeface="Arial" panose="020B0604020202020204" pitchFamily="34"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p:cNvSpPr>
            <a:spLocks noGrp="1" noChangeArrowheads="1"/>
          </p:cNvSpPr>
          <p:nvPr>
            <p:ph type="title"/>
          </p:nvPr>
        </p:nvSpPr>
        <p:spPr>
          <a:xfrm>
            <a:off x="1981200" y="274639"/>
            <a:ext cx="8229600" cy="561975"/>
          </a:xfrm>
        </p:spPr>
        <p:txBody>
          <a:bodyPr/>
          <a:lstStyle/>
          <a:p>
            <a:pPr eaLnBrk="1" hangingPunct="1"/>
            <a:r>
              <a:rPr lang="en-GB" altLang="en-GB" sz="3200"/>
              <a:t>Fitting a Cox model</a:t>
            </a:r>
          </a:p>
        </p:txBody>
      </p:sp>
      <p:sp>
        <p:nvSpPr>
          <p:cNvPr id="3" name="Content Placeholder 2">
            <a:extLst>
              <a:ext uri="{FF2B5EF4-FFF2-40B4-BE49-F238E27FC236}">
                <a16:creationId xmlns:a16="http://schemas.microsoft.com/office/drawing/2014/main" id="{5BB25E77-64B1-4C83-AAFE-4871A8E3E35A}"/>
              </a:ext>
            </a:extLst>
          </p:cNvPr>
          <p:cNvSpPr>
            <a:spLocks noGrp="1"/>
          </p:cNvSpPr>
          <p:nvPr>
            <p:ph idx="1"/>
          </p:nvPr>
        </p:nvSpPr>
        <p:spPr>
          <a:xfrm>
            <a:off x="2063750" y="1125538"/>
            <a:ext cx="8229600" cy="5230812"/>
          </a:xfrm>
        </p:spPr>
        <p:txBody>
          <a:bodyPr rtlCol="0">
            <a:normAutofit fontScale="55000" lnSpcReduction="20000"/>
          </a:bodyPr>
          <a:lstStyle/>
          <a:p>
            <a:pPr eaLnBrk="1" fontAlgn="auto" hangingPunct="1">
              <a:spcAft>
                <a:spcPts val="0"/>
              </a:spcAft>
              <a:defRPr/>
            </a:pPr>
            <a:r>
              <a:rPr lang="en-GB" sz="1200" dirty="0">
                <a:latin typeface="Courier New" pitchFamily="49" charset="0"/>
                <a:cs typeface="Courier New" pitchFamily="49" charset="0"/>
              </a:rPr>
              <a:t>xi: </a:t>
            </a:r>
            <a:r>
              <a:rPr lang="en-GB" sz="1200" dirty="0" err="1">
                <a:latin typeface="Courier New" pitchFamily="49" charset="0"/>
                <a:cs typeface="Courier New" pitchFamily="49" charset="0"/>
              </a:rPr>
              <a:t>stcox</a:t>
            </a:r>
            <a:r>
              <a:rPr lang="en-GB" sz="1200" dirty="0">
                <a:latin typeface="Courier New" pitchFamily="49" charset="0"/>
                <a:cs typeface="Courier New" pitchFamily="49" charset="0"/>
              </a:rPr>
              <a:t> dose prison </a:t>
            </a:r>
            <a:r>
              <a:rPr lang="en-GB" sz="1200" dirty="0" err="1">
                <a:latin typeface="Courier New" pitchFamily="49" charset="0"/>
                <a:cs typeface="Courier New" pitchFamily="49" charset="0"/>
              </a:rPr>
              <a:t>i.clinic</a:t>
            </a:r>
            <a:endParaRPr lang="en-GB" sz="1200" dirty="0">
              <a:latin typeface="Courier New" pitchFamily="49" charset="0"/>
              <a:cs typeface="Courier New" pitchFamily="49" charset="0"/>
            </a:endParaRPr>
          </a:p>
          <a:p>
            <a:pPr eaLnBrk="1" fontAlgn="auto" hangingPunct="1">
              <a:spcAft>
                <a:spcPts val="0"/>
              </a:spcAft>
              <a:defRPr/>
            </a:pPr>
            <a:r>
              <a:rPr lang="en-GB" sz="1200" dirty="0" err="1">
                <a:latin typeface="Courier New" pitchFamily="49" charset="0"/>
                <a:cs typeface="Courier New" pitchFamily="49" charset="0"/>
              </a:rPr>
              <a:t>i.clinic</a:t>
            </a:r>
            <a:r>
              <a:rPr lang="en-GB" sz="1200" dirty="0">
                <a:latin typeface="Courier New" pitchFamily="49" charset="0"/>
                <a:cs typeface="Courier New" pitchFamily="49" charset="0"/>
              </a:rPr>
              <a:t>          _Iclinic_1-2        (naturally coded; _Iclinic_1 omitted)</a:t>
            </a:r>
          </a:p>
          <a:p>
            <a:pPr eaLnBrk="1" fontAlgn="auto" hangingPunct="1">
              <a:spcAft>
                <a:spcPts val="0"/>
              </a:spcAft>
              <a:defRPr/>
            </a:pPr>
            <a:endParaRPr lang="en-GB" sz="1200" dirty="0">
              <a:latin typeface="Courier New" pitchFamily="49" charset="0"/>
              <a:cs typeface="Courier New" pitchFamily="49" charset="0"/>
            </a:endParaRPr>
          </a:p>
          <a:p>
            <a:pPr eaLnBrk="1" fontAlgn="auto" hangingPunct="1">
              <a:spcAft>
                <a:spcPts val="0"/>
              </a:spcAft>
              <a:defRPr/>
            </a:pPr>
            <a:r>
              <a:rPr lang="en-GB" sz="1200" dirty="0">
                <a:latin typeface="Courier New" pitchFamily="49" charset="0"/>
                <a:cs typeface="Courier New" pitchFamily="49" charset="0"/>
              </a:rPr>
              <a:t>         failure _d:  status</a:t>
            </a:r>
          </a:p>
          <a:p>
            <a:pPr eaLnBrk="1" fontAlgn="auto" hangingPunct="1">
              <a:spcAft>
                <a:spcPts val="0"/>
              </a:spcAft>
              <a:defRPr/>
            </a:pPr>
            <a:r>
              <a:rPr lang="en-GB" sz="1200" dirty="0">
                <a:latin typeface="Courier New" pitchFamily="49" charset="0"/>
                <a:cs typeface="Courier New" pitchFamily="49" charset="0"/>
              </a:rPr>
              <a:t>   analysis time _t:  time</a:t>
            </a:r>
          </a:p>
          <a:p>
            <a:pPr eaLnBrk="1" fontAlgn="auto" hangingPunct="1">
              <a:spcAft>
                <a:spcPts val="0"/>
              </a:spcAft>
              <a:defRPr/>
            </a:pPr>
            <a:endParaRPr lang="en-GB" sz="1200" dirty="0">
              <a:latin typeface="Courier New" pitchFamily="49" charset="0"/>
              <a:cs typeface="Courier New" pitchFamily="49" charset="0"/>
            </a:endParaRPr>
          </a:p>
          <a:p>
            <a:pPr eaLnBrk="1" fontAlgn="auto" hangingPunct="1">
              <a:spcAft>
                <a:spcPts val="0"/>
              </a:spcAft>
              <a:defRPr/>
            </a:pPr>
            <a:endParaRPr lang="en-GB" sz="1200" dirty="0">
              <a:latin typeface="Courier New" pitchFamily="49" charset="0"/>
              <a:cs typeface="Courier New" pitchFamily="49" charset="0"/>
            </a:endParaRPr>
          </a:p>
          <a:p>
            <a:pPr eaLnBrk="1" fontAlgn="auto" hangingPunct="1">
              <a:spcAft>
                <a:spcPts val="0"/>
              </a:spcAft>
              <a:defRPr/>
            </a:pPr>
            <a:r>
              <a:rPr lang="en-GB" sz="1200" dirty="0">
                <a:latin typeface="Courier New" pitchFamily="49" charset="0"/>
                <a:cs typeface="Courier New" pitchFamily="49" charset="0"/>
              </a:rPr>
              <a:t>Cox regression -- </a:t>
            </a:r>
            <a:r>
              <a:rPr lang="en-GB" sz="1200" dirty="0" err="1">
                <a:latin typeface="Courier New" pitchFamily="49" charset="0"/>
                <a:cs typeface="Courier New" pitchFamily="49" charset="0"/>
              </a:rPr>
              <a:t>Breslow</a:t>
            </a:r>
            <a:r>
              <a:rPr lang="en-GB" sz="1200" dirty="0">
                <a:latin typeface="Courier New" pitchFamily="49" charset="0"/>
                <a:cs typeface="Courier New" pitchFamily="49" charset="0"/>
              </a:rPr>
              <a:t> method for ties</a:t>
            </a:r>
          </a:p>
          <a:p>
            <a:pPr eaLnBrk="1" fontAlgn="auto" hangingPunct="1">
              <a:spcAft>
                <a:spcPts val="0"/>
              </a:spcAft>
              <a:defRPr/>
            </a:pPr>
            <a:endParaRPr lang="en-GB" sz="1200" dirty="0">
              <a:latin typeface="Courier New" pitchFamily="49" charset="0"/>
              <a:cs typeface="Courier New" pitchFamily="49" charset="0"/>
            </a:endParaRPr>
          </a:p>
          <a:p>
            <a:pPr eaLnBrk="1" fontAlgn="auto" hangingPunct="1">
              <a:spcAft>
                <a:spcPts val="0"/>
              </a:spcAft>
              <a:defRPr/>
            </a:pPr>
            <a:r>
              <a:rPr lang="en-GB" sz="1200" dirty="0">
                <a:latin typeface="Courier New" pitchFamily="49" charset="0"/>
                <a:cs typeface="Courier New" pitchFamily="49" charset="0"/>
              </a:rPr>
              <a:t>No. of subjects =          238                     Number of </a:t>
            </a:r>
            <a:r>
              <a:rPr lang="en-GB" sz="1200" dirty="0" err="1">
                <a:latin typeface="Courier New" pitchFamily="49" charset="0"/>
                <a:cs typeface="Courier New" pitchFamily="49" charset="0"/>
              </a:rPr>
              <a:t>obs</a:t>
            </a:r>
            <a:r>
              <a:rPr lang="en-GB" sz="1200" dirty="0">
                <a:latin typeface="Courier New" pitchFamily="49" charset="0"/>
                <a:cs typeface="Courier New" pitchFamily="49" charset="0"/>
              </a:rPr>
              <a:t>   =       238</a:t>
            </a:r>
          </a:p>
          <a:p>
            <a:pPr eaLnBrk="1" fontAlgn="auto" hangingPunct="1">
              <a:spcAft>
                <a:spcPts val="0"/>
              </a:spcAft>
              <a:defRPr/>
            </a:pPr>
            <a:r>
              <a:rPr lang="en-GB" sz="1200" dirty="0">
                <a:latin typeface="Courier New" pitchFamily="49" charset="0"/>
                <a:cs typeface="Courier New" pitchFamily="49" charset="0"/>
              </a:rPr>
              <a:t>No. of failures =          150</a:t>
            </a:r>
          </a:p>
          <a:p>
            <a:pPr eaLnBrk="1" fontAlgn="auto" hangingPunct="1">
              <a:spcAft>
                <a:spcPts val="0"/>
              </a:spcAft>
              <a:defRPr/>
            </a:pPr>
            <a:r>
              <a:rPr lang="en-GB" sz="1200" dirty="0">
                <a:latin typeface="Courier New" pitchFamily="49" charset="0"/>
                <a:cs typeface="Courier New" pitchFamily="49" charset="0"/>
              </a:rPr>
              <a:t>Time at risk    =        95812</a:t>
            </a:r>
          </a:p>
          <a:p>
            <a:pPr eaLnBrk="1" fontAlgn="auto" hangingPunct="1">
              <a:spcAft>
                <a:spcPts val="0"/>
              </a:spcAft>
              <a:defRPr/>
            </a:pPr>
            <a:r>
              <a:rPr lang="en-GB" sz="1200" dirty="0">
                <a:latin typeface="Courier New" pitchFamily="49" charset="0"/>
                <a:cs typeface="Courier New" pitchFamily="49" charset="0"/>
              </a:rPr>
              <a:t>                                                   LR chi2(3)      =     64.52</a:t>
            </a:r>
          </a:p>
          <a:p>
            <a:pPr eaLnBrk="1" fontAlgn="auto" hangingPunct="1">
              <a:spcAft>
                <a:spcPts val="0"/>
              </a:spcAft>
              <a:defRPr/>
            </a:pPr>
            <a:r>
              <a:rPr lang="en-GB" sz="1200" dirty="0">
                <a:latin typeface="Courier New" pitchFamily="49" charset="0"/>
                <a:cs typeface="Courier New" pitchFamily="49" charset="0"/>
              </a:rPr>
              <a:t>Log likelihood  =   -673.40242                     </a:t>
            </a:r>
            <a:r>
              <a:rPr lang="en-GB" sz="1200" dirty="0" err="1">
                <a:latin typeface="Courier New" pitchFamily="49" charset="0"/>
                <a:cs typeface="Courier New" pitchFamily="49" charset="0"/>
              </a:rPr>
              <a:t>Prob</a:t>
            </a:r>
            <a:r>
              <a:rPr lang="en-GB" sz="1200" dirty="0">
                <a:latin typeface="Courier New" pitchFamily="49" charset="0"/>
                <a:cs typeface="Courier New" pitchFamily="49" charset="0"/>
              </a:rPr>
              <a:t> &gt; chi2     =    0.0000</a:t>
            </a:r>
          </a:p>
          <a:p>
            <a:pPr eaLnBrk="1" fontAlgn="auto" hangingPunct="1">
              <a:spcAft>
                <a:spcPts val="0"/>
              </a:spcAft>
              <a:defRPr/>
            </a:pPr>
            <a:endParaRPr lang="en-GB" sz="1200" dirty="0">
              <a:latin typeface="Courier New" pitchFamily="49" charset="0"/>
              <a:cs typeface="Courier New" pitchFamily="49" charset="0"/>
            </a:endParaRPr>
          </a:p>
          <a:p>
            <a:pPr eaLnBrk="1" fontAlgn="auto" hangingPunct="1">
              <a:spcAft>
                <a:spcPts val="0"/>
              </a:spcAft>
              <a:defRPr/>
            </a:pPr>
            <a:r>
              <a:rPr lang="en-GB" sz="1200" dirty="0">
                <a:latin typeface="Courier New" pitchFamily="49" charset="0"/>
                <a:cs typeface="Courier New" pitchFamily="49" charset="0"/>
              </a:rPr>
              <a:t>------------------------------------------------------------------------------</a:t>
            </a:r>
          </a:p>
          <a:p>
            <a:pPr eaLnBrk="1" fontAlgn="auto" hangingPunct="1">
              <a:spcAft>
                <a:spcPts val="0"/>
              </a:spcAft>
              <a:defRPr/>
            </a:pPr>
            <a:r>
              <a:rPr lang="en-GB" sz="1200" dirty="0">
                <a:latin typeface="Courier New" pitchFamily="49" charset="0"/>
                <a:cs typeface="Courier New" pitchFamily="49" charset="0"/>
              </a:rPr>
              <a:t>          _t | </a:t>
            </a:r>
            <a:r>
              <a:rPr lang="en-GB" sz="1200" dirty="0" err="1">
                <a:latin typeface="Courier New" pitchFamily="49" charset="0"/>
                <a:cs typeface="Courier New" pitchFamily="49" charset="0"/>
              </a:rPr>
              <a:t>Haz</a:t>
            </a:r>
            <a:r>
              <a:rPr lang="en-GB" sz="1200" dirty="0">
                <a:latin typeface="Courier New" pitchFamily="49" charset="0"/>
                <a:cs typeface="Courier New" pitchFamily="49" charset="0"/>
              </a:rPr>
              <a:t>. Ratio   Std. Err.      z    P&gt;|z|     [95% Conf. Interval]</a:t>
            </a:r>
          </a:p>
          <a:p>
            <a:pPr eaLnBrk="1" fontAlgn="auto" hangingPunct="1">
              <a:spcAft>
                <a:spcPts val="0"/>
              </a:spcAft>
              <a:defRPr/>
            </a:pPr>
            <a:r>
              <a:rPr lang="en-GB" sz="1200" dirty="0">
                <a:latin typeface="Courier New" pitchFamily="49" charset="0"/>
                <a:cs typeface="Courier New" pitchFamily="49" charset="0"/>
              </a:rPr>
              <a:t>-------------+----------------------------------------------------------------</a:t>
            </a:r>
          </a:p>
          <a:p>
            <a:pPr eaLnBrk="1" fontAlgn="auto" hangingPunct="1">
              <a:spcAft>
                <a:spcPts val="0"/>
              </a:spcAft>
              <a:defRPr/>
            </a:pPr>
            <a:r>
              <a:rPr lang="en-GB" sz="1200" dirty="0">
                <a:latin typeface="Courier New" pitchFamily="49" charset="0"/>
                <a:cs typeface="Courier New" pitchFamily="49" charset="0"/>
              </a:rPr>
              <a:t>        dose |    .965223   .0061576    -5.55   0.000     .9532294    .9773675</a:t>
            </a:r>
          </a:p>
          <a:p>
            <a:pPr eaLnBrk="1" fontAlgn="auto" hangingPunct="1">
              <a:spcAft>
                <a:spcPts val="0"/>
              </a:spcAft>
              <a:defRPr/>
            </a:pPr>
            <a:r>
              <a:rPr lang="en-GB" sz="1200" dirty="0">
                <a:latin typeface="Courier New" pitchFamily="49" charset="0"/>
                <a:cs typeface="Courier New" pitchFamily="49" charset="0"/>
              </a:rPr>
              <a:t>      prison |   1.386123    .231789     1.95   0.051     .9987642    1.923715</a:t>
            </a:r>
          </a:p>
          <a:p>
            <a:pPr eaLnBrk="1" fontAlgn="auto" hangingPunct="1">
              <a:spcAft>
                <a:spcPts val="0"/>
              </a:spcAft>
              <a:defRPr/>
            </a:pPr>
            <a:r>
              <a:rPr lang="en-GB" sz="1200" dirty="0">
                <a:latin typeface="Courier New" pitchFamily="49" charset="0"/>
                <a:cs typeface="Courier New" pitchFamily="49" charset="0"/>
              </a:rPr>
              <a:t>  _Iclinic_2 |   .3646309   .0783486    -4.70   0.000     .2393068    .5555868</a:t>
            </a:r>
          </a:p>
          <a:p>
            <a:pPr eaLnBrk="1" fontAlgn="auto" hangingPunct="1">
              <a:spcAft>
                <a:spcPts val="0"/>
              </a:spcAft>
              <a:defRPr/>
            </a:pPr>
            <a:r>
              <a:rPr lang="en-GB" sz="1200" dirty="0">
                <a:latin typeface="Courier New" pitchFamily="49" charset="0"/>
                <a:cs typeface="Courier New" pitchFamily="49" charset="0"/>
              </a:rPr>
              <a:t>------------------------------------------------------------------------------</a:t>
            </a:r>
          </a:p>
          <a:p>
            <a:pPr eaLnBrk="1" fontAlgn="auto" hangingPunct="1">
              <a:spcAft>
                <a:spcPts val="0"/>
              </a:spcAft>
              <a:defRPr/>
            </a:pPr>
            <a:endParaRPr lang="en-GB" sz="1200" dirty="0">
              <a:latin typeface="Courier New" pitchFamily="49" charset="0"/>
              <a:cs typeface="Courier New" pitchFamily="49" charset="0"/>
            </a:endParaRPr>
          </a:p>
          <a:p>
            <a:pPr eaLnBrk="1" fontAlgn="auto" hangingPunct="1">
              <a:spcAft>
                <a:spcPts val="0"/>
              </a:spcAft>
              <a:defRPr/>
            </a:pPr>
            <a:r>
              <a:rPr lang="en-GB" sz="1200" dirty="0">
                <a:latin typeface="Courier New" pitchFamily="49" charset="0"/>
                <a:cs typeface="Courier New" pitchFamily="49" charset="0"/>
              </a:rPr>
              <a:t>A unit increase in the methadone dose reduces the hazard of dropping out treatment by 3.8%</a:t>
            </a:r>
          </a:p>
          <a:p>
            <a:pPr eaLnBrk="1" fontAlgn="auto" hangingPunct="1">
              <a:spcAft>
                <a:spcPts val="0"/>
              </a:spcAft>
              <a:defRPr/>
            </a:pPr>
            <a:endParaRPr lang="en-GB" sz="1200" dirty="0">
              <a:latin typeface="Courier New" pitchFamily="49" charset="0"/>
              <a:cs typeface="Courier New" pitchFamily="49" charset="0"/>
            </a:endParaRPr>
          </a:p>
          <a:p>
            <a:pPr eaLnBrk="1" fontAlgn="auto" hangingPunct="1">
              <a:spcAft>
                <a:spcPts val="0"/>
              </a:spcAft>
              <a:defRPr/>
            </a:pPr>
            <a:r>
              <a:rPr lang="en-GB" sz="1200" dirty="0">
                <a:latin typeface="Courier New" pitchFamily="49" charset="0"/>
                <a:cs typeface="Courier New" pitchFamily="49" charset="0"/>
              </a:rPr>
              <a:t>Having a prison record increased the hazard of dropping out of treatment by 39%</a:t>
            </a:r>
          </a:p>
          <a:p>
            <a:pPr eaLnBrk="1" fontAlgn="auto" hangingPunct="1">
              <a:spcAft>
                <a:spcPts val="0"/>
              </a:spcAft>
              <a:defRPr/>
            </a:pPr>
            <a:endParaRPr lang="en-GB" sz="1200" dirty="0">
              <a:latin typeface="Courier New" pitchFamily="49" charset="0"/>
              <a:cs typeface="Courier New" pitchFamily="49" charset="0"/>
            </a:endParaRPr>
          </a:p>
          <a:p>
            <a:pPr eaLnBrk="1" fontAlgn="auto" hangingPunct="1">
              <a:spcAft>
                <a:spcPts val="0"/>
              </a:spcAft>
              <a:defRPr/>
            </a:pPr>
            <a:endParaRPr lang="en-GB" sz="1200" dirty="0">
              <a:latin typeface="Courier New" pitchFamily="49" charset="0"/>
              <a:cs typeface="Courier New" pitchFamily="49" charset="0"/>
            </a:endParaRPr>
          </a:p>
        </p:txBody>
      </p:sp>
      <p:sp>
        <p:nvSpPr>
          <p:cNvPr id="8602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1530A6D6-F0F1-4E89-890F-6C7B84082A75}" type="slidenum">
              <a:rPr lang="en-GB" altLang="en-US" sz="1200">
                <a:latin typeface="Arial" panose="020B0604020202020204" pitchFamily="34" charset="0"/>
                <a:cs typeface="Arial" panose="020B0604020202020204" pitchFamily="34" charset="0"/>
              </a:rPr>
              <a:pPr fontAlgn="base">
                <a:spcBef>
                  <a:spcPct val="0"/>
                </a:spcBef>
                <a:spcAft>
                  <a:spcPct val="0"/>
                </a:spcAft>
              </a:pPr>
              <a:t>81</a:t>
            </a:fld>
            <a:endParaRPr lang="en-GB" altLang="en-US" sz="1200">
              <a:latin typeface="Arial" panose="020B0604020202020204" pitchFamily="34" charset="0"/>
              <a:cs typeface="Arial" panose="020B0604020202020204" pitchFamily="34"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4B575-B2EE-4647-BC05-8DD523375F10}"/>
              </a:ext>
            </a:extLst>
          </p:cNvPr>
          <p:cNvSpPr>
            <a:spLocks noGrp="1"/>
          </p:cNvSpPr>
          <p:nvPr>
            <p:ph type="title"/>
          </p:nvPr>
        </p:nvSpPr>
        <p:spPr>
          <a:xfrm>
            <a:off x="1981200" y="274639"/>
            <a:ext cx="8229600" cy="777875"/>
          </a:xfrm>
        </p:spPr>
        <p:txBody>
          <a:bodyPr rtlCol="0">
            <a:normAutofit fontScale="90000"/>
          </a:bodyPr>
          <a:lstStyle/>
          <a:p>
            <a:pPr eaLnBrk="1" fontAlgn="auto" hangingPunct="1">
              <a:spcAft>
                <a:spcPts val="0"/>
              </a:spcAft>
              <a:defRPr/>
            </a:pPr>
            <a:r>
              <a:rPr lang="en-GB" sz="3200" dirty="0"/>
              <a:t>Checking proportion assumptions </a:t>
            </a:r>
            <a:br>
              <a:rPr lang="en-GB" sz="3200" dirty="0"/>
            </a:br>
            <a:r>
              <a:rPr lang="en-GB" sz="3200" dirty="0"/>
              <a:t>of Cox-Model</a:t>
            </a:r>
          </a:p>
        </p:txBody>
      </p:sp>
      <p:pic>
        <p:nvPicPr>
          <p:cNvPr id="88067"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a:xfrm>
            <a:off x="3470275" y="1825626"/>
            <a:ext cx="5118100" cy="3743325"/>
          </a:xfrm>
        </p:spPr>
      </p:pic>
      <p:sp>
        <p:nvSpPr>
          <p:cNvPr id="88068"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3C72E382-9898-45C4-BF0C-83CE18990B02}" type="slidenum">
              <a:rPr lang="en-GB" altLang="en-US" sz="1200">
                <a:latin typeface="Arial" panose="020B0604020202020204" pitchFamily="34" charset="0"/>
                <a:cs typeface="Arial" panose="020B0604020202020204" pitchFamily="34" charset="0"/>
              </a:rPr>
              <a:pPr fontAlgn="base">
                <a:spcBef>
                  <a:spcPct val="0"/>
                </a:spcBef>
                <a:spcAft>
                  <a:spcPct val="0"/>
                </a:spcAft>
              </a:pPr>
              <a:t>82</a:t>
            </a:fld>
            <a:endParaRPr lang="en-GB" altLang="en-US" sz="1200">
              <a:latin typeface="Arial" panose="020B0604020202020204" pitchFamily="34" charset="0"/>
              <a:cs typeface="Arial" panose="020B0604020202020204" pitchFamily="34"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7A201-88E8-4E4B-8714-B04417DEC2BD}"/>
              </a:ext>
            </a:extLst>
          </p:cNvPr>
          <p:cNvSpPr>
            <a:spLocks noGrp="1"/>
          </p:cNvSpPr>
          <p:nvPr>
            <p:ph type="title"/>
          </p:nvPr>
        </p:nvSpPr>
        <p:spPr>
          <a:xfrm>
            <a:off x="1981200" y="274639"/>
            <a:ext cx="8229600" cy="777875"/>
          </a:xfrm>
        </p:spPr>
        <p:txBody>
          <a:bodyPr rtlCol="0">
            <a:normAutofit fontScale="90000"/>
          </a:bodyPr>
          <a:lstStyle/>
          <a:p>
            <a:pPr eaLnBrk="1" fontAlgn="auto" hangingPunct="1">
              <a:spcAft>
                <a:spcPts val="0"/>
              </a:spcAft>
              <a:defRPr/>
            </a:pPr>
            <a:r>
              <a:rPr lang="en-GB" sz="3200" dirty="0"/>
              <a:t>Checking proportion assumptions </a:t>
            </a:r>
            <a:br>
              <a:rPr lang="en-GB" sz="3200" dirty="0"/>
            </a:br>
            <a:r>
              <a:rPr lang="en-GB" sz="3200" dirty="0"/>
              <a:t>of Cox-Model</a:t>
            </a:r>
          </a:p>
        </p:txBody>
      </p:sp>
      <p:pic>
        <p:nvPicPr>
          <p:cNvPr id="89091"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a:xfrm>
            <a:off x="3128964" y="1825625"/>
            <a:ext cx="5934075" cy="4351338"/>
          </a:xfrm>
        </p:spPr>
      </p:pic>
      <p:sp>
        <p:nvSpPr>
          <p:cNvPr id="89092"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55EED85E-1312-4085-8704-62A0D0C659F4}" type="slidenum">
              <a:rPr lang="en-GB" altLang="en-US" sz="1200">
                <a:latin typeface="Arial" panose="020B0604020202020204" pitchFamily="34" charset="0"/>
                <a:cs typeface="Arial" panose="020B0604020202020204" pitchFamily="34" charset="0"/>
              </a:rPr>
              <a:pPr fontAlgn="base">
                <a:spcBef>
                  <a:spcPct val="0"/>
                </a:spcBef>
                <a:spcAft>
                  <a:spcPct val="0"/>
                </a:spcAft>
              </a:pPr>
              <a:t>83</a:t>
            </a:fld>
            <a:endParaRPr lang="en-GB" altLang="en-US" sz="1200">
              <a:latin typeface="Arial" panose="020B0604020202020204" pitchFamily="34" charset="0"/>
              <a:cs typeface="Arial" panose="020B0604020202020204" pitchFamily="34"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B952-1AE3-4B28-AA7F-83FC7DBD29D1}"/>
              </a:ext>
            </a:extLst>
          </p:cNvPr>
          <p:cNvSpPr>
            <a:spLocks noGrp="1"/>
          </p:cNvSpPr>
          <p:nvPr>
            <p:ph type="title"/>
          </p:nvPr>
        </p:nvSpPr>
        <p:spPr>
          <a:xfrm>
            <a:off x="1981200" y="274639"/>
            <a:ext cx="8229600" cy="777875"/>
          </a:xfrm>
        </p:spPr>
        <p:txBody>
          <a:bodyPr rtlCol="0">
            <a:normAutofit fontScale="90000"/>
          </a:bodyPr>
          <a:lstStyle/>
          <a:p>
            <a:pPr eaLnBrk="1" fontAlgn="auto" hangingPunct="1">
              <a:spcAft>
                <a:spcPts val="0"/>
              </a:spcAft>
              <a:defRPr/>
            </a:pPr>
            <a:r>
              <a:rPr lang="en-GB" sz="3200" dirty="0"/>
              <a:t>Fitting the Cox-Model relaxing the proportional assumptions in clinics</a:t>
            </a:r>
          </a:p>
        </p:txBody>
      </p:sp>
      <p:sp>
        <p:nvSpPr>
          <p:cNvPr id="3" name="Content Placeholder 2">
            <a:extLst>
              <a:ext uri="{FF2B5EF4-FFF2-40B4-BE49-F238E27FC236}">
                <a16:creationId xmlns:a16="http://schemas.microsoft.com/office/drawing/2014/main" id="{EEA1447A-F4A0-41D9-81AD-AFE9A3F416B9}"/>
              </a:ext>
            </a:extLst>
          </p:cNvPr>
          <p:cNvSpPr>
            <a:spLocks noGrp="1"/>
          </p:cNvSpPr>
          <p:nvPr>
            <p:ph idx="1"/>
          </p:nvPr>
        </p:nvSpPr>
        <p:spPr>
          <a:xfrm>
            <a:off x="1774826" y="1268413"/>
            <a:ext cx="8435975" cy="4857750"/>
          </a:xfrm>
        </p:spPr>
        <p:txBody>
          <a:bodyPr rtlCol="0">
            <a:normAutofit fontScale="77500" lnSpcReduction="20000"/>
          </a:bodyPr>
          <a:lstStyle/>
          <a:p>
            <a:pPr eaLnBrk="1" fontAlgn="auto" hangingPunct="1">
              <a:spcAft>
                <a:spcPts val="0"/>
              </a:spcAft>
              <a:defRPr/>
            </a:pPr>
            <a:endParaRPr lang="en-GB" sz="2000" dirty="0">
              <a:latin typeface="Courier New" pitchFamily="49" charset="0"/>
              <a:cs typeface="Courier New" pitchFamily="49" charset="0"/>
            </a:endParaRPr>
          </a:p>
          <a:p>
            <a:pPr eaLnBrk="1" fontAlgn="auto" hangingPunct="1">
              <a:spcAft>
                <a:spcPts val="0"/>
              </a:spcAft>
              <a:defRPr/>
            </a:pPr>
            <a:r>
              <a:rPr lang="en-GB" sz="2000" dirty="0">
                <a:latin typeface="Courier New" pitchFamily="49" charset="0"/>
                <a:cs typeface="Courier New" pitchFamily="49" charset="0"/>
              </a:rPr>
              <a:t>.  </a:t>
            </a:r>
            <a:r>
              <a:rPr lang="en-GB" sz="1200" dirty="0" err="1">
                <a:latin typeface="Courier New" pitchFamily="49" charset="0"/>
                <a:cs typeface="Courier New" pitchFamily="49" charset="0"/>
              </a:rPr>
              <a:t>stcox</a:t>
            </a:r>
            <a:r>
              <a:rPr lang="en-GB" sz="1200" dirty="0">
                <a:latin typeface="Courier New" pitchFamily="49" charset="0"/>
                <a:cs typeface="Courier New" pitchFamily="49" charset="0"/>
              </a:rPr>
              <a:t> dose prison, strata(clinic)</a:t>
            </a:r>
          </a:p>
          <a:p>
            <a:pPr eaLnBrk="1" fontAlgn="auto" hangingPunct="1">
              <a:spcAft>
                <a:spcPts val="0"/>
              </a:spcAft>
              <a:defRPr/>
            </a:pPr>
            <a:endParaRPr lang="en-GB" sz="1200" dirty="0">
              <a:latin typeface="Courier New" pitchFamily="49" charset="0"/>
              <a:cs typeface="Courier New" pitchFamily="49" charset="0"/>
            </a:endParaRPr>
          </a:p>
          <a:p>
            <a:pPr eaLnBrk="1" fontAlgn="auto" hangingPunct="1">
              <a:spcAft>
                <a:spcPts val="0"/>
              </a:spcAft>
              <a:defRPr/>
            </a:pPr>
            <a:r>
              <a:rPr lang="en-GB" sz="1200" dirty="0">
                <a:latin typeface="Courier New" pitchFamily="49" charset="0"/>
                <a:cs typeface="Courier New" pitchFamily="49" charset="0"/>
              </a:rPr>
              <a:t>         failure _d:  status</a:t>
            </a:r>
          </a:p>
          <a:p>
            <a:pPr eaLnBrk="1" fontAlgn="auto" hangingPunct="1">
              <a:spcAft>
                <a:spcPts val="0"/>
              </a:spcAft>
              <a:defRPr/>
            </a:pPr>
            <a:r>
              <a:rPr lang="en-GB" sz="1200" dirty="0">
                <a:latin typeface="Courier New" pitchFamily="49" charset="0"/>
                <a:cs typeface="Courier New" pitchFamily="49" charset="0"/>
              </a:rPr>
              <a:t>   analysis time _t:  time</a:t>
            </a:r>
          </a:p>
          <a:p>
            <a:pPr marL="0" indent="0" eaLnBrk="1" fontAlgn="auto" hangingPunct="1">
              <a:spcAft>
                <a:spcPts val="0"/>
              </a:spcAft>
              <a:buNone/>
              <a:defRPr/>
            </a:pPr>
            <a:endParaRPr lang="en-GB" sz="1200" dirty="0">
              <a:latin typeface="Courier New" pitchFamily="49" charset="0"/>
              <a:cs typeface="Courier New" pitchFamily="49" charset="0"/>
            </a:endParaRPr>
          </a:p>
          <a:p>
            <a:pPr eaLnBrk="1" fontAlgn="auto" hangingPunct="1">
              <a:spcAft>
                <a:spcPts val="0"/>
              </a:spcAft>
              <a:defRPr/>
            </a:pPr>
            <a:r>
              <a:rPr lang="en-GB" sz="1200" dirty="0">
                <a:latin typeface="Courier New" pitchFamily="49" charset="0"/>
                <a:cs typeface="Courier New" pitchFamily="49" charset="0"/>
              </a:rPr>
              <a:t>Stratified Cox </a:t>
            </a:r>
            <a:r>
              <a:rPr lang="en-GB" sz="1200" dirty="0" err="1">
                <a:latin typeface="Courier New" pitchFamily="49" charset="0"/>
                <a:cs typeface="Courier New" pitchFamily="49" charset="0"/>
              </a:rPr>
              <a:t>regr</a:t>
            </a:r>
            <a:r>
              <a:rPr lang="en-GB" sz="1200" dirty="0">
                <a:latin typeface="Courier New" pitchFamily="49" charset="0"/>
                <a:cs typeface="Courier New" pitchFamily="49" charset="0"/>
              </a:rPr>
              <a:t>. -- </a:t>
            </a:r>
            <a:r>
              <a:rPr lang="en-GB" sz="1200" dirty="0" err="1">
                <a:latin typeface="Courier New" pitchFamily="49" charset="0"/>
                <a:cs typeface="Courier New" pitchFamily="49" charset="0"/>
              </a:rPr>
              <a:t>Breslow</a:t>
            </a:r>
            <a:r>
              <a:rPr lang="en-GB" sz="1200" dirty="0">
                <a:latin typeface="Courier New" pitchFamily="49" charset="0"/>
                <a:cs typeface="Courier New" pitchFamily="49" charset="0"/>
              </a:rPr>
              <a:t> method for ties</a:t>
            </a:r>
          </a:p>
          <a:p>
            <a:pPr eaLnBrk="1" fontAlgn="auto" hangingPunct="1">
              <a:spcAft>
                <a:spcPts val="0"/>
              </a:spcAft>
              <a:defRPr/>
            </a:pPr>
            <a:endParaRPr lang="en-GB" sz="1200" dirty="0">
              <a:latin typeface="Courier New" pitchFamily="49" charset="0"/>
              <a:cs typeface="Courier New" pitchFamily="49" charset="0"/>
            </a:endParaRPr>
          </a:p>
          <a:p>
            <a:pPr eaLnBrk="1" fontAlgn="auto" hangingPunct="1">
              <a:spcAft>
                <a:spcPts val="0"/>
              </a:spcAft>
              <a:defRPr/>
            </a:pPr>
            <a:r>
              <a:rPr lang="en-GB" sz="1200" dirty="0">
                <a:latin typeface="Courier New" pitchFamily="49" charset="0"/>
                <a:cs typeface="Courier New" pitchFamily="49" charset="0"/>
              </a:rPr>
              <a:t>No. of subjects =          238                     Number of </a:t>
            </a:r>
            <a:r>
              <a:rPr lang="en-GB" sz="1200" dirty="0" err="1">
                <a:latin typeface="Courier New" pitchFamily="49" charset="0"/>
                <a:cs typeface="Courier New" pitchFamily="49" charset="0"/>
              </a:rPr>
              <a:t>obs</a:t>
            </a:r>
            <a:r>
              <a:rPr lang="en-GB" sz="1200" dirty="0">
                <a:latin typeface="Courier New" pitchFamily="49" charset="0"/>
                <a:cs typeface="Courier New" pitchFamily="49" charset="0"/>
              </a:rPr>
              <a:t>   =       238</a:t>
            </a:r>
          </a:p>
          <a:p>
            <a:pPr eaLnBrk="1" fontAlgn="auto" hangingPunct="1">
              <a:spcAft>
                <a:spcPts val="0"/>
              </a:spcAft>
              <a:defRPr/>
            </a:pPr>
            <a:r>
              <a:rPr lang="en-GB" sz="1200" dirty="0">
                <a:latin typeface="Courier New" pitchFamily="49" charset="0"/>
                <a:cs typeface="Courier New" pitchFamily="49" charset="0"/>
              </a:rPr>
              <a:t>No. of failures =          150</a:t>
            </a:r>
          </a:p>
          <a:p>
            <a:pPr eaLnBrk="1" fontAlgn="auto" hangingPunct="1">
              <a:spcAft>
                <a:spcPts val="0"/>
              </a:spcAft>
              <a:defRPr/>
            </a:pPr>
            <a:r>
              <a:rPr lang="en-GB" sz="1200" dirty="0">
                <a:latin typeface="Courier New" pitchFamily="49" charset="0"/>
                <a:cs typeface="Courier New" pitchFamily="49" charset="0"/>
              </a:rPr>
              <a:t>Time at risk    =        95812</a:t>
            </a:r>
          </a:p>
          <a:p>
            <a:pPr eaLnBrk="1" fontAlgn="auto" hangingPunct="1">
              <a:spcAft>
                <a:spcPts val="0"/>
              </a:spcAft>
              <a:defRPr/>
            </a:pPr>
            <a:r>
              <a:rPr lang="en-GB" sz="1200" dirty="0">
                <a:latin typeface="Courier New" pitchFamily="49" charset="0"/>
                <a:cs typeface="Courier New" pitchFamily="49" charset="0"/>
              </a:rPr>
              <a:t>                                                   LR chi2(2)      =     33.94</a:t>
            </a:r>
          </a:p>
          <a:p>
            <a:pPr eaLnBrk="1" fontAlgn="auto" hangingPunct="1">
              <a:spcAft>
                <a:spcPts val="0"/>
              </a:spcAft>
              <a:defRPr/>
            </a:pPr>
            <a:r>
              <a:rPr lang="en-GB" sz="1200" dirty="0">
                <a:latin typeface="Courier New" pitchFamily="49" charset="0"/>
                <a:cs typeface="Courier New" pitchFamily="49" charset="0"/>
              </a:rPr>
              <a:t>Log likelihood  =     -597.714                     </a:t>
            </a:r>
            <a:r>
              <a:rPr lang="en-GB" sz="1200" dirty="0" err="1">
                <a:latin typeface="Courier New" pitchFamily="49" charset="0"/>
                <a:cs typeface="Courier New" pitchFamily="49" charset="0"/>
              </a:rPr>
              <a:t>Prob</a:t>
            </a:r>
            <a:r>
              <a:rPr lang="en-GB" sz="1200" dirty="0">
                <a:latin typeface="Courier New" pitchFamily="49" charset="0"/>
                <a:cs typeface="Courier New" pitchFamily="49" charset="0"/>
              </a:rPr>
              <a:t> &gt; chi2     =    0.0000</a:t>
            </a:r>
          </a:p>
          <a:p>
            <a:pPr eaLnBrk="1" fontAlgn="auto" hangingPunct="1">
              <a:spcAft>
                <a:spcPts val="0"/>
              </a:spcAft>
              <a:defRPr/>
            </a:pPr>
            <a:endParaRPr lang="en-GB" sz="1200" dirty="0">
              <a:latin typeface="Courier New" pitchFamily="49" charset="0"/>
              <a:cs typeface="Courier New" pitchFamily="49" charset="0"/>
            </a:endParaRPr>
          </a:p>
          <a:p>
            <a:pPr eaLnBrk="1" fontAlgn="auto" hangingPunct="1">
              <a:spcAft>
                <a:spcPts val="0"/>
              </a:spcAft>
              <a:defRPr/>
            </a:pPr>
            <a:r>
              <a:rPr lang="en-GB" sz="1200" dirty="0">
                <a:latin typeface="Courier New" pitchFamily="49" charset="0"/>
                <a:cs typeface="Courier New" pitchFamily="49" charset="0"/>
              </a:rPr>
              <a:t>------------------------------------------------------------------------------</a:t>
            </a:r>
          </a:p>
          <a:p>
            <a:pPr eaLnBrk="1" fontAlgn="auto" hangingPunct="1">
              <a:spcAft>
                <a:spcPts val="0"/>
              </a:spcAft>
              <a:defRPr/>
            </a:pPr>
            <a:r>
              <a:rPr lang="en-GB" sz="1200" dirty="0">
                <a:latin typeface="Courier New" pitchFamily="49" charset="0"/>
                <a:cs typeface="Courier New" pitchFamily="49" charset="0"/>
              </a:rPr>
              <a:t>          _t | </a:t>
            </a:r>
            <a:r>
              <a:rPr lang="en-GB" sz="1200" dirty="0" err="1">
                <a:latin typeface="Courier New" pitchFamily="49" charset="0"/>
                <a:cs typeface="Courier New" pitchFamily="49" charset="0"/>
              </a:rPr>
              <a:t>Haz</a:t>
            </a:r>
            <a:r>
              <a:rPr lang="en-GB" sz="1200" dirty="0">
                <a:latin typeface="Courier New" pitchFamily="49" charset="0"/>
                <a:cs typeface="Courier New" pitchFamily="49" charset="0"/>
              </a:rPr>
              <a:t>. Ratio   Std. Err.      z    P&gt;|z|     [95% Conf. Interval]</a:t>
            </a:r>
          </a:p>
          <a:p>
            <a:pPr eaLnBrk="1" fontAlgn="auto" hangingPunct="1">
              <a:spcAft>
                <a:spcPts val="0"/>
              </a:spcAft>
              <a:defRPr/>
            </a:pPr>
            <a:r>
              <a:rPr lang="en-GB" sz="1200" dirty="0">
                <a:latin typeface="Courier New" pitchFamily="49" charset="0"/>
                <a:cs typeface="Courier New" pitchFamily="49" charset="0"/>
              </a:rPr>
              <a:t>-------------+----------------------------------------------------------------</a:t>
            </a:r>
          </a:p>
          <a:p>
            <a:pPr eaLnBrk="1" fontAlgn="auto" hangingPunct="1">
              <a:spcAft>
                <a:spcPts val="0"/>
              </a:spcAft>
              <a:defRPr/>
            </a:pPr>
            <a:r>
              <a:rPr lang="en-GB" sz="1200" dirty="0">
                <a:latin typeface="Courier New" pitchFamily="49" charset="0"/>
                <a:cs typeface="Courier New" pitchFamily="49" charset="0"/>
              </a:rPr>
              <a:t>        dose |   .9654655   .0062418    -5.44   0.000      .953309     .977777</a:t>
            </a:r>
          </a:p>
          <a:p>
            <a:pPr eaLnBrk="1" fontAlgn="auto" hangingPunct="1">
              <a:spcAft>
                <a:spcPts val="0"/>
              </a:spcAft>
              <a:defRPr/>
            </a:pPr>
            <a:r>
              <a:rPr lang="en-GB" sz="1200" dirty="0">
                <a:latin typeface="Courier New" pitchFamily="49" charset="0"/>
                <a:cs typeface="Courier New" pitchFamily="49" charset="0"/>
              </a:rPr>
              <a:t>      prison |   1.475192   .2491827     2.30   0.021     1.059418    2.054138</a:t>
            </a:r>
          </a:p>
          <a:p>
            <a:pPr eaLnBrk="1" fontAlgn="auto" hangingPunct="1">
              <a:spcAft>
                <a:spcPts val="0"/>
              </a:spcAft>
              <a:defRPr/>
            </a:pPr>
            <a:r>
              <a:rPr lang="en-GB" sz="1200" dirty="0">
                <a:latin typeface="Courier New" pitchFamily="49" charset="0"/>
                <a:cs typeface="Courier New" pitchFamily="49" charset="0"/>
              </a:rPr>
              <a:t>------------------------------------------------------------------------------</a:t>
            </a:r>
          </a:p>
          <a:p>
            <a:pPr eaLnBrk="1" fontAlgn="auto" hangingPunct="1">
              <a:spcAft>
                <a:spcPts val="0"/>
              </a:spcAft>
              <a:defRPr/>
            </a:pPr>
            <a:r>
              <a:rPr lang="en-GB" sz="1200" dirty="0">
                <a:latin typeface="Courier New" pitchFamily="49" charset="0"/>
                <a:cs typeface="Courier New" pitchFamily="49" charset="0"/>
              </a:rPr>
              <a:t>                                                          Stratified by clinic</a:t>
            </a:r>
          </a:p>
          <a:p>
            <a:pPr eaLnBrk="1" fontAlgn="auto" hangingPunct="1">
              <a:spcAft>
                <a:spcPts val="0"/>
              </a:spcAft>
              <a:defRPr/>
            </a:pPr>
            <a:endParaRPr lang="en-GB" sz="1200" dirty="0">
              <a:latin typeface="Courier New" pitchFamily="49" charset="0"/>
              <a:cs typeface="Courier New" pitchFamily="49" charset="0"/>
            </a:endParaRPr>
          </a:p>
          <a:p>
            <a:pPr eaLnBrk="1" fontAlgn="auto" hangingPunct="1">
              <a:spcAft>
                <a:spcPts val="0"/>
              </a:spcAft>
              <a:defRPr/>
            </a:pPr>
            <a:endParaRPr lang="en-GB" sz="1200" dirty="0">
              <a:latin typeface="Courier New" pitchFamily="49" charset="0"/>
              <a:cs typeface="Courier New" pitchFamily="49" charset="0"/>
            </a:endParaRPr>
          </a:p>
        </p:txBody>
      </p:sp>
      <p:sp>
        <p:nvSpPr>
          <p:cNvPr id="9011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6F944D80-DCFE-4BF6-8D12-9EFC22348B34}" type="slidenum">
              <a:rPr lang="en-GB" altLang="en-US" sz="1200">
                <a:latin typeface="Arial" panose="020B0604020202020204" pitchFamily="34" charset="0"/>
                <a:cs typeface="Arial" panose="020B0604020202020204" pitchFamily="34" charset="0"/>
              </a:rPr>
              <a:pPr fontAlgn="base">
                <a:spcBef>
                  <a:spcPct val="0"/>
                </a:spcBef>
                <a:spcAft>
                  <a:spcPct val="0"/>
                </a:spcAft>
              </a:pPr>
              <a:t>84</a:t>
            </a:fld>
            <a:endParaRPr lang="en-GB" altLang="en-US" sz="1200">
              <a:latin typeface="Arial" panose="020B0604020202020204" pitchFamily="34" charset="0"/>
              <a:cs typeface="Arial" panose="020B0604020202020204" pitchFamily="34"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CF513-E9B7-4ABB-9F53-05F65B6CD9C8}"/>
              </a:ext>
            </a:extLst>
          </p:cNvPr>
          <p:cNvSpPr>
            <a:spLocks noGrp="1"/>
          </p:cNvSpPr>
          <p:nvPr>
            <p:ph type="title"/>
          </p:nvPr>
        </p:nvSpPr>
        <p:spPr>
          <a:xfrm>
            <a:off x="1981200" y="274639"/>
            <a:ext cx="8229600" cy="777875"/>
          </a:xfrm>
        </p:spPr>
        <p:txBody>
          <a:bodyPr rtlCol="0">
            <a:normAutofit fontScale="90000"/>
          </a:bodyPr>
          <a:lstStyle/>
          <a:p>
            <a:pPr eaLnBrk="1" fontAlgn="auto" hangingPunct="1">
              <a:spcAft>
                <a:spcPts val="0"/>
              </a:spcAft>
              <a:defRPr/>
            </a:pPr>
            <a:r>
              <a:rPr lang="en-GB" sz="3200" dirty="0"/>
              <a:t>Fitting the Cox-Model relaxing the proportional assumptions in prisons</a:t>
            </a:r>
          </a:p>
        </p:txBody>
      </p:sp>
      <p:sp>
        <p:nvSpPr>
          <p:cNvPr id="3" name="Content Placeholder 2">
            <a:extLst>
              <a:ext uri="{FF2B5EF4-FFF2-40B4-BE49-F238E27FC236}">
                <a16:creationId xmlns:a16="http://schemas.microsoft.com/office/drawing/2014/main" id="{715DC915-F339-44D2-B8C7-F714625A0CCC}"/>
              </a:ext>
            </a:extLst>
          </p:cNvPr>
          <p:cNvSpPr>
            <a:spLocks noGrp="1"/>
          </p:cNvSpPr>
          <p:nvPr>
            <p:ph idx="1"/>
          </p:nvPr>
        </p:nvSpPr>
        <p:spPr>
          <a:xfrm>
            <a:off x="1774826" y="1268413"/>
            <a:ext cx="8435975" cy="4857750"/>
          </a:xfrm>
        </p:spPr>
        <p:txBody>
          <a:bodyPr rtlCol="0">
            <a:normAutofit fontScale="70000" lnSpcReduction="20000"/>
          </a:bodyPr>
          <a:lstStyle/>
          <a:p>
            <a:pPr eaLnBrk="1" fontAlgn="auto" hangingPunct="1">
              <a:spcAft>
                <a:spcPts val="0"/>
              </a:spcAft>
              <a:defRPr/>
            </a:pPr>
            <a:r>
              <a:rPr lang="en-GB" sz="1200" dirty="0">
                <a:latin typeface="Courier New" pitchFamily="49" charset="0"/>
                <a:cs typeface="Courier New" pitchFamily="49" charset="0"/>
              </a:rPr>
              <a:t>i: </a:t>
            </a:r>
            <a:r>
              <a:rPr lang="en-GB" sz="1200" dirty="0" err="1">
                <a:latin typeface="Courier New" pitchFamily="49" charset="0"/>
                <a:cs typeface="Courier New" pitchFamily="49" charset="0"/>
              </a:rPr>
              <a:t>stcox</a:t>
            </a:r>
            <a:r>
              <a:rPr lang="en-GB" sz="1200" dirty="0">
                <a:latin typeface="Courier New" pitchFamily="49" charset="0"/>
                <a:cs typeface="Courier New" pitchFamily="49" charset="0"/>
              </a:rPr>
              <a:t> dose </a:t>
            </a:r>
            <a:r>
              <a:rPr lang="en-GB" sz="1200" dirty="0" err="1">
                <a:latin typeface="Courier New" pitchFamily="49" charset="0"/>
                <a:cs typeface="Courier New" pitchFamily="49" charset="0"/>
              </a:rPr>
              <a:t>i.clinic</a:t>
            </a:r>
            <a:r>
              <a:rPr lang="en-GB" sz="1200" dirty="0">
                <a:latin typeface="Courier New" pitchFamily="49" charset="0"/>
                <a:cs typeface="Courier New" pitchFamily="49" charset="0"/>
              </a:rPr>
              <a:t>, strata(prison)</a:t>
            </a:r>
          </a:p>
          <a:p>
            <a:pPr eaLnBrk="1" fontAlgn="auto" hangingPunct="1">
              <a:spcAft>
                <a:spcPts val="0"/>
              </a:spcAft>
              <a:defRPr/>
            </a:pPr>
            <a:r>
              <a:rPr lang="en-GB" sz="1200" dirty="0" err="1">
                <a:latin typeface="Courier New" pitchFamily="49" charset="0"/>
                <a:cs typeface="Courier New" pitchFamily="49" charset="0"/>
              </a:rPr>
              <a:t>i.clinic</a:t>
            </a:r>
            <a:r>
              <a:rPr lang="en-GB" sz="1200" dirty="0">
                <a:latin typeface="Courier New" pitchFamily="49" charset="0"/>
                <a:cs typeface="Courier New" pitchFamily="49" charset="0"/>
              </a:rPr>
              <a:t>          _Iclinic_1-2        (naturally coded; _Iclinic_1 omitted)</a:t>
            </a:r>
          </a:p>
          <a:p>
            <a:pPr eaLnBrk="1" fontAlgn="auto" hangingPunct="1">
              <a:spcAft>
                <a:spcPts val="0"/>
              </a:spcAft>
              <a:defRPr/>
            </a:pPr>
            <a:endParaRPr lang="en-GB" sz="1200" dirty="0">
              <a:latin typeface="Courier New" pitchFamily="49" charset="0"/>
              <a:cs typeface="Courier New" pitchFamily="49" charset="0"/>
            </a:endParaRPr>
          </a:p>
          <a:p>
            <a:pPr eaLnBrk="1" fontAlgn="auto" hangingPunct="1">
              <a:spcAft>
                <a:spcPts val="0"/>
              </a:spcAft>
              <a:defRPr/>
            </a:pPr>
            <a:r>
              <a:rPr lang="en-GB" sz="1200" dirty="0">
                <a:latin typeface="Courier New" pitchFamily="49" charset="0"/>
                <a:cs typeface="Courier New" pitchFamily="49" charset="0"/>
              </a:rPr>
              <a:t>         failure _d:  status</a:t>
            </a:r>
          </a:p>
          <a:p>
            <a:pPr eaLnBrk="1" fontAlgn="auto" hangingPunct="1">
              <a:spcAft>
                <a:spcPts val="0"/>
              </a:spcAft>
              <a:defRPr/>
            </a:pPr>
            <a:r>
              <a:rPr lang="en-GB" sz="1200" dirty="0">
                <a:latin typeface="Courier New" pitchFamily="49" charset="0"/>
                <a:cs typeface="Courier New" pitchFamily="49" charset="0"/>
              </a:rPr>
              <a:t>   analysis time _t:  time</a:t>
            </a:r>
          </a:p>
          <a:p>
            <a:pPr eaLnBrk="1" fontAlgn="auto" hangingPunct="1">
              <a:spcAft>
                <a:spcPts val="0"/>
              </a:spcAft>
              <a:defRPr/>
            </a:pPr>
            <a:endParaRPr lang="en-GB" sz="1200" dirty="0">
              <a:latin typeface="Courier New" pitchFamily="49" charset="0"/>
              <a:cs typeface="Courier New" pitchFamily="49" charset="0"/>
            </a:endParaRPr>
          </a:p>
          <a:p>
            <a:pPr eaLnBrk="1" fontAlgn="auto" hangingPunct="1">
              <a:spcAft>
                <a:spcPts val="0"/>
              </a:spcAft>
              <a:defRPr/>
            </a:pPr>
            <a:endParaRPr lang="en-GB" sz="1200" dirty="0">
              <a:latin typeface="Courier New" pitchFamily="49" charset="0"/>
              <a:cs typeface="Courier New" pitchFamily="49" charset="0"/>
            </a:endParaRPr>
          </a:p>
          <a:p>
            <a:pPr eaLnBrk="1" fontAlgn="auto" hangingPunct="1">
              <a:spcAft>
                <a:spcPts val="0"/>
              </a:spcAft>
              <a:defRPr/>
            </a:pPr>
            <a:r>
              <a:rPr lang="en-GB" sz="1200" dirty="0">
                <a:latin typeface="Courier New" pitchFamily="49" charset="0"/>
                <a:cs typeface="Courier New" pitchFamily="49" charset="0"/>
              </a:rPr>
              <a:t>Stratified Cox </a:t>
            </a:r>
            <a:r>
              <a:rPr lang="en-GB" sz="1200" dirty="0" err="1">
                <a:latin typeface="Courier New" pitchFamily="49" charset="0"/>
                <a:cs typeface="Courier New" pitchFamily="49" charset="0"/>
              </a:rPr>
              <a:t>regr</a:t>
            </a:r>
            <a:r>
              <a:rPr lang="en-GB" sz="1200" dirty="0">
                <a:latin typeface="Courier New" pitchFamily="49" charset="0"/>
                <a:cs typeface="Courier New" pitchFamily="49" charset="0"/>
              </a:rPr>
              <a:t>. -- </a:t>
            </a:r>
            <a:r>
              <a:rPr lang="en-GB" sz="1200" dirty="0" err="1">
                <a:latin typeface="Courier New" pitchFamily="49" charset="0"/>
                <a:cs typeface="Courier New" pitchFamily="49" charset="0"/>
              </a:rPr>
              <a:t>Breslow</a:t>
            </a:r>
            <a:r>
              <a:rPr lang="en-GB" sz="1200" dirty="0">
                <a:latin typeface="Courier New" pitchFamily="49" charset="0"/>
                <a:cs typeface="Courier New" pitchFamily="49" charset="0"/>
              </a:rPr>
              <a:t> method for ties</a:t>
            </a:r>
          </a:p>
          <a:p>
            <a:pPr eaLnBrk="1" fontAlgn="auto" hangingPunct="1">
              <a:spcAft>
                <a:spcPts val="0"/>
              </a:spcAft>
              <a:defRPr/>
            </a:pPr>
            <a:endParaRPr lang="en-GB" sz="1200" dirty="0">
              <a:latin typeface="Courier New" pitchFamily="49" charset="0"/>
              <a:cs typeface="Courier New" pitchFamily="49" charset="0"/>
            </a:endParaRPr>
          </a:p>
          <a:p>
            <a:pPr eaLnBrk="1" fontAlgn="auto" hangingPunct="1">
              <a:spcAft>
                <a:spcPts val="0"/>
              </a:spcAft>
              <a:defRPr/>
            </a:pPr>
            <a:r>
              <a:rPr lang="en-GB" sz="1200" dirty="0">
                <a:latin typeface="Courier New" pitchFamily="49" charset="0"/>
                <a:cs typeface="Courier New" pitchFamily="49" charset="0"/>
              </a:rPr>
              <a:t>No. of subjects =          238                     Number of </a:t>
            </a:r>
            <a:r>
              <a:rPr lang="en-GB" sz="1200" dirty="0" err="1">
                <a:latin typeface="Courier New" pitchFamily="49" charset="0"/>
                <a:cs typeface="Courier New" pitchFamily="49" charset="0"/>
              </a:rPr>
              <a:t>obs</a:t>
            </a:r>
            <a:r>
              <a:rPr lang="en-GB" sz="1200" dirty="0">
                <a:latin typeface="Courier New" pitchFamily="49" charset="0"/>
                <a:cs typeface="Courier New" pitchFamily="49" charset="0"/>
              </a:rPr>
              <a:t>   =       238</a:t>
            </a:r>
          </a:p>
          <a:p>
            <a:pPr eaLnBrk="1" fontAlgn="auto" hangingPunct="1">
              <a:spcAft>
                <a:spcPts val="0"/>
              </a:spcAft>
              <a:defRPr/>
            </a:pPr>
            <a:r>
              <a:rPr lang="en-GB" sz="1200" dirty="0">
                <a:latin typeface="Courier New" pitchFamily="49" charset="0"/>
                <a:cs typeface="Courier New" pitchFamily="49" charset="0"/>
              </a:rPr>
              <a:t>No. of failures =          150</a:t>
            </a:r>
          </a:p>
          <a:p>
            <a:pPr eaLnBrk="1" fontAlgn="auto" hangingPunct="1">
              <a:spcAft>
                <a:spcPts val="0"/>
              </a:spcAft>
              <a:defRPr/>
            </a:pPr>
            <a:r>
              <a:rPr lang="en-GB" sz="1200" dirty="0">
                <a:latin typeface="Courier New" pitchFamily="49" charset="0"/>
                <a:cs typeface="Courier New" pitchFamily="49" charset="0"/>
              </a:rPr>
              <a:t>Time at risk    =        95812</a:t>
            </a:r>
          </a:p>
          <a:p>
            <a:pPr eaLnBrk="1" fontAlgn="auto" hangingPunct="1">
              <a:spcAft>
                <a:spcPts val="0"/>
              </a:spcAft>
              <a:defRPr/>
            </a:pPr>
            <a:r>
              <a:rPr lang="en-GB" sz="1200" dirty="0">
                <a:latin typeface="Courier New" pitchFamily="49" charset="0"/>
                <a:cs typeface="Courier New" pitchFamily="49" charset="0"/>
              </a:rPr>
              <a:t>                                                   LR chi2(2)      =     60.05</a:t>
            </a:r>
          </a:p>
          <a:p>
            <a:pPr eaLnBrk="1" fontAlgn="auto" hangingPunct="1">
              <a:spcAft>
                <a:spcPts val="0"/>
              </a:spcAft>
              <a:defRPr/>
            </a:pPr>
            <a:r>
              <a:rPr lang="en-GB" sz="1200" dirty="0">
                <a:latin typeface="Courier New" pitchFamily="49" charset="0"/>
                <a:cs typeface="Courier New" pitchFamily="49" charset="0"/>
              </a:rPr>
              <a:t>Log likelihood  =    -572.7156                     </a:t>
            </a:r>
            <a:r>
              <a:rPr lang="en-GB" sz="1200" dirty="0" err="1">
                <a:latin typeface="Courier New" pitchFamily="49" charset="0"/>
                <a:cs typeface="Courier New" pitchFamily="49" charset="0"/>
              </a:rPr>
              <a:t>Prob</a:t>
            </a:r>
            <a:r>
              <a:rPr lang="en-GB" sz="1200" dirty="0">
                <a:latin typeface="Courier New" pitchFamily="49" charset="0"/>
                <a:cs typeface="Courier New" pitchFamily="49" charset="0"/>
              </a:rPr>
              <a:t> &gt; chi2     =    0.0000</a:t>
            </a:r>
          </a:p>
          <a:p>
            <a:pPr eaLnBrk="1" fontAlgn="auto" hangingPunct="1">
              <a:spcAft>
                <a:spcPts val="0"/>
              </a:spcAft>
              <a:defRPr/>
            </a:pPr>
            <a:endParaRPr lang="en-GB" sz="1200" dirty="0">
              <a:latin typeface="Courier New" pitchFamily="49" charset="0"/>
              <a:cs typeface="Courier New" pitchFamily="49" charset="0"/>
            </a:endParaRPr>
          </a:p>
          <a:p>
            <a:pPr eaLnBrk="1" fontAlgn="auto" hangingPunct="1">
              <a:spcAft>
                <a:spcPts val="0"/>
              </a:spcAft>
              <a:defRPr/>
            </a:pPr>
            <a:r>
              <a:rPr lang="en-GB" sz="1200" dirty="0">
                <a:latin typeface="Courier New" pitchFamily="49" charset="0"/>
                <a:cs typeface="Courier New" pitchFamily="49" charset="0"/>
              </a:rPr>
              <a:t>------------------------------------------------------------------------------</a:t>
            </a:r>
          </a:p>
          <a:p>
            <a:pPr eaLnBrk="1" fontAlgn="auto" hangingPunct="1">
              <a:spcAft>
                <a:spcPts val="0"/>
              </a:spcAft>
              <a:defRPr/>
            </a:pPr>
            <a:r>
              <a:rPr lang="en-GB" sz="1200" dirty="0">
                <a:latin typeface="Courier New" pitchFamily="49" charset="0"/>
                <a:cs typeface="Courier New" pitchFamily="49" charset="0"/>
              </a:rPr>
              <a:t>          _t | </a:t>
            </a:r>
            <a:r>
              <a:rPr lang="en-GB" sz="1200" dirty="0" err="1">
                <a:latin typeface="Courier New" pitchFamily="49" charset="0"/>
                <a:cs typeface="Courier New" pitchFamily="49" charset="0"/>
              </a:rPr>
              <a:t>Haz</a:t>
            </a:r>
            <a:r>
              <a:rPr lang="en-GB" sz="1200" dirty="0">
                <a:latin typeface="Courier New" pitchFamily="49" charset="0"/>
                <a:cs typeface="Courier New" pitchFamily="49" charset="0"/>
              </a:rPr>
              <a:t>. Ratio   Std. Err.      z    P&gt;|z|     [95% Conf. Interval]</a:t>
            </a:r>
          </a:p>
          <a:p>
            <a:pPr eaLnBrk="1" fontAlgn="auto" hangingPunct="1">
              <a:spcAft>
                <a:spcPts val="0"/>
              </a:spcAft>
              <a:defRPr/>
            </a:pPr>
            <a:r>
              <a:rPr lang="en-GB" sz="1200" dirty="0">
                <a:latin typeface="Courier New" pitchFamily="49" charset="0"/>
                <a:cs typeface="Courier New" pitchFamily="49" charset="0"/>
              </a:rPr>
              <a:t>-------------+----------------------------------------------------------------</a:t>
            </a:r>
          </a:p>
          <a:p>
            <a:pPr eaLnBrk="1" fontAlgn="auto" hangingPunct="1">
              <a:spcAft>
                <a:spcPts val="0"/>
              </a:spcAft>
              <a:defRPr/>
            </a:pPr>
            <a:r>
              <a:rPr lang="en-GB" sz="1200" dirty="0">
                <a:latin typeface="Courier New" pitchFamily="49" charset="0"/>
                <a:cs typeface="Courier New" pitchFamily="49" charset="0"/>
              </a:rPr>
              <a:t>        dose |   .9655677   .0061875    -5.47   0.000     .9535163    .9777714</a:t>
            </a:r>
          </a:p>
          <a:p>
            <a:pPr eaLnBrk="1" fontAlgn="auto" hangingPunct="1">
              <a:spcAft>
                <a:spcPts val="0"/>
              </a:spcAft>
              <a:defRPr/>
            </a:pPr>
            <a:r>
              <a:rPr lang="en-GB" sz="1200" dirty="0">
                <a:latin typeface="Courier New" pitchFamily="49" charset="0"/>
                <a:cs typeface="Courier New" pitchFamily="49" charset="0"/>
              </a:rPr>
              <a:t>  _Iclinic_2 |   .3845853    .083558    -4.40   0.000     .2512199    .5887507</a:t>
            </a:r>
          </a:p>
          <a:p>
            <a:pPr eaLnBrk="1" fontAlgn="auto" hangingPunct="1">
              <a:spcAft>
                <a:spcPts val="0"/>
              </a:spcAft>
              <a:defRPr/>
            </a:pPr>
            <a:r>
              <a:rPr lang="en-GB" sz="1200" dirty="0">
                <a:latin typeface="Courier New" pitchFamily="49" charset="0"/>
                <a:cs typeface="Courier New" pitchFamily="49" charset="0"/>
              </a:rPr>
              <a:t>------------------------------------------------------------------------------</a:t>
            </a:r>
          </a:p>
          <a:p>
            <a:pPr eaLnBrk="1" fontAlgn="auto" hangingPunct="1">
              <a:spcAft>
                <a:spcPts val="0"/>
              </a:spcAft>
              <a:defRPr/>
            </a:pPr>
            <a:r>
              <a:rPr lang="en-GB" sz="1200" dirty="0">
                <a:latin typeface="Courier New" pitchFamily="49" charset="0"/>
                <a:cs typeface="Courier New" pitchFamily="49" charset="0"/>
              </a:rPr>
              <a:t>                                                          Stratified by prison</a:t>
            </a:r>
          </a:p>
          <a:p>
            <a:pPr eaLnBrk="1" fontAlgn="auto" hangingPunct="1">
              <a:spcAft>
                <a:spcPts val="0"/>
              </a:spcAft>
              <a:defRPr/>
            </a:pPr>
            <a:endParaRPr lang="en-GB" sz="1200" dirty="0">
              <a:latin typeface="Courier New" pitchFamily="49" charset="0"/>
              <a:cs typeface="Courier New" pitchFamily="49" charset="0"/>
            </a:endParaRPr>
          </a:p>
        </p:txBody>
      </p:sp>
      <p:sp>
        <p:nvSpPr>
          <p:cNvPr id="911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2B180F00-C92D-495F-805B-0AFCD75757DA}" type="slidenum">
              <a:rPr lang="en-GB" altLang="en-US" sz="1200">
                <a:latin typeface="Arial" panose="020B0604020202020204" pitchFamily="34" charset="0"/>
                <a:cs typeface="Arial" panose="020B0604020202020204" pitchFamily="34" charset="0"/>
              </a:rPr>
              <a:pPr fontAlgn="base">
                <a:spcBef>
                  <a:spcPct val="0"/>
                </a:spcBef>
                <a:spcAft>
                  <a:spcPct val="0"/>
                </a:spcAft>
              </a:pPr>
              <a:t>85</a:t>
            </a:fld>
            <a:endParaRPr lang="en-GB" altLang="en-US" sz="1200">
              <a:latin typeface="Arial" panose="020B0604020202020204" pitchFamily="34" charset="0"/>
              <a:cs typeface="Arial" panose="020B0604020202020204" pitchFamily="34"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61C7F-73FF-4A5A-9886-983D3BF4FE31}"/>
              </a:ext>
            </a:extLst>
          </p:cNvPr>
          <p:cNvSpPr>
            <a:spLocks noGrp="1"/>
          </p:cNvSpPr>
          <p:nvPr>
            <p:ph type="title"/>
          </p:nvPr>
        </p:nvSpPr>
        <p:spPr>
          <a:xfrm>
            <a:off x="1775521" y="149226"/>
            <a:ext cx="8713093" cy="709613"/>
          </a:xfrm>
        </p:spPr>
        <p:txBody>
          <a:bodyPr>
            <a:normAutofit/>
          </a:bodyPr>
          <a:lstStyle/>
          <a:p>
            <a:pPr eaLnBrk="1" hangingPunct="1">
              <a:defRPr/>
            </a:pPr>
            <a:r>
              <a:rPr lang="en-GB" dirty="0"/>
              <a:t>Steps to analysing time to event data</a:t>
            </a:r>
            <a:endParaRPr lang="en-KE" dirty="0"/>
          </a:p>
        </p:txBody>
      </p:sp>
      <p:pic>
        <p:nvPicPr>
          <p:cNvPr id="92163" name="Content Placeholder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927350" y="868364"/>
            <a:ext cx="6337300" cy="5864225"/>
          </a:xfrm>
        </p:spPr>
      </p:pic>
      <p:sp>
        <p:nvSpPr>
          <p:cNvPr id="4" name="Slide Number Placeholder 3">
            <a:extLst>
              <a:ext uri="{FF2B5EF4-FFF2-40B4-BE49-F238E27FC236}">
                <a16:creationId xmlns:a16="http://schemas.microsoft.com/office/drawing/2014/main" id="{BCB2DD45-00CC-41E4-8F91-BBD489209286}"/>
              </a:ext>
            </a:extLst>
          </p:cNvPr>
          <p:cNvSpPr>
            <a:spLocks noGrp="1"/>
          </p:cNvSpPr>
          <p:nvPr>
            <p:ph type="sldNum" sz="quarter" idx="12"/>
          </p:nvPr>
        </p:nvSpPr>
        <p:spPr/>
        <p:txBody>
          <a:bodyPr/>
          <a:lstStyle/>
          <a:p>
            <a:pPr>
              <a:defRPr/>
            </a:pPr>
            <a:fld id="{9F3C7437-2DF6-400B-9D34-DC6969D5A140}" type="slidenum">
              <a:rPr lang="en-GB" altLang="en-US" smtClean="0"/>
              <a:pPr>
                <a:defRPr/>
              </a:pPr>
              <a:t>86</a:t>
            </a:fld>
            <a:endParaRPr lang="en-GB" alt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itle 1"/>
          <p:cNvSpPr>
            <a:spLocks noGrp="1" noChangeArrowheads="1"/>
          </p:cNvSpPr>
          <p:nvPr>
            <p:ph type="title"/>
          </p:nvPr>
        </p:nvSpPr>
        <p:spPr>
          <a:xfrm>
            <a:off x="2152650" y="300038"/>
            <a:ext cx="7886700" cy="825500"/>
          </a:xfrm>
        </p:spPr>
        <p:txBody>
          <a:bodyPr/>
          <a:lstStyle/>
          <a:p>
            <a:pPr eaLnBrk="1" hangingPunct="1"/>
            <a:r>
              <a:rPr lang="en-GB" altLang="en-US"/>
              <a:t>Example Paper</a:t>
            </a:r>
          </a:p>
        </p:txBody>
      </p:sp>
      <p:sp>
        <p:nvSpPr>
          <p:cNvPr id="93187" name="Content Placeholder 2"/>
          <p:cNvSpPr>
            <a:spLocks noGrp="1" noChangeArrowheads="1"/>
          </p:cNvSpPr>
          <p:nvPr>
            <p:ph idx="1"/>
          </p:nvPr>
        </p:nvSpPr>
        <p:spPr>
          <a:xfrm>
            <a:off x="2152650" y="1125538"/>
            <a:ext cx="8047038" cy="5084762"/>
          </a:xfrm>
        </p:spPr>
        <p:txBody>
          <a:bodyPr>
            <a:normAutofit fontScale="92500" lnSpcReduction="10000"/>
          </a:bodyPr>
          <a:lstStyle/>
          <a:p>
            <a:pPr algn="just" eaLnBrk="1" hangingPunct="1"/>
            <a:r>
              <a:rPr lang="en-GB" altLang="en-US"/>
              <a:t>The event of interest was time to first cardiovascular event, a composite outcome that included all-cause death or cardiovascular hospitalization or emergency department visit.</a:t>
            </a:r>
          </a:p>
          <a:p>
            <a:pPr algn="just" eaLnBrk="1" hangingPunct="1"/>
            <a:r>
              <a:rPr lang="en-GB" altLang="en-US"/>
              <a:t> </a:t>
            </a:r>
          </a:p>
          <a:p>
            <a:pPr algn="just" eaLnBrk="1" hangingPunct="1"/>
            <a:r>
              <a:rPr lang="en-GB" altLang="en-US"/>
              <a:t>The duration a participant was at risk for the event was 6 months.</a:t>
            </a:r>
          </a:p>
          <a:p>
            <a:pPr algn="just" eaLnBrk="1" hangingPunct="1"/>
            <a:endParaRPr lang="en-GB" altLang="en-US"/>
          </a:p>
          <a:p>
            <a:pPr algn="just" eaLnBrk="1" hangingPunct="1"/>
            <a:r>
              <a:rPr lang="en-GB" altLang="en-US"/>
              <a:t>Event data were recorded in days </a:t>
            </a:r>
          </a:p>
          <a:p>
            <a:pPr algn="just" eaLnBrk="1" hangingPunct="1"/>
            <a:r>
              <a:rPr lang="en-GB" altLang="en-US"/>
              <a:t>The sample included 403 participants (59% male; mean age 58.7 ± 14.4 years).</a:t>
            </a:r>
          </a:p>
          <a:p>
            <a:pPr algn="just" eaLnBrk="1" hangingPunct="1"/>
            <a:r>
              <a:rPr lang="en-GB" altLang="en-US"/>
              <a:t>The majority of participants (58%) were NYHA Class III/IV. </a:t>
            </a:r>
          </a:p>
        </p:txBody>
      </p:sp>
      <p:sp>
        <p:nvSpPr>
          <p:cNvPr id="4" name="Slide Number Placeholder 3">
            <a:extLst>
              <a:ext uri="{FF2B5EF4-FFF2-40B4-BE49-F238E27FC236}">
                <a16:creationId xmlns:a16="http://schemas.microsoft.com/office/drawing/2014/main" id="{6E3D03A6-0CC6-4F0B-9FEF-41B41404942D}"/>
              </a:ext>
            </a:extLst>
          </p:cNvPr>
          <p:cNvSpPr>
            <a:spLocks noGrp="1"/>
          </p:cNvSpPr>
          <p:nvPr>
            <p:ph type="sldNum" sz="quarter" idx="12"/>
          </p:nvPr>
        </p:nvSpPr>
        <p:spPr/>
        <p:txBody>
          <a:bodyPr/>
          <a:lstStyle/>
          <a:p>
            <a:pPr>
              <a:defRPr/>
            </a:pPr>
            <a:fld id="{478441E2-C488-4766-8BBB-2D12A6D41763}" type="slidenum">
              <a:rPr lang="en-GB" altLang="en-US" smtClean="0"/>
              <a:pPr>
                <a:defRPr/>
              </a:pPr>
              <a:t>87</a:t>
            </a:fld>
            <a:endParaRPr lang="en-GB" alt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p:cNvSpPr>
            <a:spLocks noGrp="1" noChangeArrowheads="1"/>
          </p:cNvSpPr>
          <p:nvPr>
            <p:ph type="title"/>
          </p:nvPr>
        </p:nvSpPr>
        <p:spPr>
          <a:xfrm>
            <a:off x="2152650" y="300038"/>
            <a:ext cx="7886700" cy="825500"/>
          </a:xfrm>
        </p:spPr>
        <p:txBody>
          <a:bodyPr/>
          <a:lstStyle/>
          <a:p>
            <a:pPr eaLnBrk="1" hangingPunct="1"/>
            <a:r>
              <a:rPr lang="en-GB" altLang="en-US"/>
              <a:t>Example</a:t>
            </a:r>
          </a:p>
        </p:txBody>
      </p:sp>
      <p:sp>
        <p:nvSpPr>
          <p:cNvPr id="3" name="Content Placeholder 2">
            <a:extLst>
              <a:ext uri="{FF2B5EF4-FFF2-40B4-BE49-F238E27FC236}">
                <a16:creationId xmlns:a16="http://schemas.microsoft.com/office/drawing/2014/main" id="{610EAD0E-DB69-4E2A-8578-3CABCCE7166F}"/>
              </a:ext>
            </a:extLst>
          </p:cNvPr>
          <p:cNvSpPr>
            <a:spLocks noGrp="1"/>
          </p:cNvSpPr>
          <p:nvPr>
            <p:ph idx="1"/>
          </p:nvPr>
        </p:nvSpPr>
        <p:spPr>
          <a:xfrm>
            <a:off x="2152650" y="1125538"/>
            <a:ext cx="8047038" cy="5084762"/>
          </a:xfrm>
        </p:spPr>
        <p:txBody>
          <a:bodyPr>
            <a:normAutofit fontScale="92500" lnSpcReduction="20000"/>
          </a:bodyPr>
          <a:lstStyle/>
          <a:p>
            <a:pPr algn="just" eaLnBrk="1" hangingPunct="1">
              <a:defRPr/>
            </a:pPr>
            <a:r>
              <a:rPr lang="en-GB" dirty="0"/>
              <a:t>NYHA is the ‘</a:t>
            </a:r>
            <a:r>
              <a:rPr lang="en-GB" i="1" dirty="0"/>
              <a:t>New York Heart Association (NYHA) functional classification</a:t>
            </a:r>
            <a:r>
              <a:rPr lang="en-GB" dirty="0"/>
              <a:t>’</a:t>
            </a:r>
          </a:p>
          <a:p>
            <a:pPr algn="just" eaLnBrk="1" hangingPunct="1">
              <a:defRPr/>
            </a:pPr>
            <a:endParaRPr lang="en-GB" dirty="0"/>
          </a:p>
          <a:p>
            <a:pPr algn="just" eaLnBrk="1" hangingPunct="1">
              <a:defRPr/>
            </a:pPr>
            <a:r>
              <a:rPr lang="en-GB" dirty="0"/>
              <a:t>The </a:t>
            </a:r>
            <a:r>
              <a:rPr lang="en-GB" dirty="0" err="1"/>
              <a:t>Charlson</a:t>
            </a:r>
            <a:r>
              <a:rPr lang="en-GB" dirty="0"/>
              <a:t> Comorbidity Index was categorized as low [1–2 comorbidities (58%)], medium [3– 4 comorbidities (33%)], and high [5 and more comorbidities (9%)]. </a:t>
            </a:r>
          </a:p>
          <a:p>
            <a:pPr algn="just" eaLnBrk="1" hangingPunct="1">
              <a:defRPr/>
            </a:pPr>
            <a:endParaRPr lang="en-GB" dirty="0"/>
          </a:p>
          <a:p>
            <a:pPr algn="just" eaLnBrk="1" hangingPunct="1">
              <a:defRPr/>
            </a:pPr>
            <a:r>
              <a:rPr lang="en-GB" dirty="0"/>
              <a:t>A total of 118 cardiovascular events (29%) were reported, which included  10 deaths, 82 cardiovascular hospitalizations, and 26 cardiovascular emergency department visits. </a:t>
            </a:r>
          </a:p>
          <a:p>
            <a:pPr algn="just" eaLnBrk="1" hangingPunct="1">
              <a:defRPr/>
            </a:pPr>
            <a:endParaRPr lang="en-GB" dirty="0"/>
          </a:p>
          <a:p>
            <a:pPr eaLnBrk="1" hangingPunct="1">
              <a:defRPr/>
            </a:pPr>
            <a:r>
              <a:rPr lang="en-GB" dirty="0"/>
              <a:t>Each participant entered the study period at time zero, and median exit time was 149.4 days (range = 1–185  days) </a:t>
            </a:r>
            <a:endParaRPr lang="en-KE" dirty="0"/>
          </a:p>
        </p:txBody>
      </p:sp>
      <p:sp>
        <p:nvSpPr>
          <p:cNvPr id="4" name="Slide Number Placeholder 3">
            <a:extLst>
              <a:ext uri="{FF2B5EF4-FFF2-40B4-BE49-F238E27FC236}">
                <a16:creationId xmlns:a16="http://schemas.microsoft.com/office/drawing/2014/main" id="{6E3D03A6-0CC6-4F0B-9FEF-41B41404942D}"/>
              </a:ext>
            </a:extLst>
          </p:cNvPr>
          <p:cNvSpPr>
            <a:spLocks noGrp="1"/>
          </p:cNvSpPr>
          <p:nvPr>
            <p:ph type="sldNum" sz="quarter" idx="12"/>
          </p:nvPr>
        </p:nvSpPr>
        <p:spPr/>
        <p:txBody>
          <a:bodyPr/>
          <a:lstStyle/>
          <a:p>
            <a:pPr>
              <a:defRPr/>
            </a:pPr>
            <a:fld id="{5087C46A-7D45-41A5-912F-0B0B94084D96}" type="slidenum">
              <a:rPr lang="en-GB" altLang="en-US" smtClean="0"/>
              <a:pPr>
                <a:defRPr/>
              </a:pPr>
              <a:t>88</a:t>
            </a:fld>
            <a:endParaRPr lang="en-GB" alt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p:cNvSpPr>
            <a:spLocks noGrp="1" noChangeArrowheads="1"/>
          </p:cNvSpPr>
          <p:nvPr>
            <p:ph type="title"/>
          </p:nvPr>
        </p:nvSpPr>
        <p:spPr>
          <a:xfrm>
            <a:off x="2108200" y="188914"/>
            <a:ext cx="7975600" cy="752475"/>
          </a:xfrm>
        </p:spPr>
        <p:txBody>
          <a:bodyPr/>
          <a:lstStyle/>
          <a:p>
            <a:pPr eaLnBrk="1" hangingPunct="1"/>
            <a:endParaRPr lang="en-US" altLang="en-US"/>
          </a:p>
        </p:txBody>
      </p:sp>
      <p:pic>
        <p:nvPicPr>
          <p:cNvPr id="95236" name="Picture 2" descr="Description of survival data and life table. Example of the (A) overall description of survival data using the stdescribe command and (B) a life table (truncated) using the ltable command."/>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955800" y="1196976"/>
            <a:ext cx="8280400" cy="5292725"/>
          </a:xfrm>
        </p:spPr>
      </p:pic>
      <p:sp>
        <p:nvSpPr>
          <p:cNvPr id="4" name="Slide Number Placeholder 3">
            <a:extLst>
              <a:ext uri="{FF2B5EF4-FFF2-40B4-BE49-F238E27FC236}">
                <a16:creationId xmlns:a16="http://schemas.microsoft.com/office/drawing/2014/main" id="{88E3966B-6DE2-40FE-93AD-16A51F810E1E}"/>
              </a:ext>
            </a:extLst>
          </p:cNvPr>
          <p:cNvSpPr>
            <a:spLocks noGrp="1"/>
          </p:cNvSpPr>
          <p:nvPr>
            <p:ph type="sldNum" sz="quarter" idx="12"/>
          </p:nvPr>
        </p:nvSpPr>
        <p:spPr/>
        <p:txBody>
          <a:bodyPr/>
          <a:lstStyle/>
          <a:p>
            <a:pPr>
              <a:defRPr/>
            </a:pPr>
            <a:fld id="{E3C4BA0F-D1AB-42B6-81CB-82B67F82B98A}" type="slidenum">
              <a:rPr lang="en-GB" altLang="en-US" smtClean="0"/>
              <a:pPr>
                <a:defRPr/>
              </a:pPr>
              <a:t>89</a:t>
            </a:fld>
            <a:endParaRPr lang="en-GB" alt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p:cNvSpPr>
            <a:spLocks noGrp="1" noChangeArrowheads="1"/>
          </p:cNvSpPr>
          <p:nvPr>
            <p:ph type="title"/>
          </p:nvPr>
        </p:nvSpPr>
        <p:spPr>
          <a:xfrm>
            <a:off x="2152650" y="300038"/>
            <a:ext cx="7886700" cy="1325562"/>
          </a:xfrm>
        </p:spPr>
        <p:txBody>
          <a:bodyPr/>
          <a:lstStyle/>
          <a:p>
            <a:pPr eaLnBrk="1" hangingPunct="1"/>
            <a:r>
              <a:rPr lang="en-GB" altLang="en-US"/>
              <a:t>Presenting results</a:t>
            </a:r>
          </a:p>
        </p:txBody>
      </p:sp>
      <p:pic>
        <p:nvPicPr>
          <p:cNvPr id="96259" name="Content Placeholder 4"/>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a:xfrm>
            <a:off x="1993036" y="2108322"/>
            <a:ext cx="8205927" cy="3785944"/>
          </a:xfrm>
        </p:spPr>
      </p:pic>
      <p:sp>
        <p:nvSpPr>
          <p:cNvPr id="4" name="Slide Number Placeholder 3">
            <a:extLst>
              <a:ext uri="{FF2B5EF4-FFF2-40B4-BE49-F238E27FC236}">
                <a16:creationId xmlns:a16="http://schemas.microsoft.com/office/drawing/2014/main" id="{940AA5B2-055F-4F93-86F4-B8F26FEBBBAC}"/>
              </a:ext>
            </a:extLst>
          </p:cNvPr>
          <p:cNvSpPr>
            <a:spLocks noGrp="1"/>
          </p:cNvSpPr>
          <p:nvPr>
            <p:ph type="sldNum" sz="quarter" idx="12"/>
          </p:nvPr>
        </p:nvSpPr>
        <p:spPr/>
        <p:txBody>
          <a:bodyPr/>
          <a:lstStyle/>
          <a:p>
            <a:pPr>
              <a:defRPr/>
            </a:pPr>
            <a:fld id="{8D00728A-6227-43DB-83AA-A5CA65986704}" type="slidenum">
              <a:rPr lang="en-GB" altLang="en-US" smtClean="0"/>
              <a:pPr>
                <a:defRPr/>
              </a:pPr>
              <a:t>90</a:t>
            </a:fld>
            <a:endParaRPr lang="en-GB" alt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p:cNvSpPr>
            <a:spLocks noGrp="1" noChangeArrowheads="1"/>
          </p:cNvSpPr>
          <p:nvPr>
            <p:ph type="title"/>
          </p:nvPr>
        </p:nvSpPr>
        <p:spPr>
          <a:xfrm>
            <a:off x="2152650" y="300038"/>
            <a:ext cx="7886700" cy="1325562"/>
          </a:xfrm>
        </p:spPr>
        <p:txBody>
          <a:bodyPr/>
          <a:lstStyle/>
          <a:p>
            <a:pPr eaLnBrk="1" hangingPunct="1"/>
            <a:r>
              <a:rPr lang="en-GB" altLang="en-US"/>
              <a:t>Interpreting Survival analysis results</a:t>
            </a:r>
          </a:p>
        </p:txBody>
      </p:sp>
      <p:sp>
        <p:nvSpPr>
          <p:cNvPr id="97283" name="Content Placeholder 2"/>
          <p:cNvSpPr>
            <a:spLocks noGrp="1" noChangeArrowheads="1"/>
          </p:cNvSpPr>
          <p:nvPr>
            <p:ph idx="1"/>
          </p:nvPr>
        </p:nvSpPr>
        <p:spPr>
          <a:xfrm>
            <a:off x="1847851" y="1858964"/>
            <a:ext cx="8424863" cy="4497387"/>
          </a:xfrm>
        </p:spPr>
        <p:txBody>
          <a:bodyPr/>
          <a:lstStyle/>
          <a:p>
            <a:pPr algn="just" eaLnBrk="1" hangingPunct="1"/>
            <a:r>
              <a:rPr lang="en-GB" altLang="en-US"/>
              <a:t>The hazard ratios are interpreted in terms of a one unit change in the value of the variable, which is similar to interpreting odds ratios or risk ratios. </a:t>
            </a:r>
          </a:p>
          <a:p>
            <a:pPr algn="just" eaLnBrk="1" hangingPunct="1"/>
            <a:r>
              <a:rPr lang="en-GB" altLang="en-US"/>
              <a:t>For example, a hazard ratio of 1.5 would be interpreted as a 50% greater risk in the event happening within the specified time frame (assuming significance). </a:t>
            </a:r>
          </a:p>
          <a:p>
            <a:pPr algn="just" eaLnBrk="1" hangingPunct="1"/>
            <a:r>
              <a:rPr lang="en-GB" altLang="en-US"/>
              <a:t>Precision around hazard ratios should be reported as 95% confidence intervals.</a:t>
            </a:r>
          </a:p>
        </p:txBody>
      </p:sp>
      <p:sp>
        <p:nvSpPr>
          <p:cNvPr id="4" name="Slide Number Placeholder 3">
            <a:extLst>
              <a:ext uri="{FF2B5EF4-FFF2-40B4-BE49-F238E27FC236}">
                <a16:creationId xmlns:a16="http://schemas.microsoft.com/office/drawing/2014/main" id="{774AF723-D417-4AFF-893E-80D4AF928E11}"/>
              </a:ext>
            </a:extLst>
          </p:cNvPr>
          <p:cNvSpPr>
            <a:spLocks noGrp="1"/>
          </p:cNvSpPr>
          <p:nvPr>
            <p:ph type="sldNum" sz="quarter" idx="12"/>
          </p:nvPr>
        </p:nvSpPr>
        <p:spPr/>
        <p:txBody>
          <a:bodyPr/>
          <a:lstStyle/>
          <a:p>
            <a:pPr>
              <a:defRPr/>
            </a:pPr>
            <a:fld id="{C8B2C6E4-1734-479F-BB79-7983A5628B12}" type="slidenum">
              <a:rPr lang="en-GB" altLang="en-US" smtClean="0"/>
              <a:pPr>
                <a:defRPr/>
              </a:pPr>
              <a:t>91</a:t>
            </a:fld>
            <a:endParaRPr lang="en-GB" alt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CEC70-D772-4C69-81B0-B68C66C4A3B5}"/>
              </a:ext>
            </a:extLst>
          </p:cNvPr>
          <p:cNvSpPr>
            <a:spLocks noGrp="1"/>
          </p:cNvSpPr>
          <p:nvPr>
            <p:ph type="title"/>
          </p:nvPr>
        </p:nvSpPr>
        <p:spPr>
          <a:xfrm>
            <a:off x="1774826" y="300039"/>
            <a:ext cx="8569325" cy="896937"/>
          </a:xfrm>
        </p:spPr>
        <p:txBody>
          <a:bodyPr>
            <a:normAutofit/>
          </a:bodyPr>
          <a:lstStyle/>
          <a:p>
            <a:pPr eaLnBrk="1" hangingPunct="1">
              <a:defRPr/>
            </a:pPr>
            <a:r>
              <a:rPr lang="en-GB" dirty="0"/>
              <a:t>Cox Proportional Hazards Results</a:t>
            </a:r>
            <a:endParaRPr lang="en-KE" dirty="0"/>
          </a:p>
        </p:txBody>
      </p:sp>
      <p:pic>
        <p:nvPicPr>
          <p:cNvPr id="98307" name="Content Placeholder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351088" y="1052514"/>
            <a:ext cx="7561262" cy="5553075"/>
          </a:xfrm>
        </p:spPr>
      </p:pic>
      <p:sp>
        <p:nvSpPr>
          <p:cNvPr id="4" name="Slide Number Placeholder 3">
            <a:extLst>
              <a:ext uri="{FF2B5EF4-FFF2-40B4-BE49-F238E27FC236}">
                <a16:creationId xmlns:a16="http://schemas.microsoft.com/office/drawing/2014/main" id="{5324425C-0B23-4673-A1AD-BC944F15A382}"/>
              </a:ext>
            </a:extLst>
          </p:cNvPr>
          <p:cNvSpPr>
            <a:spLocks noGrp="1"/>
          </p:cNvSpPr>
          <p:nvPr>
            <p:ph type="sldNum" sz="quarter" idx="12"/>
          </p:nvPr>
        </p:nvSpPr>
        <p:spPr/>
        <p:txBody>
          <a:bodyPr/>
          <a:lstStyle/>
          <a:p>
            <a:pPr>
              <a:defRPr/>
            </a:pPr>
            <a:fld id="{BB94EC74-CBD8-49BE-AAE2-B205BC7C9686}" type="slidenum">
              <a:rPr lang="en-GB" altLang="en-US" smtClean="0"/>
              <a:pPr>
                <a:defRPr/>
              </a:pPr>
              <a:t>92</a:t>
            </a:fld>
            <a:endParaRPr lang="en-GB" alt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875E1-7A99-4A3B-9104-3D30456C6242}"/>
              </a:ext>
            </a:extLst>
          </p:cNvPr>
          <p:cNvSpPr>
            <a:spLocks noGrp="1"/>
          </p:cNvSpPr>
          <p:nvPr>
            <p:ph type="title"/>
          </p:nvPr>
        </p:nvSpPr>
        <p:spPr>
          <a:xfrm>
            <a:off x="1992314" y="300039"/>
            <a:ext cx="8567737" cy="968375"/>
          </a:xfrm>
        </p:spPr>
        <p:txBody>
          <a:bodyPr>
            <a:normAutofit/>
          </a:bodyPr>
          <a:lstStyle/>
          <a:p>
            <a:pPr eaLnBrk="1" hangingPunct="1">
              <a:defRPr/>
            </a:pPr>
            <a:r>
              <a:rPr lang="en-GB" dirty="0"/>
              <a:t>Cox Proportional Hazards Results</a:t>
            </a:r>
            <a:endParaRPr lang="en-KE" dirty="0"/>
          </a:p>
        </p:txBody>
      </p:sp>
      <p:sp>
        <p:nvSpPr>
          <p:cNvPr id="99331" name="Content Placeholder 2"/>
          <p:cNvSpPr>
            <a:spLocks noGrp="1" noChangeArrowheads="1"/>
          </p:cNvSpPr>
          <p:nvPr>
            <p:ph idx="1"/>
          </p:nvPr>
        </p:nvSpPr>
        <p:spPr>
          <a:xfrm>
            <a:off x="1847850" y="1268414"/>
            <a:ext cx="8191500" cy="4941887"/>
          </a:xfrm>
        </p:spPr>
        <p:txBody>
          <a:bodyPr>
            <a:normAutofit lnSpcReduction="10000"/>
          </a:bodyPr>
          <a:lstStyle/>
          <a:p>
            <a:pPr algn="just" eaLnBrk="1" hangingPunct="1"/>
            <a:r>
              <a:rPr lang="en-GB" altLang="en-US"/>
              <a:t>After including all four variables in an adjusted multivariable regression model, NYHA classification and comorbidity burden were significant, but age and gender were not</a:t>
            </a:r>
          </a:p>
          <a:p>
            <a:pPr algn="just" eaLnBrk="1" hangingPunct="1"/>
            <a:endParaRPr lang="en-GB" altLang="en-US"/>
          </a:p>
          <a:p>
            <a:pPr algn="just" eaLnBrk="1" hangingPunct="1"/>
            <a:r>
              <a:rPr lang="en-GB" altLang="en-US"/>
              <a:t>Specifically, those with NYHA Class III/IV were about two times more likely to experience an event than those with NYHA Class I/II</a:t>
            </a:r>
          </a:p>
          <a:p>
            <a:pPr algn="just" eaLnBrk="1" hangingPunct="1"/>
            <a:endParaRPr lang="en-GB" altLang="en-US"/>
          </a:p>
          <a:p>
            <a:pPr algn="just" eaLnBrk="1" hangingPunct="1"/>
            <a:r>
              <a:rPr lang="en-GB" altLang="en-US"/>
              <a:t>Those with high comorbidity burden were about 75% more likely to experience an event than those with low comorbidity burden. </a:t>
            </a:r>
          </a:p>
        </p:txBody>
      </p:sp>
      <p:sp>
        <p:nvSpPr>
          <p:cNvPr id="4" name="Slide Number Placeholder 3">
            <a:extLst>
              <a:ext uri="{FF2B5EF4-FFF2-40B4-BE49-F238E27FC236}">
                <a16:creationId xmlns:a16="http://schemas.microsoft.com/office/drawing/2014/main" id="{DCA33D13-0C50-4359-BEDD-8B6901CEDE70}"/>
              </a:ext>
            </a:extLst>
          </p:cNvPr>
          <p:cNvSpPr>
            <a:spLocks noGrp="1"/>
          </p:cNvSpPr>
          <p:nvPr>
            <p:ph type="sldNum" sz="quarter" idx="12"/>
          </p:nvPr>
        </p:nvSpPr>
        <p:spPr/>
        <p:txBody>
          <a:bodyPr/>
          <a:lstStyle/>
          <a:p>
            <a:pPr>
              <a:defRPr/>
            </a:pPr>
            <a:fld id="{2B600D91-FC54-4ADE-8D20-C72D5B592FF8}" type="slidenum">
              <a:rPr lang="en-GB" altLang="en-US" smtClean="0"/>
              <a:pPr>
                <a:defRPr/>
              </a:pPr>
              <a:t>93</a:t>
            </a:fld>
            <a:endParaRPr lang="en-GB" alt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p:cNvSpPr>
            <a:spLocks noGrp="1" noChangeArrowheads="1"/>
          </p:cNvSpPr>
          <p:nvPr>
            <p:ph type="title"/>
          </p:nvPr>
        </p:nvSpPr>
        <p:spPr>
          <a:xfrm>
            <a:off x="2152650" y="300038"/>
            <a:ext cx="7886700" cy="1325562"/>
          </a:xfrm>
        </p:spPr>
        <p:txBody>
          <a:bodyPr/>
          <a:lstStyle/>
          <a:p>
            <a:pPr eaLnBrk="1" hangingPunct="1"/>
            <a:r>
              <a:rPr lang="en-GB" altLang="en-GB"/>
              <a:t>References and Acknowledgement</a:t>
            </a:r>
          </a:p>
        </p:txBody>
      </p:sp>
      <p:sp>
        <p:nvSpPr>
          <p:cNvPr id="100355" name="Content Placeholder 2"/>
          <p:cNvSpPr>
            <a:spLocks noGrp="1" noChangeArrowheads="1"/>
          </p:cNvSpPr>
          <p:nvPr>
            <p:ph idx="1"/>
          </p:nvPr>
        </p:nvSpPr>
        <p:spPr>
          <a:xfrm>
            <a:off x="2152651" y="1412876"/>
            <a:ext cx="8335963" cy="4797425"/>
          </a:xfrm>
        </p:spPr>
        <p:txBody>
          <a:bodyPr/>
          <a:lstStyle/>
          <a:p>
            <a:pPr eaLnBrk="1" hangingPunct="1"/>
            <a:r>
              <a:rPr lang="en-GB" altLang="en-GB" sz="1800"/>
              <a:t>Hosmer, DW and Lemeshow, S. Applied Survival Analysis: Regression Modeling of Time to Event Data. NewYork: John Wiley and Sons; 1999.</a:t>
            </a:r>
          </a:p>
          <a:p>
            <a:pPr eaLnBrk="1" hangingPunct="1"/>
            <a:r>
              <a:rPr lang="en-GB" altLang="en-GB" sz="1800"/>
              <a:t>Cox DR, Oakes D. Analysis of Survival Data, Chapman and Hall, 1984.</a:t>
            </a:r>
          </a:p>
          <a:p>
            <a:pPr eaLnBrk="1" hangingPunct="1"/>
            <a:r>
              <a:rPr lang="en-GB" altLang="en-GB" sz="1800"/>
              <a:t>Lee ET and Wang JW. Statistical Methods for Survival Data Analysis. 3rd edition. New York: John Wiley &amp; Sons; 2003.</a:t>
            </a:r>
          </a:p>
          <a:p>
            <a:pPr eaLnBrk="1" hangingPunct="1"/>
            <a:endParaRPr lang="en-GB" altLang="en-GB" sz="1800"/>
          </a:p>
          <a:p>
            <a:pPr eaLnBrk="1" hangingPunct="1"/>
            <a:r>
              <a:rPr lang="en-GB" altLang="en-GB" sz="1800"/>
              <a:t>Adapted from slides by Prof Musonda</a:t>
            </a:r>
          </a:p>
          <a:p>
            <a:pPr eaLnBrk="1" hangingPunct="1"/>
            <a:endParaRPr lang="en-GB" altLang="en-GB" sz="1800"/>
          </a:p>
        </p:txBody>
      </p:sp>
      <p:sp>
        <p:nvSpPr>
          <p:cNvPr id="4" name="Slide Number Placeholder 3">
            <a:extLst>
              <a:ext uri="{FF2B5EF4-FFF2-40B4-BE49-F238E27FC236}">
                <a16:creationId xmlns:a16="http://schemas.microsoft.com/office/drawing/2014/main" id="{F19116AD-7E70-4B14-9A10-B78ECA4B399E}"/>
              </a:ext>
            </a:extLst>
          </p:cNvPr>
          <p:cNvSpPr>
            <a:spLocks noGrp="1"/>
          </p:cNvSpPr>
          <p:nvPr>
            <p:ph type="sldNum" sz="quarter" idx="12"/>
          </p:nvPr>
        </p:nvSpPr>
        <p:spPr/>
        <p:txBody>
          <a:bodyPr/>
          <a:lstStyle/>
          <a:p>
            <a:pPr>
              <a:defRPr/>
            </a:pPr>
            <a:fld id="{25BDD8C3-F308-4CB1-B036-A5914FDCA361}" type="slidenum">
              <a:rPr lang="en-GB" altLang="en-US"/>
              <a:pPr>
                <a:defRPr/>
              </a:pPr>
              <a:t>94</a:t>
            </a:fld>
            <a:endParaRPr lang="en-GB" altLang="en-US"/>
          </a:p>
        </p:txBody>
      </p:sp>
    </p:spTree>
  </p:cSld>
  <p:clrMapOvr>
    <a:masterClrMapping/>
  </p:clrMapOvr>
</p:sld>
</file>

<file path=ppt/theme/theme1.xml><?xml version="1.0" encoding="utf-8"?>
<a:theme xmlns:a="http://schemas.openxmlformats.org/drawingml/2006/main" name="Stream">
  <a:themeElements>
    <a:clrScheme name="Stream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Stream">
      <a:majorFont>
        <a:latin typeface="Garamond"/>
        <a:ea typeface=""/>
        <a:cs typeface="Arial"/>
      </a:majorFont>
      <a:minorFont>
        <a:latin typeface="Garamond"/>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tream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clrMap bg1="dk2" tx1="lt1" bg2="dk1" tx2="lt2" accent1="accent1" accent2="accent2" accent3="accent3" accent4="accent4" accent5="accent5" accent6="accent6" hlink="hlink" folHlink="folHlink"/>
    </a:extraClrScheme>
    <a:extraClrScheme>
      <a:clrScheme name="Stream 2">
        <a:dk1>
          <a:srgbClr val="3E3E5C"/>
        </a:dk1>
        <a:lt1>
          <a:srgbClr val="FFFFFF"/>
        </a:lt1>
        <a:dk2>
          <a:srgbClr val="666699"/>
        </a:dk2>
        <a:lt2>
          <a:srgbClr val="DFDFE9"/>
        </a:lt2>
        <a:accent1>
          <a:srgbClr val="CC66FF"/>
        </a:accent1>
        <a:accent2>
          <a:srgbClr val="679ACD"/>
        </a:accent2>
        <a:accent3>
          <a:srgbClr val="B8B8CA"/>
        </a:accent3>
        <a:accent4>
          <a:srgbClr val="DADADA"/>
        </a:accent4>
        <a:accent5>
          <a:srgbClr val="E2B8FF"/>
        </a:accent5>
        <a:accent6>
          <a:srgbClr val="5D8BBA"/>
        </a:accent6>
        <a:hlink>
          <a:srgbClr val="CCECFF"/>
        </a:hlink>
        <a:folHlink>
          <a:srgbClr val="CCCCFF"/>
        </a:folHlink>
      </a:clrScheme>
      <a:clrMap bg1="dk2" tx1="lt1" bg2="dk1" tx2="lt2" accent1="accent1" accent2="accent2" accent3="accent3" accent4="accent4" accent5="accent5" accent6="accent6" hlink="hlink" folHlink="folHlink"/>
    </a:extraClrScheme>
    <a:extraClrScheme>
      <a:clrScheme name="Stream 3">
        <a:dk1>
          <a:srgbClr val="2A5400"/>
        </a:dk1>
        <a:lt1>
          <a:srgbClr val="FFFFFF"/>
        </a:lt1>
        <a:dk2>
          <a:srgbClr val="4A9400"/>
        </a:dk2>
        <a:lt2>
          <a:srgbClr val="BAE8BA"/>
        </a:lt2>
        <a:accent1>
          <a:srgbClr val="33CC33"/>
        </a:accent1>
        <a:accent2>
          <a:srgbClr val="99CC00"/>
        </a:accent2>
        <a:accent3>
          <a:srgbClr val="B1C8AA"/>
        </a:accent3>
        <a:accent4>
          <a:srgbClr val="DADADA"/>
        </a:accent4>
        <a:accent5>
          <a:srgbClr val="ADE2AD"/>
        </a:accent5>
        <a:accent6>
          <a:srgbClr val="8AB900"/>
        </a:accent6>
        <a:hlink>
          <a:srgbClr val="99FF33"/>
        </a:hlink>
        <a:folHlink>
          <a:srgbClr val="FFFF99"/>
        </a:folHlink>
      </a:clrScheme>
      <a:clrMap bg1="dk2" tx1="lt1" bg2="dk1" tx2="lt2" accent1="accent1" accent2="accent2" accent3="accent3" accent4="accent4" accent5="accent5" accent6="accent6" hlink="hlink" folHlink="folHlink"/>
    </a:extraClrScheme>
    <a:extraClrScheme>
      <a:clrScheme name="Stream 4">
        <a:dk1>
          <a:srgbClr val="000000"/>
        </a:dk1>
        <a:lt1>
          <a:srgbClr val="FFFFFF"/>
        </a:lt1>
        <a:dk2>
          <a:srgbClr val="51596D"/>
        </a:dk2>
        <a:lt2>
          <a:srgbClr val="DDDDDD"/>
        </a:lt2>
        <a:accent1>
          <a:srgbClr val="787E8A"/>
        </a:accent1>
        <a:accent2>
          <a:srgbClr val="339966"/>
        </a:accent2>
        <a:accent3>
          <a:srgbClr val="B3B5BA"/>
        </a:accent3>
        <a:accent4>
          <a:srgbClr val="DADADA"/>
        </a:accent4>
        <a:accent5>
          <a:srgbClr val="BEC0C4"/>
        </a:accent5>
        <a:accent6>
          <a:srgbClr val="2D8A5C"/>
        </a:accent6>
        <a:hlink>
          <a:srgbClr val="00FFFF"/>
        </a:hlink>
        <a:folHlink>
          <a:srgbClr val="74B6D0"/>
        </a:folHlink>
      </a:clrScheme>
      <a:clrMap bg1="dk2" tx1="lt1" bg2="dk1" tx2="lt2" accent1="accent1" accent2="accent2" accent3="accent3" accent4="accent4" accent5="accent5" accent6="accent6" hlink="hlink" folHlink="folHlink"/>
    </a:extraClrScheme>
    <a:extraClrScheme>
      <a:clrScheme name="Stream 5">
        <a:dk1>
          <a:srgbClr val="5C1F00"/>
        </a:dk1>
        <a:lt1>
          <a:srgbClr val="FFFFFF"/>
        </a:lt1>
        <a:dk2>
          <a:srgbClr val="8C0000"/>
        </a:dk2>
        <a:lt2>
          <a:srgbClr val="DFD293"/>
        </a:lt2>
        <a:accent1>
          <a:srgbClr val="FF6845"/>
        </a:accent1>
        <a:accent2>
          <a:srgbClr val="BE7960"/>
        </a:accent2>
        <a:accent3>
          <a:srgbClr val="C5AAAA"/>
        </a:accent3>
        <a:accent4>
          <a:srgbClr val="DADADA"/>
        </a:accent4>
        <a:accent5>
          <a:srgbClr val="FFB9B0"/>
        </a:accent5>
        <a:accent6>
          <a:srgbClr val="AC6D56"/>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Stream 6">
        <a:dk1>
          <a:srgbClr val="5E4444"/>
        </a:dk1>
        <a:lt1>
          <a:srgbClr val="F7F3F3"/>
        </a:lt1>
        <a:dk2>
          <a:srgbClr val="8A6362"/>
        </a:dk2>
        <a:lt2>
          <a:srgbClr val="D8C1BA"/>
        </a:lt2>
        <a:accent1>
          <a:srgbClr val="CC6600"/>
        </a:accent1>
        <a:accent2>
          <a:srgbClr val="C16059"/>
        </a:accent2>
        <a:accent3>
          <a:srgbClr val="C4B7B7"/>
        </a:accent3>
        <a:accent4>
          <a:srgbClr val="D3D0D0"/>
        </a:accent4>
        <a:accent5>
          <a:srgbClr val="E2B8AA"/>
        </a:accent5>
        <a:accent6>
          <a:srgbClr val="AF5650"/>
        </a:accent6>
        <a:hlink>
          <a:srgbClr val="FFCC00"/>
        </a:hlink>
        <a:folHlink>
          <a:srgbClr val="CBB557"/>
        </a:folHlink>
      </a:clrScheme>
      <a:clrMap bg1="dk2" tx1="lt1" bg2="dk1" tx2="lt2" accent1="accent1" accent2="accent2" accent3="accent3" accent4="accent4" accent5="accent5" accent6="accent6" hlink="hlink" folHlink="folHlink"/>
    </a:extraClrScheme>
    <a:extraClrScheme>
      <a:clrScheme name="Stream 7">
        <a:dk1>
          <a:srgbClr val="7F6737"/>
        </a:dk1>
        <a:lt1>
          <a:srgbClr val="FFFFFF"/>
        </a:lt1>
        <a:dk2>
          <a:srgbClr val="BFA673"/>
        </a:dk2>
        <a:lt2>
          <a:srgbClr val="E6E3AA"/>
        </a:lt2>
        <a:accent1>
          <a:srgbClr val="FFCC00"/>
        </a:accent1>
        <a:accent2>
          <a:srgbClr val="808000"/>
        </a:accent2>
        <a:accent3>
          <a:srgbClr val="DCD0BC"/>
        </a:accent3>
        <a:accent4>
          <a:srgbClr val="DADADA"/>
        </a:accent4>
        <a:accent5>
          <a:srgbClr val="FFE2AA"/>
        </a:accent5>
        <a:accent6>
          <a:srgbClr val="737300"/>
        </a:accent6>
        <a:hlink>
          <a:srgbClr val="784700"/>
        </a:hlink>
        <a:folHlink>
          <a:srgbClr val="9A7200"/>
        </a:folHlink>
      </a:clrScheme>
      <a:clrMap bg1="dk2" tx1="lt1" bg2="dk1" tx2="lt2" accent1="accent1" accent2="accent2" accent3="accent3" accent4="accent4" accent5="accent5" accent6="accent6" hlink="hlink" folHlink="folHlink"/>
    </a:extraClrScheme>
    <a:extraClrScheme>
      <a:clrScheme name="Stream 8">
        <a:dk1>
          <a:srgbClr val="4B2500"/>
        </a:dk1>
        <a:lt1>
          <a:srgbClr val="F9F0D3"/>
        </a:lt1>
        <a:dk2>
          <a:srgbClr val="A69564"/>
        </a:dk2>
        <a:lt2>
          <a:srgbClr val="EFDEAF"/>
        </a:lt2>
        <a:accent1>
          <a:srgbClr val="FFFFE3"/>
        </a:accent1>
        <a:accent2>
          <a:srgbClr val="BFBFA7"/>
        </a:accent2>
        <a:accent3>
          <a:srgbClr val="FBF6E6"/>
        </a:accent3>
        <a:accent4>
          <a:srgbClr val="3F1E00"/>
        </a:accent4>
        <a:accent5>
          <a:srgbClr val="FFFFEF"/>
        </a:accent5>
        <a:accent6>
          <a:srgbClr val="ADAD97"/>
        </a:accent6>
        <a:hlink>
          <a:srgbClr val="7B6D47"/>
        </a:hlink>
        <a:folHlink>
          <a:srgbClr val="A99D2F"/>
        </a:folHlink>
      </a:clrScheme>
      <a:clrMap bg1="lt1" tx1="dk1" bg2="lt2" tx2="dk2" accent1="accent1" accent2="accent2" accent3="accent3" accent4="accent4" accent5="accent5" accent6="accent6" hlink="hlink" folHlink="folHlink"/>
    </a:extraClrScheme>
    <a:extraClrScheme>
      <a:clrScheme name="Stream 9">
        <a:dk1>
          <a:srgbClr val="000000"/>
        </a:dk1>
        <a:lt1>
          <a:srgbClr val="FFFFFF"/>
        </a:lt1>
        <a:dk2>
          <a:srgbClr val="000000"/>
        </a:dk2>
        <a:lt2>
          <a:srgbClr val="808080"/>
        </a:lt2>
        <a:accent1>
          <a:srgbClr val="CCECFF"/>
        </a:accent1>
        <a:accent2>
          <a:srgbClr val="333399"/>
        </a:accent2>
        <a:accent3>
          <a:srgbClr val="FFFFFF"/>
        </a:accent3>
        <a:accent4>
          <a:srgbClr val="000000"/>
        </a:accent4>
        <a:accent5>
          <a:srgbClr val="E2F4FF"/>
        </a:accent5>
        <a:accent6>
          <a:srgbClr val="2D2D8A"/>
        </a:accent6>
        <a:hlink>
          <a:srgbClr val="6600FF"/>
        </a:hlink>
        <a:folHlink>
          <a:srgbClr val="00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62845</TotalTime>
  <Words>7047</Words>
  <Application>Microsoft Office PowerPoint</Application>
  <PresentationFormat>Widescreen</PresentationFormat>
  <Paragraphs>1024</Paragraphs>
  <Slides>94</Slides>
  <Notes>3</Notes>
  <HiddenSlides>0</HiddenSlides>
  <MMClips>0</MMClips>
  <ScaleCrop>false</ScaleCrop>
  <HeadingPairs>
    <vt:vector size="8" baseType="variant">
      <vt:variant>
        <vt:lpstr>Fonts Used</vt:lpstr>
      </vt:variant>
      <vt:variant>
        <vt:i4>14</vt:i4>
      </vt:variant>
      <vt:variant>
        <vt:lpstr>Theme</vt:lpstr>
      </vt:variant>
      <vt:variant>
        <vt:i4>3</vt:i4>
      </vt:variant>
      <vt:variant>
        <vt:lpstr>Embedded OLE Servers</vt:lpstr>
      </vt:variant>
      <vt:variant>
        <vt:i4>2</vt:i4>
      </vt:variant>
      <vt:variant>
        <vt:lpstr>Slide Titles</vt:lpstr>
      </vt:variant>
      <vt:variant>
        <vt:i4>94</vt:i4>
      </vt:variant>
    </vt:vector>
  </HeadingPairs>
  <TitlesOfParts>
    <vt:vector size="113" baseType="lpstr">
      <vt:lpstr>Dotum</vt:lpstr>
      <vt:lpstr>Arial</vt:lpstr>
      <vt:lpstr>Arial Black</vt:lpstr>
      <vt:lpstr>Arial Narrow</vt:lpstr>
      <vt:lpstr>Bahnschrift Condensed</vt:lpstr>
      <vt:lpstr>Calibri</vt:lpstr>
      <vt:lpstr>Calibri Light</vt:lpstr>
      <vt:lpstr>Cambria Math</vt:lpstr>
      <vt:lpstr>Courier New</vt:lpstr>
      <vt:lpstr>Garamond</vt:lpstr>
      <vt:lpstr>Symbol</vt:lpstr>
      <vt:lpstr>Times New Roman</vt:lpstr>
      <vt:lpstr>Verdana</vt:lpstr>
      <vt:lpstr>Wingdings</vt:lpstr>
      <vt:lpstr>Stream</vt:lpstr>
      <vt:lpstr>Office Theme</vt:lpstr>
      <vt:lpstr>1_Office Theme</vt:lpstr>
      <vt:lpstr>Mtb Graph</vt:lpstr>
      <vt:lpstr>Equation</vt:lpstr>
      <vt:lpstr>INTRODUCTION TO SURVIVAL ANALYSIS</vt:lpstr>
      <vt:lpstr>Introduction</vt:lpstr>
      <vt:lpstr>Introduction</vt:lpstr>
      <vt:lpstr>Introduction</vt:lpstr>
      <vt:lpstr>Introduction</vt:lpstr>
      <vt:lpstr>Introduction</vt:lpstr>
      <vt:lpstr>Left vs Right Censoring</vt:lpstr>
      <vt:lpstr>Left vs Right Censoring</vt:lpstr>
      <vt:lpstr>Left vs Right Censoring</vt:lpstr>
      <vt:lpstr>Left vs Right Censoring</vt:lpstr>
      <vt:lpstr>Censoring</vt:lpstr>
      <vt:lpstr>Censoring</vt:lpstr>
      <vt:lpstr>Non-informative and Informative Censoring</vt:lpstr>
      <vt:lpstr>Why standard logistic regression wont work</vt:lpstr>
      <vt:lpstr>Methods for time to event data</vt:lpstr>
      <vt:lpstr>Survival function</vt:lpstr>
      <vt:lpstr>The survival Function</vt:lpstr>
      <vt:lpstr>The Survival Function</vt:lpstr>
      <vt:lpstr>The Survival Function</vt:lpstr>
      <vt:lpstr>The Survival Function – Lifetables</vt:lpstr>
      <vt:lpstr>The Survival Function – Lifetables</vt:lpstr>
      <vt:lpstr>The Survival Function – Lifetables</vt:lpstr>
      <vt:lpstr>The Survival Function – Lifetables</vt:lpstr>
      <vt:lpstr>The Survival Function – Lifetables</vt:lpstr>
      <vt:lpstr>The Survival Function – Lifetables</vt:lpstr>
      <vt:lpstr>The Survival Function – Lifetables</vt:lpstr>
      <vt:lpstr>The Survival Function – Kaplan-Meier Method</vt:lpstr>
      <vt:lpstr>The Survival Function – Kaplan-Meier Method</vt:lpstr>
      <vt:lpstr>Kaplan-Meier curve.</vt:lpstr>
      <vt:lpstr>Kaplan-Meier curve.</vt:lpstr>
      <vt:lpstr>Kaplan-Meier curve</vt:lpstr>
      <vt:lpstr>Kaplan-Meier curve</vt:lpstr>
      <vt:lpstr>The Survival Function – Kaplan-Meier Method</vt:lpstr>
      <vt:lpstr>The Survival Function – Kaplan-Meier Method</vt:lpstr>
      <vt:lpstr>The Survival Function – Kaplan-Meier Method</vt:lpstr>
      <vt:lpstr>Survival Functions – Comparing Functions</vt:lpstr>
      <vt:lpstr>PowerPoint Presentation</vt:lpstr>
      <vt:lpstr>Survival Functions – Comparing Functions</vt:lpstr>
      <vt:lpstr>Survival Functions – Comparing Functions</vt:lpstr>
      <vt:lpstr>PowerPoint Presentation</vt:lpstr>
      <vt:lpstr>The Hazard Function</vt:lpstr>
      <vt:lpstr>Types of Hazard Functions</vt:lpstr>
      <vt:lpstr>THE HAZARD FUNCTION</vt:lpstr>
      <vt:lpstr>THE HAZARD FUNCTION</vt:lpstr>
      <vt:lpstr>PowerPoint Presentation</vt:lpstr>
      <vt:lpstr>Comparing Hazard Functions</vt:lpstr>
      <vt:lpstr>The Hazard Function – Proportional Hazards</vt:lpstr>
      <vt:lpstr>Cox Proportional Hazard Model</vt:lpstr>
      <vt:lpstr>Cox Proportional Hazard Model</vt:lpstr>
      <vt:lpstr>Cox Proportional Hazard Model</vt:lpstr>
      <vt:lpstr>Cox Proportional Hazard Model</vt:lpstr>
      <vt:lpstr>Cox Proportional Hazard Model</vt:lpstr>
      <vt:lpstr>Cox Proportional Hazard Model</vt:lpstr>
      <vt:lpstr>The Hazard Function – Proportional Hazards</vt:lpstr>
      <vt:lpstr>The Hazard Function – Proportional Hazards</vt:lpstr>
      <vt:lpstr>Summary of today’s lecture</vt:lpstr>
      <vt:lpstr>Summary of today’s lecture, cont</vt:lpstr>
      <vt:lpstr>Survival analysis, the theory</vt:lpstr>
      <vt:lpstr>Survival analysis, the theory</vt:lpstr>
      <vt:lpstr>Survival analysis, the theory</vt:lpstr>
      <vt:lpstr>Survival analysis, the theory</vt:lpstr>
      <vt:lpstr>Survival analysis, the theory</vt:lpstr>
      <vt:lpstr>Survival analysis, the theory</vt:lpstr>
      <vt:lpstr>Survival analysis, the theory</vt:lpstr>
      <vt:lpstr>Practical exercise</vt:lpstr>
      <vt:lpstr>Practical exercise</vt:lpstr>
      <vt:lpstr>Practical exercise</vt:lpstr>
      <vt:lpstr>Practical exercise</vt:lpstr>
      <vt:lpstr>Practical exercise</vt:lpstr>
      <vt:lpstr>Practical exercise</vt:lpstr>
      <vt:lpstr>Practical exercise</vt:lpstr>
      <vt:lpstr>Practical exercise</vt:lpstr>
      <vt:lpstr>Practical exercise</vt:lpstr>
      <vt:lpstr>Practical exercise</vt:lpstr>
      <vt:lpstr>Practical exercise</vt:lpstr>
      <vt:lpstr>Practical exercise</vt:lpstr>
      <vt:lpstr>Practical exercise Log-rank test, prisons</vt:lpstr>
      <vt:lpstr>Practical exercise Wilcoxon test, prisons</vt:lpstr>
      <vt:lpstr>Practical exercise Log-rank test, clinics</vt:lpstr>
      <vt:lpstr>Practical exercise Wilcoxon-rank test, clinics</vt:lpstr>
      <vt:lpstr>Fitting a Cox model</vt:lpstr>
      <vt:lpstr>Checking proportion assumptions  of Cox-Model</vt:lpstr>
      <vt:lpstr>Checking proportion assumptions  of Cox-Model</vt:lpstr>
      <vt:lpstr>Fitting the Cox-Model relaxing the proportional assumptions in clinics</vt:lpstr>
      <vt:lpstr>Fitting the Cox-Model relaxing the proportional assumptions in prisons</vt:lpstr>
      <vt:lpstr>Steps to analysing time to event data</vt:lpstr>
      <vt:lpstr>Example Paper</vt:lpstr>
      <vt:lpstr>Example</vt:lpstr>
      <vt:lpstr>PowerPoint Presentation</vt:lpstr>
      <vt:lpstr>Presenting results</vt:lpstr>
      <vt:lpstr>Interpreting Survival analysis results</vt:lpstr>
      <vt:lpstr>Cox Proportional Hazards Results</vt:lpstr>
      <vt:lpstr>Cox Proportional Hazards Results</vt:lpstr>
      <vt:lpstr>References and Acknowledgement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Scientific Method in Medicine : Introduction</dc:title>
  <dc:creator>wp321</dc:creator>
  <cp:lastModifiedBy>kabinga chanda</cp:lastModifiedBy>
  <cp:revision>602</cp:revision>
  <dcterms:created xsi:type="dcterms:W3CDTF">2002-07-08T14:39:20Z</dcterms:created>
  <dcterms:modified xsi:type="dcterms:W3CDTF">2026-06-09T14:02:53Z</dcterms:modified>
</cp:coreProperties>
</file>